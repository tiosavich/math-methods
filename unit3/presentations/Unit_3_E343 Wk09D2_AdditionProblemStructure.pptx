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notesMasterIdLst>
    <p:notesMasterId r:id="rId14"/>
  </p:notesMasterIdLst>
  <p:sldIdLst>
    <p:sldId id="256" r:id="rId2"/>
    <p:sldId id="342" r:id="rId3"/>
    <p:sldId id="417" r:id="rId4"/>
    <p:sldId id="418" r:id="rId5"/>
    <p:sldId id="398" r:id="rId6"/>
    <p:sldId id="413" r:id="rId7"/>
    <p:sldId id="421" r:id="rId8"/>
    <p:sldId id="414" r:id="rId9"/>
    <p:sldId id="420" r:id="rId10"/>
    <p:sldId id="422" r:id="rId11"/>
    <p:sldId id="416" r:id="rId12"/>
    <p:sldId id="419" r:id="rId13"/>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9030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32" autoAdjust="0"/>
    <p:restoredTop sz="85890" autoAdjust="0"/>
  </p:normalViewPr>
  <p:slideViewPr>
    <p:cSldViewPr snapToGrid="0" snapToObjects="1">
      <p:cViewPr varScale="1">
        <p:scale>
          <a:sx n="94" d="100"/>
          <a:sy n="94" d="100"/>
        </p:scale>
        <p:origin x="216" y="40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347B5831-1C97-0143-A3E2-25273937EDDC}" type="datetimeFigureOut">
              <a:rPr lang="en-US" smtClean="0"/>
              <a:t>3/11/26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C9987CA4-EC64-C84B-84FC-F4363BE34CE9}" type="slidenum">
              <a:rPr lang="en-US" smtClean="0"/>
              <a:t>‹#›</a:t>
            </a:fld>
            <a:endParaRPr lang="en-US"/>
          </a:p>
        </p:txBody>
      </p:sp>
    </p:spTree>
    <p:extLst>
      <p:ext uri="{BB962C8B-B14F-4D97-AF65-F5344CB8AC3E}">
        <p14:creationId xmlns:p14="http://schemas.microsoft.com/office/powerpoint/2010/main" val="426620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and set the stage for the session. Today we're exploring addition problem structures - a foundational concept for understanding how children learn basic facts and for ensuring equitable math instruction. Reading: Van de Walle et al., pp. 159-171 (ed. 11) on addition and subtraction problem structures.</a:t>
            </a:r>
          </a:p>
        </p:txBody>
      </p:sp>
      <p:sp>
        <p:nvSpPr>
          <p:cNvPr id="4" name="Slide Number Placeholder 3"/>
          <p:cNvSpPr>
            <a:spLocks noGrp="1"/>
          </p:cNvSpPr>
          <p:nvPr>
            <p:ph type="sldNum" sz="quarter" idx="5"/>
          </p:nvPr>
        </p:nvSpPr>
        <p:spPr/>
        <p:txBody>
          <a:bodyPr/>
          <a:lstStyle/>
          <a:p>
            <a:fld id="{C9987CA4-EC64-C84B-84FC-F4363BE34CE9}" type="slidenum">
              <a:rPr lang="en-US" smtClean="0"/>
              <a:t>0</a:t>
            </a:fld>
          </a:p>
        </p:txBody>
      </p:sp>
    </p:spTree>
  </p:cSld>
  <p:extLst>
    <p:ext uri="{BB962C8B-B14F-4D97-AF65-F5344CB8AC3E}">
      <p14:creationId val="0"/>
    </p:ext>
  </p:extLst>
  <p:clrMapOvr>
    <a:masterClrMapping/>
  </p:clrMapOvr>
</p:notes>
</file>

<file path=ppt/notesSlides/notesSlide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review of agenda. First, we'll finish up the Math Process Standards work with a gallery walk (15-20 min). Then transition to the main topic: discussing the four addition problem types - Join, Separate, Compare, and Part-Part-Whole. Students will fill out a handout identifying problem types (Part A), varying unknown parts (Part B), and comparing types. Expect this segment to take about 30-35 minutes. Later, students will rotate through station activity to write and solve problems of each type.</a:t>
            </a:r>
          </a:p>
        </p:txBody>
      </p:sp>
      <p:sp>
        <p:nvSpPr>
          <p:cNvPr id="4" name="Slide Number Placeholder 3"/>
          <p:cNvSpPr>
            <a:spLocks noGrp="1"/>
          </p:cNvSpPr>
          <p:nvPr>
            <p:ph type="sldNum" sz="quarter" idx="5"/>
          </p:nvPr>
        </p:nvSpPr>
        <p:spPr/>
        <p:txBody>
          <a:bodyPr/>
          <a:lstStyle/>
          <a:p>
            <a:fld id="{C9987CA4-EC64-C84B-84FC-F4363BE34CE9}" type="slidenum">
              <a:rPr lang="en-US" smtClean="0"/>
              <a:t>0</a:t>
            </a:fld>
          </a:p>
        </p:txBody>
      </p:sp>
    </p:spTree>
  </p:cSld>
  <p:extLst>
    <p:ext uri="{BB962C8B-B14F-4D97-AF65-F5344CB8AC3E}">
      <p14:creationId val="0"/>
    </p:ext>
  </p:extLst>
  <p:clrMapOvr>
    <a:masterClrMapping/>
  </p:clrMapOvr>
</p:notes>
</file>

<file path=ppt/notesSlides/notesSlide3.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We're in the K-2 computation and algebraic thinking block. Emphasize the connection between problem types and algebraic thinking - different unknown positions in a problem structure represent different algebraic thinking opportunities. This is part of a larger arc toward understanding fact fluency.</a:t>
            </a:r>
          </a:p>
        </p:txBody>
      </p:sp>
      <p:sp>
        <p:nvSpPr>
          <p:cNvPr id="4" name="Slide Number Placeholder 3"/>
          <p:cNvSpPr>
            <a:spLocks noGrp="1"/>
          </p:cNvSpPr>
          <p:nvPr>
            <p:ph type="sldNum" sz="quarter" idx="5"/>
          </p:nvPr>
        </p:nvSpPr>
        <p:spPr/>
        <p:txBody>
          <a:bodyPr/>
          <a:lstStyle/>
          <a:p>
            <a:fld id="{C9987CA4-EC64-C84B-84FC-F4363BE34CE9}" type="slidenum">
              <a:rPr lang="en-US" smtClean="0"/>
              <a:t>0</a:t>
            </a:fld>
          </a:p>
        </p:txBody>
      </p:sp>
    </p:spTree>
  </p:cSld>
  <p:extLst>
    <p:ext uri="{BB962C8B-B14F-4D97-AF65-F5344CB8AC3E}">
      <p14:creationId val="0"/>
    </p:ext>
  </p:extLst>
  <p:clrMapOvr>
    <a:masterClrMapping/>
  </p:clrMapOvr>
</p:notes>
</file>

<file path=ppt/notesSlides/notesSlide4.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instructional point: Not all curricula address all problem types equally. Some focus heavily on Join problems, leaving gaps that disadvantage students on standardized tests and in future mathematics. Using contextualized problems that vary in structure ensures all students develop flexible thinking. Highlight that understanding WHY we vary problem types improves your instructional choices.</a:t>
            </a:r>
          </a:p>
        </p:txBody>
      </p:sp>
      <p:sp>
        <p:nvSpPr>
          <p:cNvPr id="4" name="Slide Number Placeholder 3"/>
          <p:cNvSpPr>
            <a:spLocks noGrp="1"/>
          </p:cNvSpPr>
          <p:nvPr>
            <p:ph type="sldNum" sz="quarter" idx="5"/>
          </p:nvPr>
        </p:nvSpPr>
        <p:spPr/>
        <p:txBody>
          <a:bodyPr/>
          <a:lstStyle/>
          <a:p>
            <a:fld id="{C9987CA4-EC64-C84B-84FC-F4363BE34CE9}" type="slidenum">
              <a:rPr lang="en-US" smtClean="0"/>
              <a:t>0</a:t>
            </a:fld>
          </a:p>
        </p:txBody>
      </p:sp>
    </p:spTree>
  </p:cSld>
  <p:extLst>
    <p:ext uri="{BB962C8B-B14F-4D97-AF65-F5344CB8AC3E}">
      <p14:creationId val="0"/>
    </p:ext>
  </p:extLst>
  <p:clrMapOvr>
    <a:masterClrMapping/>
  </p:clrMapOvr>
</p:notes>
</file>

<file path=ppt/notesSlides/notesSlide5.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main teaching slide. Go through the four problem types carefully:
- JOIN (Action): Something is added to a starting amount. Example: "Maria had 4 apples. Her friend gave her 3 more. How many does she have now?"
- SEPARATE (Action): Something is taken away. Example: "Maria had 7 apples. She ate 2. How many are left?"
- COMPARE (No action): Two amounts are compared. "Maria has 4 apples. John has 7. How many more does John have?" OR "How many fewer does Maria have?"
- PART-PART-WHOLE (No action): Two parts combine to make a whole. Example: "There are 4 blue blocks and 6 red blocks. How many blocks altogether?"</a:t>
            </a:r>
          </a:p>
          <a:p>
            <a:r>
              <a:rPr lang="en-US" dirty="0"/>
              <a:t>Key distinction: Join/Separate have ACTION words (gave, ate, bought, lost, etc.). Compare and Part-Part-Whole do NOT have action. Children often find action problems easier initially. STOP and have students complete Part A of the handout - identifying which type each problem is.</a:t>
            </a:r>
          </a:p>
        </p:txBody>
      </p:sp>
      <p:sp>
        <p:nvSpPr>
          <p:cNvPr id="4" name="Slide Number Placeholder 3"/>
          <p:cNvSpPr>
            <a:spLocks noGrp="1"/>
          </p:cNvSpPr>
          <p:nvPr>
            <p:ph type="sldNum" sz="quarter" idx="5"/>
          </p:nvPr>
        </p:nvSpPr>
        <p:spPr/>
        <p:txBody>
          <a:bodyPr/>
          <a:lstStyle/>
          <a:p>
            <a:fld id="{C9987CA4-EC64-C84B-84FC-F4363BE34CE9}" type="slidenum">
              <a:rPr lang="en-US" smtClean="0"/>
              <a:t>0</a:t>
            </a:fld>
          </a:p>
        </p:txBody>
      </p:sp>
    </p:spTree>
  </p:cSld>
  <p:extLst>
    <p:ext uri="{BB962C8B-B14F-4D97-AF65-F5344CB8AC3E}">
      <p14:creationId val="0"/>
    </p:ext>
  </p:extLst>
  <p:clrMapOvr>
    <a:masterClrMapping/>
  </p:clrMapOvr>
</p:notes>
</file>

<file path=ppt/notesSlides/notesSlide6.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insight: For ANY problem type, different parts can be unknown. Show the three variations for Join:
- Result Unknown (easiest): "Maria had 4. Got 3 more. How many now?" (4 + 3 = ?)
- Change Unknown (harder): "Maria had 4. Someone gave her some. Now she has 7. How many did she get?" (4 + ? = 7)
- Start Unknown (hardest): "Maria had some. Got 3 more. Now has 7. How many did she start with?" (? + 3 = 7)</a:t>
            </a:r>
          </a:p>
          <a:p>
            <a:r>
              <a:rPr lang="en-US" dirty="0"/>
              <a:t>These correspond to different algebraic thinking - the unknown position changes the equation form. This is foundational for later algebraic reasoning. Have students work through Part B - writing problems with different missing parts for their assigned problem type.</a:t>
            </a:r>
          </a:p>
        </p:txBody>
      </p:sp>
      <p:sp>
        <p:nvSpPr>
          <p:cNvPr id="4" name="Slide Number Placeholder 3"/>
          <p:cNvSpPr>
            <a:spLocks noGrp="1"/>
          </p:cNvSpPr>
          <p:nvPr>
            <p:ph type="sldNum" sz="quarter" idx="5"/>
          </p:nvPr>
        </p:nvSpPr>
        <p:spPr/>
        <p:txBody>
          <a:bodyPr/>
          <a:lstStyle/>
          <a:p>
            <a:fld id="{C9987CA4-EC64-C84B-84FC-F4363BE34CE9}" type="slidenum">
              <a:rPr lang="en-US" smtClean="0"/>
              <a:t>0</a:t>
            </a:fld>
          </a:p>
        </p:txBody>
      </p:sp>
    </p:spTree>
  </p:cSld>
  <p:extLst>
    <p:ext uri="{BB962C8B-B14F-4D97-AF65-F5344CB8AC3E}">
      <p14:creationId val="0"/>
    </p:ext>
  </p:extLst>
  <p:clrMapOvr>
    <a:masterClrMapping/>
  </p:clrMapOvr>
</p:notes>
</file>

<file path=ppt/notesSlides/notesSlide7.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small group work. Divide class into 8 groups (or adapt to class size). Assign each group one problem type and one unknown variation. For example: "Group 1, you have Join-Start Unknown." Each group writes 3-5 problems of their assigned type with the specified missing part. Problems should be accessible to 1st/2nd graders and clearly contextualized. Circulate to ensure groups understand the task. This is hands-on application of problem structure knowledge.</a:t>
            </a:r>
          </a:p>
        </p:txBody>
      </p:sp>
      <p:sp>
        <p:nvSpPr>
          <p:cNvPr id="4" name="Slide Number Placeholder 3"/>
          <p:cNvSpPr>
            <a:spLocks noGrp="1"/>
          </p:cNvSpPr>
          <p:nvPr>
            <p:ph type="sldNum" sz="quarter" idx="5"/>
          </p:nvPr>
        </p:nvSpPr>
        <p:spPr/>
        <p:txBody>
          <a:bodyPr/>
          <a:lstStyle/>
          <a:p>
            <a:fld id="{C9987CA4-EC64-C84B-84FC-F4363BE34CE9}" type="slidenum">
              <a:rPr lang="en-US" smtClean="0"/>
              <a:t>0</a:t>
            </a:fld>
          </a:p>
        </p:txBody>
      </p:sp>
    </p:spTree>
  </p:cSld>
  <p:extLst>
    <p:ext uri="{BB962C8B-B14F-4D97-AF65-F5344CB8AC3E}">
      <p14:creationId val="0"/>
    </p:ext>
  </p:extLst>
  <p:clrMapOvr>
    <a:masterClrMapping/>
  </p:clrMapOvr>
</p:notes>
</file>

<file path=ppt/notesSlides/notesSlide8.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Figure 8.2 from Van de Walle (pp. 161-162, ed. 11). This comprehensive table shows all 12 problem structures (4 types x 3 unknown positions). Use this to show students how problem structures organize. Point out that:
- Join and Separate are similar in structure but opposite in action
- Compare has unique features (comparing two amounts; "more" vs. "fewer")
- Part-Part-Whole is about composition, not action
Students should see this table as a systematic way to think about problem variety in curriculum.</a:t>
            </a:r>
          </a:p>
        </p:txBody>
      </p:sp>
      <p:sp>
        <p:nvSpPr>
          <p:cNvPr id="4" name="Slide Number Placeholder 3"/>
          <p:cNvSpPr>
            <a:spLocks noGrp="1"/>
          </p:cNvSpPr>
          <p:nvPr>
            <p:ph type="sldNum" sz="quarter" idx="5"/>
          </p:nvPr>
        </p:nvSpPr>
        <p:spPr/>
        <p:txBody>
          <a:bodyPr/>
          <a:lstStyle/>
          <a:p>
            <a:fld id="{C9987CA4-EC64-C84B-84FC-F4363BE34CE9}" type="slidenum">
              <a:rPr lang="en-US" smtClean="0"/>
              <a:t>0</a:t>
            </a:fld>
          </a:p>
        </p:txBody>
      </p:sp>
    </p:spTree>
  </p:cSld>
  <p:extLst>
    <p:ext uri="{BB962C8B-B14F-4D97-AF65-F5344CB8AC3E}">
      <p14:creationId val="0"/>
    </p:ext>
  </p:extLst>
  <p:clrMapOvr>
    <a:masterClrMapping/>
  </p:clrMapOvr>
</p:notes>
</file>

<file path=ppt/notesSlides/notesSlide9.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execute the station rotation activity. 8 sheets posted around room (or adapt to group count). Each sheet is labeled with a problem type and unknown variation (e.g., "Separate-Change Unknown"). Groups rotate through rounds. In each round:
1) Read the problem type/variation at the station
2) Write 1-2 word problems of that type
3) Move to next station when time is called
This builds fluency in generating varied problems and recognizes that each structure type has multiple forms. Timing: 3-4 minute rotations work well. Call out transitions clearly. Emphasize quality over quantity.</a:t>
            </a:r>
          </a:p>
        </p:txBody>
      </p:sp>
      <p:sp>
        <p:nvSpPr>
          <p:cNvPr id="4" name="Slide Number Placeholder 3"/>
          <p:cNvSpPr>
            <a:spLocks noGrp="1"/>
          </p:cNvSpPr>
          <p:nvPr>
            <p:ph type="sldNum" sz="quarter" idx="5"/>
          </p:nvPr>
        </p:nvSpPr>
        <p:spPr/>
        <p:txBody>
          <a:bodyPr/>
          <a:lstStyle/>
          <a:p>
            <a:fld id="{C9987CA4-EC64-C84B-84FC-F4363BE34CE9}" type="slidenum">
              <a:rPr lang="en-US" smtClean="0"/>
              <a:t>0</a:t>
            </a:fld>
          </a:p>
        </p:txBody>
      </p:sp>
    </p:spTree>
  </p:cSld>
  <p:extLst>
    <p:ext uri="{BB962C8B-B14F-4D97-AF65-F5344CB8AC3E}">
      <p14:creationId val="0"/>
    </p:ext>
  </p:extLst>
  <p:clrMapOvr>
    <a:masterClrMapping/>
  </p:clrMapOvr>
</p:notes>
</file>

<file path=ppt/notesSlides/notesSlide10.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shows the rotation schedule. Likely structure: Join and Separate posters (action problems) are in one area; Compare and Part-Part-Whole (static problems) in another. You may have 2 of each type with different unknown variations. Manage transitions firmly. Collect sheets at end to see student understanding and use as formative assessment. Note which types students struggle with - this tells you where to focus future instruction.</a:t>
            </a:r>
          </a:p>
        </p:txBody>
      </p:sp>
      <p:sp>
        <p:nvSpPr>
          <p:cNvPr id="4" name="Slide Number Placeholder 3"/>
          <p:cNvSpPr>
            <a:spLocks noGrp="1"/>
          </p:cNvSpPr>
          <p:nvPr>
            <p:ph type="sldNum" sz="quarter" idx="5"/>
          </p:nvPr>
        </p:nvSpPr>
        <p:spPr/>
        <p:txBody>
          <a:bodyPr/>
          <a:lstStyle/>
          <a:p>
            <a:fld id="{C9987CA4-EC64-C84B-84FC-F4363BE34CE9}" type="slidenum">
              <a:rPr lang="en-US" smtClean="0"/>
              <a:t>0</a:t>
            </a:fld>
          </a:p>
        </p:txBody>
      </p:sp>
    </p:spTree>
  </p:cSld>
  <p:extLst>
    <p:ext uri="{BB962C8B-B14F-4D97-AF65-F5344CB8AC3E}">
      <p14:creationId val="0"/>
    </p:ext>
  </p:extLst>
  <p:clrMapOvr>
    <a:masterClrMapping/>
  </p:clrMapOvr>
</p:notes>
</file>

<file path=ppt/notesSlides/notesSlide11.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Synthesis discussion - bring everyone back together. Three key takeaways:
1. STORY PROBLEMS &amp; CONTEXT MATTER: Real-world context helps children understand what operation to use. Not all context problems are created equal - they must vary in structure type.
2. MULTIPLE REPRESENTATIONS: Show the same problem type represented in different ways (drawings, number lines, equations, arrays). This helps children who don't yet have access to standard written notation.
3. PLANNING FOR DIVERSITY: When you understand problem structures, you can intentionally include all types in your curriculum, ensuring all students develop flexible thinking, not just those who naturally gravitate to action problems.</a:t>
            </a:r>
          </a:p>
          <a:p>
            <a:r>
              <a:rPr lang="en-US" dirty="0"/>
              <a:t>Wrap up with: "Next time, we look at how problem structures connect to basic fact knowledge and automaticity."</a:t>
            </a:r>
          </a:p>
        </p:txBody>
      </p:sp>
      <p:sp>
        <p:nvSpPr>
          <p:cNvPr id="4" name="Slide Number Placeholder 3"/>
          <p:cNvSpPr>
            <a:spLocks noGrp="1"/>
          </p:cNvSpPr>
          <p:nvPr>
            <p:ph type="sldNum" sz="quarter" idx="5"/>
          </p:nvPr>
        </p:nvSpPr>
        <p:spPr/>
        <p:txBody>
          <a:bodyPr/>
          <a:lstStyle/>
          <a:p>
            <a:fld id="{C9987CA4-EC64-C84B-84FC-F4363BE34CE9}" type="slidenum">
              <a:rPr lang="en-US" smtClean="0"/>
              <a:t>0</a:t>
            </a:fld>
          </a:p>
        </p:txBody>
      </p:sp>
    </p:spTree>
  </p:cSld>
  <p:extLst>
    <p:ext uri="{BB962C8B-B14F-4D97-AF65-F5344CB8AC3E}">
      <p14:creationId val="0"/>
    </p:ext>
  </p:extLst>
  <p:clrMapOvr>
    <a:masterClrMapping/>
  </p:clrMapOvr>
</p:notes>
</file>

<file path=ppt/notesSlides/notesSlide1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Reinforce key deadlines:
- Lesson 1 revised version due TONIGHT (students are teaching tomorrow!)
- Week 9 Check-In due Thursday
Celebrate their work and preparation. This is a practical course - they need these problem structures TOMORROW in their classrooms. Send them off with confidence and enthusiasm. Offer office hours if anyone needs help with the revised lesson.</a:t>
            </a:r>
          </a:p>
        </p:txBody>
      </p:sp>
      <p:sp>
        <p:nvSpPr>
          <p:cNvPr id="4" name="Slide Number Placeholder 3"/>
          <p:cNvSpPr>
            <a:spLocks noGrp="1"/>
          </p:cNvSpPr>
          <p:nvPr>
            <p:ph type="sldNum" sz="quarter" idx="5"/>
          </p:nvPr>
        </p:nvSpPr>
        <p:spPr/>
        <p:txBody>
          <a:bodyPr/>
          <a:lstStyle/>
          <a:p>
            <a:fld id="{C9987CA4-EC64-C84B-84FC-F4363BE34CE9}" type="slidenum">
              <a:rPr lang="en-US" smtClean="0"/>
              <a:t>0</a:t>
            </a:fld>
          </a:p>
        </p:txBody>
      </p:sp>
    </p:spTree>
  </p:cSld>
  <p:extLst>
    <p:ext uri="{BB962C8B-B14F-4D97-AF65-F5344CB8AC3E}">
      <p14:creationId val="0"/>
    </p:ext>
  </p:extLst>
  <p:clrMapOvr>
    <a:masterClrMapping/>
  </p:clrMapOvr>
</p:notes>
</file>

<file path=ppt/slideLayouts/_rels/slideLayout1.xml.rels><?xml version="1.0" encoding="UTF-8"?><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smtClean="0"/>
              <a:t>3/11/26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42361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smtClean="0"/>
              <a:t>3/11/26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405082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smtClean="0"/>
              <a:t>3/11/26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4355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smtClean="0"/>
              <a:t>3/11/26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249378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smtClean="0"/>
              <a:t>3/11/26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072378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77919A6-33EB-49BD-A62F-1FA56B9F9712}" type="datetimeFigureOut">
              <a:rPr lang="en-US" smtClean="0"/>
              <a:t>3/11/26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81886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smtClean="0"/>
              <a:t>3/11/26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92262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smtClean="0"/>
              <a:t>3/11/26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483897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smtClean="0"/>
              <a:t>3/11/26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216615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157CC2-0FC8-4686-B024-99790E0F5162}" type="datetimeFigureOut">
              <a:rPr lang="en-US" smtClean="0"/>
              <a:t>3/11/26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536256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smtClean="0"/>
              <a:t>3/11/26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358651680"/>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smtClean="0"/>
              <a:t>3/11/26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D2381-58B5-6149-BEEE-9DAA565C8167}"/>
              </a:ext>
            </a:extLst>
          </p:cNvPr>
          <p:cNvSpPr>
            <a:spLocks noGrp="1"/>
          </p:cNvSpPr>
          <p:nvPr>
            <p:ph type="ctrTitle"/>
          </p:nvPr>
        </p:nvSpPr>
        <p:spPr/>
        <p:txBody>
          <a:bodyPr/>
          <a:lstStyle/>
          <a:p>
            <a:r>
              <a:rPr lang="en-US" dirty="0"/>
              <a:t>E343: Week 9</a:t>
            </a:r>
          </a:p>
        </p:txBody>
      </p:sp>
      <p:sp>
        <p:nvSpPr>
          <p:cNvPr id="3" name="Subtitle 2">
            <a:extLst>
              <a:ext uri="{FF2B5EF4-FFF2-40B4-BE49-F238E27FC236}">
                <a16:creationId xmlns:a16="http://schemas.microsoft.com/office/drawing/2014/main" id="{ED43EBD6-E418-BD40-9D86-9DE7D872501D}"/>
              </a:ext>
            </a:extLst>
          </p:cNvPr>
          <p:cNvSpPr>
            <a:spLocks noGrp="1"/>
          </p:cNvSpPr>
          <p:nvPr>
            <p:ph type="subTitle" idx="1"/>
          </p:nvPr>
        </p:nvSpPr>
        <p:spPr>
          <a:xfrm>
            <a:off x="1069848" y="4389120"/>
            <a:ext cx="8838650" cy="1069848"/>
          </a:xfrm>
        </p:spPr>
        <p:txBody>
          <a:bodyPr>
            <a:normAutofit/>
          </a:bodyPr>
          <a:lstStyle/>
          <a:p>
            <a:r>
              <a:rPr lang="en-US" b="1" dirty="0"/>
              <a:t>READINGS FOR TODAY:</a:t>
            </a:r>
          </a:p>
          <a:p>
            <a:r>
              <a:rPr lang="en-US" b="1" dirty="0"/>
              <a:t xml:space="preserve">Van de </a:t>
            </a:r>
            <a:r>
              <a:rPr lang="en-US" b="1" dirty="0" err="1"/>
              <a:t>Walle</a:t>
            </a:r>
            <a:r>
              <a:rPr lang="en-US" b="1" dirty="0"/>
              <a:t xml:space="preserve"> et al. Addition and Subtraction</a:t>
            </a:r>
          </a:p>
        </p:txBody>
      </p:sp>
    </p:spTree>
    <p:extLst>
      <p:ext uri="{BB962C8B-B14F-4D97-AF65-F5344CB8AC3E}">
        <p14:creationId xmlns:p14="http://schemas.microsoft.com/office/powerpoint/2010/main" val="2183521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4B619-375F-064E-9B47-DED9C7D7004A}"/>
              </a:ext>
            </a:extLst>
          </p:cNvPr>
          <p:cNvSpPr>
            <a:spLocks noGrp="1"/>
          </p:cNvSpPr>
          <p:nvPr>
            <p:ph type="title"/>
          </p:nvPr>
        </p:nvSpPr>
        <p:spPr>
          <a:xfrm>
            <a:off x="1069848" y="484632"/>
            <a:ext cx="10058400" cy="928532"/>
          </a:xfrm>
        </p:spPr>
        <p:txBody>
          <a:bodyPr/>
          <a:lstStyle/>
          <a:p>
            <a:r>
              <a:rPr lang="en-US" dirty="0"/>
              <a:t>Agenda</a:t>
            </a:r>
          </a:p>
        </p:txBody>
      </p:sp>
      <p:sp>
        <p:nvSpPr>
          <p:cNvPr id="3" name="Content Placeholder 2">
            <a:extLst>
              <a:ext uri="{FF2B5EF4-FFF2-40B4-BE49-F238E27FC236}">
                <a16:creationId xmlns:a16="http://schemas.microsoft.com/office/drawing/2014/main" id="{B64680B8-8E56-274D-80FA-9F5496EB8E60}"/>
              </a:ext>
            </a:extLst>
          </p:cNvPr>
          <p:cNvSpPr>
            <a:spLocks noGrp="1"/>
          </p:cNvSpPr>
          <p:nvPr>
            <p:ph idx="1"/>
          </p:nvPr>
        </p:nvSpPr>
        <p:spPr>
          <a:xfrm>
            <a:off x="1069848" y="1413164"/>
            <a:ext cx="10058400" cy="4960204"/>
          </a:xfrm>
        </p:spPr>
        <p:txBody>
          <a:bodyPr>
            <a:normAutofit/>
          </a:bodyPr>
          <a:lstStyle/>
          <a:p>
            <a:r>
              <a:rPr lang="en-US" sz="2800" dirty="0"/>
              <a:t>Finish Math Process Standards, Gallery Walk (15 minutes)</a:t>
            </a:r>
          </a:p>
          <a:p>
            <a:r>
              <a:rPr lang="en-US" sz="2800" dirty="0"/>
              <a:t>Discuss Addition and Subtraction Problem Types (20 minutes)</a:t>
            </a:r>
          </a:p>
          <a:p>
            <a:r>
              <a:rPr lang="en-US" sz="2800" dirty="0"/>
              <a:t xml:space="preserve">Write Different Problem Types (30 minutes) </a:t>
            </a:r>
          </a:p>
          <a:p>
            <a:endParaRPr lang="en-US" sz="2800" dirty="0"/>
          </a:p>
          <a:p>
            <a:r>
              <a:rPr lang="en-US" sz="2800" dirty="0"/>
              <a:t>Summary: What matters for teaching? (10 minutes)</a:t>
            </a:r>
          </a:p>
          <a:p>
            <a:endParaRPr lang="en-US" sz="2800" dirty="0"/>
          </a:p>
          <a:p>
            <a:endParaRPr lang="en-US" sz="2800" dirty="0"/>
          </a:p>
          <a:p>
            <a:endParaRPr lang="en-US" sz="2800" dirty="0"/>
          </a:p>
        </p:txBody>
      </p:sp>
    </p:spTree>
    <p:extLst>
      <p:ext uri="{BB962C8B-B14F-4D97-AF65-F5344CB8AC3E}">
        <p14:creationId xmlns:p14="http://schemas.microsoft.com/office/powerpoint/2010/main" val="1511034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59EBF-A31F-674F-AF96-6126444723DB}"/>
              </a:ext>
            </a:extLst>
          </p:cNvPr>
          <p:cNvSpPr>
            <a:spLocks noGrp="1"/>
          </p:cNvSpPr>
          <p:nvPr>
            <p:ph type="title"/>
          </p:nvPr>
        </p:nvSpPr>
        <p:spPr/>
        <p:txBody>
          <a:bodyPr/>
          <a:lstStyle/>
          <a:p>
            <a:r>
              <a:rPr lang="en-US" dirty="0"/>
              <a:t>Where are we in Standards?</a:t>
            </a:r>
          </a:p>
        </p:txBody>
      </p:sp>
      <p:pic>
        <p:nvPicPr>
          <p:cNvPr id="5" name="Content Placeholder 4" descr="A screenshot of a math problem  Description automatically generated">
            <a:extLst>
              <a:ext uri="{FF2B5EF4-FFF2-40B4-BE49-F238E27FC236}">
                <a16:creationId xmlns:a16="http://schemas.microsoft.com/office/drawing/2014/main" id="{09CD7EDD-3A2B-B7AB-4732-56BC4A26FF1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4473" y="1733550"/>
            <a:ext cx="6235700" cy="3390900"/>
          </a:xfrm>
        </p:spPr>
      </p:pic>
      <p:pic>
        <p:nvPicPr>
          <p:cNvPr id="7" name="Picture 6" descr="A screenshot of a number sense  Description automatically generated">
            <a:extLst>
              <a:ext uri="{FF2B5EF4-FFF2-40B4-BE49-F238E27FC236}">
                <a16:creationId xmlns:a16="http://schemas.microsoft.com/office/drawing/2014/main" id="{CDE2FF0F-2C37-C281-D40E-771EA0F622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67148" y="3822700"/>
            <a:ext cx="6261100" cy="2603500"/>
          </a:xfrm>
          <a:prstGeom prst="rect">
            <a:avLst/>
          </a:prstGeom>
        </p:spPr>
      </p:pic>
      <p:pic>
        <p:nvPicPr>
          <p:cNvPr id="11" name="Picture 10" descr="A close-up of a white box  Description automatically generated">
            <a:extLst>
              <a:ext uri="{FF2B5EF4-FFF2-40B4-BE49-F238E27FC236}">
                <a16:creationId xmlns:a16="http://schemas.microsoft.com/office/drawing/2014/main" id="{F179BF98-6896-A8CF-9586-3DC5439396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67148" y="2874749"/>
            <a:ext cx="6261100" cy="1016000"/>
          </a:xfrm>
          <a:prstGeom prst="rect">
            <a:avLst/>
          </a:prstGeom>
        </p:spPr>
      </p:pic>
      <p:pic>
        <p:nvPicPr>
          <p:cNvPr id="13" name="Picture 12" descr="A close-up of a math problem  Description automatically generated">
            <a:extLst>
              <a:ext uri="{FF2B5EF4-FFF2-40B4-BE49-F238E27FC236}">
                <a16:creationId xmlns:a16="http://schemas.microsoft.com/office/drawing/2014/main" id="{68D6AE11-6DE6-ED0D-5EA6-B33E020150F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67148" y="3890749"/>
            <a:ext cx="6261100" cy="2527300"/>
          </a:xfrm>
          <a:prstGeom prst="rect">
            <a:avLst/>
          </a:prstGeom>
        </p:spPr>
      </p:pic>
    </p:spTree>
    <p:extLst>
      <p:ext uri="{BB962C8B-B14F-4D97-AF65-F5344CB8AC3E}">
        <p14:creationId xmlns:p14="http://schemas.microsoft.com/office/powerpoint/2010/main" val="3490266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FE3D4-4405-4291-B4FB-DAAAA178DCF4}"/>
              </a:ext>
            </a:extLst>
          </p:cNvPr>
          <p:cNvSpPr>
            <a:spLocks noGrp="1"/>
          </p:cNvSpPr>
          <p:nvPr>
            <p:ph type="title"/>
          </p:nvPr>
        </p:nvSpPr>
        <p:spPr/>
        <p:txBody>
          <a:bodyPr/>
          <a:lstStyle/>
          <a:p>
            <a:r>
              <a:rPr lang="en-US" dirty="0"/>
              <a:t>Why do we Care About Problem Types?</a:t>
            </a:r>
          </a:p>
        </p:txBody>
      </p:sp>
      <p:sp>
        <p:nvSpPr>
          <p:cNvPr id="3" name="Content Placeholder 2">
            <a:extLst>
              <a:ext uri="{FF2B5EF4-FFF2-40B4-BE49-F238E27FC236}">
                <a16:creationId xmlns:a16="http://schemas.microsoft.com/office/drawing/2014/main" id="{E3527117-E014-4906-87D7-23CDFA135CF3}"/>
              </a:ext>
            </a:extLst>
          </p:cNvPr>
          <p:cNvSpPr>
            <a:spLocks noGrp="1"/>
          </p:cNvSpPr>
          <p:nvPr>
            <p:ph idx="1"/>
          </p:nvPr>
        </p:nvSpPr>
        <p:spPr>
          <a:xfrm>
            <a:off x="1069848" y="2121407"/>
            <a:ext cx="10058400" cy="4297321"/>
          </a:xfrm>
        </p:spPr>
        <p:txBody>
          <a:bodyPr>
            <a:normAutofit/>
          </a:bodyPr>
          <a:lstStyle/>
          <a:p>
            <a:r>
              <a:rPr lang="en-US" dirty="0"/>
              <a:t>Helps you ensure that all problem types are addressed in instruction</a:t>
            </a:r>
          </a:p>
          <a:p>
            <a:r>
              <a:rPr lang="en-US" dirty="0"/>
              <a:t xml:space="preserve">Some curricula focus on only some problem types instead of all of them – puts students at a disadvantage for future math (and standardized tests, </a:t>
            </a:r>
            <a:r>
              <a:rPr lang="en-US" dirty="0" err="1"/>
              <a:t>shhhhh</a:t>
            </a:r>
            <a:r>
              <a:rPr lang="en-US" dirty="0"/>
              <a:t>)</a:t>
            </a:r>
          </a:p>
          <a:p>
            <a:r>
              <a:rPr lang="en-US" dirty="0"/>
              <a:t>Sharing problem types with students--pros:</a:t>
            </a:r>
          </a:p>
          <a:p>
            <a:pPr lvl="1"/>
            <a:r>
              <a:rPr lang="en-US" dirty="0"/>
              <a:t>Can help students who are having trouble deciding what to do learn how – if they can classify a problem, they can solve it (this is a SPED technique that helps everyone)</a:t>
            </a:r>
          </a:p>
          <a:p>
            <a:pPr lvl="1"/>
            <a:r>
              <a:rPr lang="en-US" dirty="0"/>
              <a:t>Makes explicit some of the implicit parts of word problems</a:t>
            </a:r>
          </a:p>
          <a:p>
            <a:pPr lvl="1"/>
            <a:r>
              <a:rPr lang="en-US" dirty="0"/>
              <a:t>Some curricula do this (CMP3, for example, which is used in 6</a:t>
            </a:r>
            <a:r>
              <a:rPr lang="en-US" baseline="30000" dirty="0"/>
              <a:t>th</a:t>
            </a:r>
            <a:r>
              <a:rPr lang="en-US" dirty="0"/>
              <a:t xml:space="preserve"> grade at MCCSC)</a:t>
            </a:r>
          </a:p>
          <a:p>
            <a:r>
              <a:rPr lang="en-US" dirty="0"/>
              <a:t>Sharing problem types with students--cons:</a:t>
            </a:r>
          </a:p>
          <a:p>
            <a:pPr lvl="1"/>
            <a:r>
              <a:rPr lang="en-US" dirty="0"/>
              <a:t>Adds an extra layer of complexity for students who don’t need it</a:t>
            </a:r>
          </a:p>
          <a:p>
            <a:pPr lvl="1"/>
            <a:r>
              <a:rPr lang="en-US" dirty="0"/>
              <a:t>It’s unlikely that future teachers will refer to problems in this way</a:t>
            </a:r>
          </a:p>
          <a:p>
            <a:pPr lvl="1"/>
            <a:r>
              <a:rPr lang="en-US" dirty="0"/>
              <a:t>It’s tempting to test students on problem type identification – DON’T do that!</a:t>
            </a:r>
          </a:p>
        </p:txBody>
      </p:sp>
    </p:spTree>
    <p:extLst>
      <p:ext uri="{BB962C8B-B14F-4D97-AF65-F5344CB8AC3E}">
        <p14:creationId xmlns:p14="http://schemas.microsoft.com/office/powerpoint/2010/main" val="2797773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AE440-3040-9348-BE42-BE47DEB00D46}"/>
              </a:ext>
            </a:extLst>
          </p:cNvPr>
          <p:cNvSpPr>
            <a:spLocks noGrp="1"/>
          </p:cNvSpPr>
          <p:nvPr>
            <p:ph type="title"/>
          </p:nvPr>
        </p:nvSpPr>
        <p:spPr/>
        <p:txBody>
          <a:bodyPr/>
          <a:lstStyle/>
          <a:p>
            <a:r>
              <a:rPr lang="en-US" dirty="0"/>
              <a:t>Four Types of Problems</a:t>
            </a:r>
          </a:p>
        </p:txBody>
      </p:sp>
      <p:sp>
        <p:nvSpPr>
          <p:cNvPr id="4" name="Content Placeholder 3">
            <a:extLst>
              <a:ext uri="{FF2B5EF4-FFF2-40B4-BE49-F238E27FC236}">
                <a16:creationId xmlns:a16="http://schemas.microsoft.com/office/drawing/2014/main" id="{43F8A956-0739-364C-9487-99927AAB6617}"/>
              </a:ext>
            </a:extLst>
          </p:cNvPr>
          <p:cNvSpPr>
            <a:spLocks noGrp="1"/>
          </p:cNvSpPr>
          <p:nvPr>
            <p:ph idx="1"/>
          </p:nvPr>
        </p:nvSpPr>
        <p:spPr/>
        <p:txBody>
          <a:bodyPr>
            <a:normAutofit fontScale="92500" lnSpcReduction="10000"/>
          </a:bodyPr>
          <a:lstStyle/>
          <a:p>
            <a:r>
              <a:rPr lang="en-US" dirty="0"/>
              <a:t>Join (Action)</a:t>
            </a:r>
          </a:p>
          <a:p>
            <a:pPr lvl="1"/>
            <a:r>
              <a:rPr lang="en-US" b="1" dirty="0"/>
              <a:t>Example:</a:t>
            </a:r>
            <a:r>
              <a:rPr lang="en-US" dirty="0"/>
              <a:t xml:space="preserve">  Karly had 5 pennies. Her sister gave her 8 more. How many pennies does she have now?</a:t>
            </a:r>
          </a:p>
          <a:p>
            <a:r>
              <a:rPr lang="en-US" dirty="0"/>
              <a:t>Separate (Action)</a:t>
            </a:r>
          </a:p>
          <a:p>
            <a:pPr lvl="1"/>
            <a:r>
              <a:rPr lang="en-US" b="1" dirty="0"/>
              <a:t xml:space="preserve">Example: </a:t>
            </a:r>
            <a:r>
              <a:rPr lang="en-US" dirty="0"/>
              <a:t>Carrie had 17 rocks in her rock collection. She gave 9 to her best friend. How many rocks does she have now?</a:t>
            </a:r>
            <a:endParaRPr lang="en-US" b="1" dirty="0"/>
          </a:p>
          <a:p>
            <a:r>
              <a:rPr lang="en-US" dirty="0"/>
              <a:t xml:space="preserve">Part-Part Whole (No action) </a:t>
            </a:r>
          </a:p>
          <a:p>
            <a:pPr lvl="1"/>
            <a:r>
              <a:rPr lang="en-US" b="1" dirty="0"/>
              <a:t xml:space="preserve">Example: </a:t>
            </a:r>
            <a:r>
              <a:rPr lang="en-US" dirty="0"/>
              <a:t>Madison has 8 apples. She has 5 bananas. How much fruit does she have?</a:t>
            </a:r>
            <a:endParaRPr lang="en-US" b="1" dirty="0"/>
          </a:p>
          <a:p>
            <a:r>
              <a:rPr lang="en-US" dirty="0"/>
              <a:t>Compare (Comparison)</a:t>
            </a:r>
          </a:p>
          <a:p>
            <a:pPr lvl="1"/>
            <a:r>
              <a:rPr lang="en-US" b="1" dirty="0"/>
              <a:t xml:space="preserve">Example: </a:t>
            </a:r>
            <a:r>
              <a:rPr lang="en-US" dirty="0"/>
              <a:t>Cate has 8 apples. She has 5 bananas. How many more apples does she have than bananas? OR How many fewer bananas does she have than apples?</a:t>
            </a:r>
          </a:p>
          <a:p>
            <a:pPr lvl="1"/>
            <a:endParaRPr lang="en-US" b="1" dirty="0"/>
          </a:p>
          <a:p>
            <a:r>
              <a:rPr lang="en-US" b="1" dirty="0"/>
              <a:t>Practice time! Go to p. 6 of the Unit 3 Packet</a:t>
            </a:r>
          </a:p>
        </p:txBody>
      </p:sp>
    </p:spTree>
    <p:extLst>
      <p:ext uri="{BB962C8B-B14F-4D97-AF65-F5344CB8AC3E}">
        <p14:creationId xmlns:p14="http://schemas.microsoft.com/office/powerpoint/2010/main" val="1647457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CA6AC-8C63-B94C-9D47-4DE18D790D6A}"/>
              </a:ext>
            </a:extLst>
          </p:cNvPr>
          <p:cNvSpPr>
            <a:spLocks noGrp="1"/>
          </p:cNvSpPr>
          <p:nvPr>
            <p:ph type="title"/>
          </p:nvPr>
        </p:nvSpPr>
        <p:spPr/>
        <p:txBody>
          <a:bodyPr/>
          <a:lstStyle/>
          <a:p>
            <a:r>
              <a:rPr lang="en-US" dirty="0"/>
              <a:t>Different Parts of a Problem Can be Unknown</a:t>
            </a:r>
          </a:p>
        </p:txBody>
      </p:sp>
      <p:sp>
        <p:nvSpPr>
          <p:cNvPr id="3" name="Content Placeholder 2">
            <a:extLst>
              <a:ext uri="{FF2B5EF4-FFF2-40B4-BE49-F238E27FC236}">
                <a16:creationId xmlns:a16="http://schemas.microsoft.com/office/drawing/2014/main" id="{268717E7-840E-5C4E-A51A-D947E2CF16EC}"/>
              </a:ext>
            </a:extLst>
          </p:cNvPr>
          <p:cNvSpPr>
            <a:spLocks noGrp="1"/>
          </p:cNvSpPr>
          <p:nvPr>
            <p:ph idx="1"/>
          </p:nvPr>
        </p:nvSpPr>
        <p:spPr>
          <a:xfrm>
            <a:off x="1069848" y="5325626"/>
            <a:ext cx="10058400" cy="846574"/>
          </a:xfrm>
        </p:spPr>
        <p:txBody>
          <a:bodyPr/>
          <a:lstStyle/>
          <a:p>
            <a:r>
              <a:rPr lang="en-US" dirty="0"/>
              <a:t xml:space="preserve">Practice time! Go to p. 6-7 of Unit 3 handout. </a:t>
            </a:r>
          </a:p>
        </p:txBody>
      </p:sp>
      <p:pic>
        <p:nvPicPr>
          <p:cNvPr id="5" name="Picture 4" descr="A screenshot of a cell phone  Description automatically generated">
            <a:extLst>
              <a:ext uri="{FF2B5EF4-FFF2-40B4-BE49-F238E27FC236}">
                <a16:creationId xmlns:a16="http://schemas.microsoft.com/office/drawing/2014/main" id="{BEB51B09-0944-A641-8C1E-291E8C2EAB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743202"/>
            <a:ext cx="12142833" cy="2364896"/>
          </a:xfrm>
          <a:prstGeom prst="rect">
            <a:avLst/>
          </a:prstGeom>
        </p:spPr>
      </p:pic>
    </p:spTree>
    <p:extLst>
      <p:ext uri="{BB962C8B-B14F-4D97-AF65-F5344CB8AC3E}">
        <p14:creationId xmlns:p14="http://schemas.microsoft.com/office/powerpoint/2010/main" val="2313932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D398E-C7A6-7BE5-5A78-40E991928848}"/>
              </a:ext>
            </a:extLst>
          </p:cNvPr>
          <p:cNvSpPr>
            <a:spLocks noGrp="1"/>
          </p:cNvSpPr>
          <p:nvPr>
            <p:ph type="title"/>
          </p:nvPr>
        </p:nvSpPr>
        <p:spPr/>
        <p:txBody>
          <a:bodyPr/>
          <a:lstStyle/>
          <a:p>
            <a:r>
              <a:rPr lang="en-US" dirty="0"/>
              <a:t>Get Into Small Groups</a:t>
            </a:r>
          </a:p>
        </p:txBody>
      </p:sp>
      <p:sp>
        <p:nvSpPr>
          <p:cNvPr id="3" name="Content Placeholder 2">
            <a:extLst>
              <a:ext uri="{FF2B5EF4-FFF2-40B4-BE49-F238E27FC236}">
                <a16:creationId xmlns:a16="http://schemas.microsoft.com/office/drawing/2014/main" id="{BDCEC81B-79DA-251E-FE21-8E55073B265C}"/>
              </a:ext>
            </a:extLst>
          </p:cNvPr>
          <p:cNvSpPr>
            <a:spLocks noGrp="1"/>
          </p:cNvSpPr>
          <p:nvPr>
            <p:ph idx="1"/>
          </p:nvPr>
        </p:nvSpPr>
        <p:spPr/>
        <p:txBody>
          <a:bodyPr/>
          <a:lstStyle/>
          <a:p>
            <a:r>
              <a:rPr lang="en-US" dirty="0"/>
              <a:t xml:space="preserve">For your problem type, write three problems, one for each part that could be missing.  </a:t>
            </a:r>
          </a:p>
          <a:p>
            <a:endParaRPr lang="en-US" dirty="0"/>
          </a:p>
          <a:p>
            <a:endParaRPr lang="en-US" dirty="0"/>
          </a:p>
          <a:p>
            <a:r>
              <a:rPr lang="en-US"/>
              <a:t>Write</a:t>
            </a:r>
            <a:r>
              <a:rPr lang="en-US" dirty="0"/>
              <a:t xml:space="preserve"> </a:t>
            </a:r>
          </a:p>
        </p:txBody>
      </p:sp>
    </p:spTree>
    <p:extLst>
      <p:ext uri="{BB962C8B-B14F-4D97-AF65-F5344CB8AC3E}">
        <p14:creationId xmlns:p14="http://schemas.microsoft.com/office/powerpoint/2010/main" val="56633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15B864-F2DC-7A4A-AF34-23A3B90B135D}"/>
              </a:ext>
            </a:extLst>
          </p:cNvPr>
          <p:cNvSpPr>
            <a:spLocks noGrp="1"/>
          </p:cNvSpPr>
          <p:nvPr>
            <p:ph idx="1"/>
          </p:nvPr>
        </p:nvSpPr>
        <p:spPr>
          <a:xfrm>
            <a:off x="524573" y="594058"/>
            <a:ext cx="2922011" cy="4050792"/>
          </a:xfrm>
        </p:spPr>
        <p:txBody>
          <a:bodyPr/>
          <a:lstStyle/>
          <a:p>
            <a:r>
              <a:rPr lang="en-US" dirty="0"/>
              <a:t xml:space="preserve">Figure 8.2 </a:t>
            </a:r>
            <a:r>
              <a:rPr lang="en-US" dirty="0" err="1"/>
              <a:t>VdW</a:t>
            </a:r>
            <a:r>
              <a:rPr lang="en-US" dirty="0"/>
              <a:t>, pp. 161-162</a:t>
            </a:r>
          </a:p>
        </p:txBody>
      </p:sp>
      <p:pic>
        <p:nvPicPr>
          <p:cNvPr id="5" name="Picture 4" descr="A screenshot of a computer  Description automatically generated">
            <a:extLst>
              <a:ext uri="{FF2B5EF4-FFF2-40B4-BE49-F238E27FC236}">
                <a16:creationId xmlns:a16="http://schemas.microsoft.com/office/drawing/2014/main" id="{10529D6F-A804-5E46-9FA0-A01E37D931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2007" y="0"/>
            <a:ext cx="7546554" cy="6858000"/>
          </a:xfrm>
          <a:prstGeom prst="rect">
            <a:avLst/>
          </a:prstGeom>
        </p:spPr>
      </p:pic>
    </p:spTree>
    <p:extLst>
      <p:ext uri="{BB962C8B-B14F-4D97-AF65-F5344CB8AC3E}">
        <p14:creationId xmlns:p14="http://schemas.microsoft.com/office/powerpoint/2010/main" val="1766493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2ED3D-2155-D685-6D6D-7DD37BA90FB3}"/>
              </a:ext>
            </a:extLst>
          </p:cNvPr>
          <p:cNvSpPr>
            <a:spLocks noGrp="1"/>
          </p:cNvSpPr>
          <p:nvPr>
            <p:ph type="title"/>
          </p:nvPr>
        </p:nvSpPr>
        <p:spPr/>
        <p:txBody>
          <a:bodyPr/>
          <a:lstStyle/>
          <a:p>
            <a:r>
              <a:rPr lang="en-US" dirty="0"/>
              <a:t>Activity Instructions</a:t>
            </a:r>
          </a:p>
        </p:txBody>
      </p:sp>
      <p:sp>
        <p:nvSpPr>
          <p:cNvPr id="3" name="Content Placeholder 2">
            <a:extLst>
              <a:ext uri="{FF2B5EF4-FFF2-40B4-BE49-F238E27FC236}">
                <a16:creationId xmlns:a16="http://schemas.microsoft.com/office/drawing/2014/main" id="{D57851ED-20CF-7F29-0137-5292876EDA6D}"/>
              </a:ext>
            </a:extLst>
          </p:cNvPr>
          <p:cNvSpPr>
            <a:spLocks noGrp="1"/>
          </p:cNvSpPr>
          <p:nvPr>
            <p:ph idx="1"/>
          </p:nvPr>
        </p:nvSpPr>
        <p:spPr/>
        <p:txBody>
          <a:bodyPr/>
          <a:lstStyle/>
          <a:p>
            <a:r>
              <a:rPr lang="en-US" dirty="0"/>
              <a:t>Groups of 3 go to one of the pieces of paper posted around the room (there are 8 total piece of paper).</a:t>
            </a:r>
          </a:p>
          <a:p>
            <a:endParaRPr lang="en-US" dirty="0"/>
          </a:p>
          <a:p>
            <a:r>
              <a:rPr lang="en-US" dirty="0"/>
              <a:t>Write a word problem with that problem type and the unknown part. Your instructor will give you what part is unknown (e.g., join change unknown).</a:t>
            </a:r>
          </a:p>
          <a:p>
            <a:endParaRPr lang="en-US" dirty="0"/>
          </a:p>
          <a:p>
            <a:r>
              <a:rPr lang="en-US" dirty="0"/>
              <a:t xml:space="preserve">Switch stations, solve the problem that the previous group wrote, and write a new problem on the piece of paper for the next group. </a:t>
            </a:r>
          </a:p>
          <a:p>
            <a:endParaRPr lang="en-US" dirty="0"/>
          </a:p>
          <a:p>
            <a:r>
              <a:rPr lang="en-US" dirty="0"/>
              <a:t xml:space="preserve">Rotate through until you have been to all 8 stations.   </a:t>
            </a:r>
          </a:p>
        </p:txBody>
      </p:sp>
    </p:spTree>
    <p:extLst>
      <p:ext uri="{BB962C8B-B14F-4D97-AF65-F5344CB8AC3E}">
        <p14:creationId xmlns:p14="http://schemas.microsoft.com/office/powerpoint/2010/main" val="2108144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BB9B4-D048-7146-86F2-92B17725FE1A}"/>
              </a:ext>
            </a:extLst>
          </p:cNvPr>
          <p:cNvSpPr>
            <a:spLocks noGrp="1"/>
          </p:cNvSpPr>
          <p:nvPr>
            <p:ph type="title"/>
          </p:nvPr>
        </p:nvSpPr>
        <p:spPr/>
        <p:txBody>
          <a:bodyPr/>
          <a:lstStyle/>
          <a:p>
            <a:r>
              <a:rPr lang="en-US" dirty="0"/>
              <a:t>Rounds</a:t>
            </a:r>
          </a:p>
        </p:txBody>
      </p:sp>
      <p:graphicFrame>
        <p:nvGraphicFramePr>
          <p:cNvPr id="4" name="Content Placeholder 3">
            <a:extLst>
              <a:ext uri="{FF2B5EF4-FFF2-40B4-BE49-F238E27FC236}">
                <a16:creationId xmlns:a16="http://schemas.microsoft.com/office/drawing/2014/main" id="{E753C613-88C3-B85C-717D-35198F94B155}"/>
              </a:ext>
            </a:extLst>
          </p:cNvPr>
          <p:cNvGraphicFramePr>
            <a:graphicFrameLocks noGrp="1"/>
          </p:cNvGraphicFramePr>
          <p:nvPr>
            <p:ph idx="1"/>
          </p:nvPr>
        </p:nvGraphicFramePr>
        <p:xfrm>
          <a:off x="1069975" y="2561590"/>
          <a:ext cx="10058399" cy="3169920"/>
        </p:xfrm>
        <a:graphic>
          <a:graphicData uri="http://schemas.openxmlformats.org/drawingml/2006/table">
            <a:tbl>
              <a:tblPr/>
              <a:tblGrid>
                <a:gridCol w="2578350">
                  <a:extLst>
                    <a:ext uri="{9D8B030D-6E8A-4147-A177-3AD203B41FA5}">
                      <a16:colId xmlns:a16="http://schemas.microsoft.com/office/drawing/2014/main" val="897353080"/>
                    </a:ext>
                  </a:extLst>
                </a:gridCol>
                <a:gridCol w="2578350">
                  <a:extLst>
                    <a:ext uri="{9D8B030D-6E8A-4147-A177-3AD203B41FA5}">
                      <a16:colId xmlns:a16="http://schemas.microsoft.com/office/drawing/2014/main" val="768306408"/>
                    </a:ext>
                  </a:extLst>
                </a:gridCol>
                <a:gridCol w="2578350">
                  <a:extLst>
                    <a:ext uri="{9D8B030D-6E8A-4147-A177-3AD203B41FA5}">
                      <a16:colId xmlns:a16="http://schemas.microsoft.com/office/drawing/2014/main" val="563606608"/>
                    </a:ext>
                  </a:extLst>
                </a:gridCol>
                <a:gridCol w="2323349">
                  <a:extLst>
                    <a:ext uri="{9D8B030D-6E8A-4147-A177-3AD203B41FA5}">
                      <a16:colId xmlns:a16="http://schemas.microsoft.com/office/drawing/2014/main" val="2230467305"/>
                    </a:ext>
                  </a:extLst>
                </a:gridCol>
              </a:tblGrid>
              <a:tr h="0">
                <a:tc>
                  <a:txBody>
                    <a:bodyPr/>
                    <a:lstStyle/>
                    <a:p>
                      <a:pPr rtl="0">
                        <a:buNone/>
                      </a:pPr>
                      <a:r>
                        <a:rPr lang="en-US" b="1">
                          <a:solidFill>
                            <a:srgbClr val="1F1F1F"/>
                          </a:solidFill>
                          <a:effectLst/>
                          <a:latin typeface="Google Sans Text"/>
                        </a:rPr>
                        <a:t>Round</a:t>
                      </a:r>
                      <a:endParaRPr lang="en-US">
                        <a:solidFill>
                          <a:srgbClr val="1F1F1F"/>
                        </a:solidFill>
                        <a:effectLst/>
                        <a:latin typeface="Google Sans Text"/>
                      </a:endParaRP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Join &amp; Separate Posters</a:t>
                      </a:r>
                      <a:endParaRPr lang="en-US">
                        <a:solidFill>
                          <a:srgbClr val="1F1F1F"/>
                        </a:solidFill>
                        <a:effectLst/>
                        <a:latin typeface="Google Sans Text"/>
                      </a:endParaRP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Part-Part-Whole Posters</a:t>
                      </a:r>
                      <a:endParaRPr lang="en-US">
                        <a:solidFill>
                          <a:srgbClr val="1F1F1F"/>
                        </a:solidFill>
                        <a:effectLst/>
                        <a:latin typeface="Google Sans Text"/>
                      </a:endParaRP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Compare Posters</a:t>
                      </a:r>
                      <a:endParaRPr lang="en-US">
                        <a:solidFill>
                          <a:srgbClr val="1F1F1F"/>
                        </a:solidFill>
                        <a:effectLst/>
                        <a:latin typeface="Google Sans Text"/>
                      </a:endParaRPr>
                    </a:p>
                  </a:txBody>
                  <a:tcPr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79905066"/>
                  </a:ext>
                </a:extLst>
              </a:tr>
              <a:tr h="0">
                <a:tc>
                  <a:txBody>
                    <a:bodyPr/>
                    <a:lstStyle/>
                    <a:p>
                      <a:pPr rtl="0">
                        <a:buNone/>
                      </a:pPr>
                      <a:r>
                        <a:rPr lang="en-US" b="1" dirty="0">
                          <a:solidFill>
                            <a:srgbClr val="1F1F1F"/>
                          </a:solidFill>
                          <a:effectLst/>
                          <a:latin typeface="Google Sans Text"/>
                        </a:rPr>
                        <a:t>Round 1</a:t>
                      </a:r>
                      <a:endParaRPr lang="en-US" dirty="0">
                        <a:solidFill>
                          <a:srgbClr val="1F1F1F"/>
                        </a:solidFill>
                        <a:effectLst/>
                        <a:latin typeface="Google Sans Text"/>
                      </a:endParaRP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dirty="0">
                          <a:solidFill>
                            <a:srgbClr val="1F1F1F"/>
                          </a:solidFill>
                          <a:effectLst/>
                          <a:latin typeface="Google Sans Text"/>
                        </a:rPr>
                        <a:t>Result Unknown</a:t>
                      </a: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dirty="0">
                          <a:solidFill>
                            <a:srgbClr val="1F1F1F"/>
                          </a:solidFill>
                          <a:effectLst/>
                          <a:latin typeface="Google Sans Text"/>
                        </a:rPr>
                        <a:t>Whole Unknown</a:t>
                      </a: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dirty="0">
                          <a:solidFill>
                            <a:srgbClr val="1F1F1F"/>
                          </a:solidFill>
                          <a:effectLst/>
                          <a:latin typeface="Google Sans Text"/>
                        </a:rPr>
                        <a:t>Difference Unknown</a:t>
                      </a:r>
                    </a:p>
                  </a:txBody>
                  <a:tcPr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74258719"/>
                  </a:ext>
                </a:extLst>
              </a:tr>
              <a:tr h="0">
                <a:tc>
                  <a:txBody>
                    <a:bodyPr/>
                    <a:lstStyle/>
                    <a:p>
                      <a:pPr rtl="0">
                        <a:buNone/>
                      </a:pPr>
                      <a:r>
                        <a:rPr lang="en-US" b="1" dirty="0">
                          <a:solidFill>
                            <a:srgbClr val="1F1F1F"/>
                          </a:solidFill>
                          <a:effectLst/>
                          <a:latin typeface="Google Sans Text"/>
                        </a:rPr>
                        <a:t>Round 2</a:t>
                      </a:r>
                      <a:endParaRPr lang="en-US" dirty="0">
                        <a:solidFill>
                          <a:srgbClr val="1F1F1F"/>
                        </a:solidFill>
                        <a:effectLst/>
                        <a:latin typeface="Google Sans Text"/>
                      </a:endParaRP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Change Unknown</a:t>
                      </a: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dirty="0">
                          <a:solidFill>
                            <a:srgbClr val="1F1F1F"/>
                          </a:solidFill>
                          <a:effectLst/>
                          <a:latin typeface="Google Sans Text"/>
                        </a:rPr>
                        <a:t>Part Unknown</a:t>
                      </a: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dirty="0">
                          <a:solidFill>
                            <a:srgbClr val="1F1F1F"/>
                          </a:solidFill>
                          <a:effectLst/>
                          <a:latin typeface="Google Sans Text"/>
                        </a:rPr>
                        <a:t>Compared Quantity Unknown</a:t>
                      </a:r>
                    </a:p>
                  </a:txBody>
                  <a:tcPr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73868395"/>
                  </a:ext>
                </a:extLst>
              </a:tr>
              <a:tr h="0">
                <a:tc>
                  <a:txBody>
                    <a:bodyPr/>
                    <a:lstStyle/>
                    <a:p>
                      <a:pPr rtl="0">
                        <a:buNone/>
                      </a:pPr>
                      <a:r>
                        <a:rPr lang="en-US" b="1" dirty="0">
                          <a:solidFill>
                            <a:srgbClr val="1F1F1F"/>
                          </a:solidFill>
                          <a:effectLst/>
                          <a:latin typeface="Google Sans Text"/>
                        </a:rPr>
                        <a:t>Round 3</a:t>
                      </a:r>
                      <a:endParaRPr lang="en-US" dirty="0">
                        <a:solidFill>
                          <a:srgbClr val="1F1F1F"/>
                        </a:solidFill>
                        <a:effectLst/>
                        <a:latin typeface="Google Sans Text"/>
                      </a:endParaRP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Start Unknown</a:t>
                      </a: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 xml:space="preserve">Part Unknown </a:t>
                      </a:r>
                      <a:r>
                        <a:rPr lang="en-US" i="1">
                          <a:solidFill>
                            <a:srgbClr val="1F1F1F"/>
                          </a:solidFill>
                          <a:effectLst/>
                          <a:latin typeface="Google Sans Text"/>
                        </a:rPr>
                        <a:t>(Repeat)</a:t>
                      </a:r>
                      <a:endParaRPr lang="en-US">
                        <a:solidFill>
                          <a:srgbClr val="1F1F1F"/>
                        </a:solidFill>
                        <a:effectLst/>
                        <a:latin typeface="Google Sans Text"/>
                      </a:endParaRP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dirty="0">
                          <a:solidFill>
                            <a:srgbClr val="1F1F1F"/>
                          </a:solidFill>
                          <a:effectLst/>
                          <a:latin typeface="Google Sans Text"/>
                        </a:rPr>
                        <a:t>Referent Unknown</a:t>
                      </a:r>
                    </a:p>
                  </a:txBody>
                  <a:tcPr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81155481"/>
                  </a:ext>
                </a:extLst>
              </a:tr>
              <a:tr h="0">
                <a:tc>
                  <a:txBody>
                    <a:bodyPr/>
                    <a:lstStyle/>
                    <a:p>
                      <a:pPr rtl="0">
                        <a:buNone/>
                      </a:pPr>
                      <a:r>
                        <a:rPr lang="en-US" b="1" dirty="0">
                          <a:solidFill>
                            <a:srgbClr val="1F1F1F"/>
                          </a:solidFill>
                          <a:effectLst/>
                          <a:latin typeface="Google Sans Text"/>
                        </a:rPr>
                        <a:t>Round 4</a:t>
                      </a:r>
                      <a:endParaRPr lang="en-US" dirty="0">
                        <a:solidFill>
                          <a:srgbClr val="1F1F1F"/>
                        </a:solidFill>
                        <a:effectLst/>
                        <a:latin typeface="Google Sans Text"/>
                      </a:endParaRP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Free Choice</a:t>
                      </a: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Free Choice</a:t>
                      </a: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dirty="0">
                          <a:solidFill>
                            <a:srgbClr val="1F1F1F"/>
                          </a:solidFill>
                          <a:effectLst/>
                          <a:latin typeface="Google Sans Text"/>
                        </a:rPr>
                        <a:t>Free Choice</a:t>
                      </a:r>
                    </a:p>
                  </a:txBody>
                  <a:tcPr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55954200"/>
                  </a:ext>
                </a:extLst>
              </a:tr>
            </a:tbl>
          </a:graphicData>
        </a:graphic>
      </p:graphicFrame>
      <p:sp>
        <p:nvSpPr>
          <p:cNvPr id="5" name="Rectangle 4">
            <a:extLst>
              <a:ext uri="{FF2B5EF4-FFF2-40B4-BE49-F238E27FC236}">
                <a16:creationId xmlns:a16="http://schemas.microsoft.com/office/drawing/2014/main" id="{E1D38EE4-0ED0-C38A-4B57-3C5998EF070D}"/>
              </a:ext>
            </a:extLst>
          </p:cNvPr>
          <p:cNvSpPr/>
          <p:nvPr/>
        </p:nvSpPr>
        <p:spPr>
          <a:xfrm>
            <a:off x="1069848" y="3262184"/>
            <a:ext cx="9902952" cy="5066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6BBB216-0E3C-A88C-96A0-CBEABB90E91E}"/>
              </a:ext>
            </a:extLst>
          </p:cNvPr>
          <p:cNvSpPr/>
          <p:nvPr/>
        </p:nvSpPr>
        <p:spPr>
          <a:xfrm>
            <a:off x="1063626" y="3893236"/>
            <a:ext cx="9902952" cy="506627"/>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877BAB2-B963-2907-CFCA-EFE077045E04}"/>
              </a:ext>
            </a:extLst>
          </p:cNvPr>
          <p:cNvSpPr/>
          <p:nvPr/>
        </p:nvSpPr>
        <p:spPr>
          <a:xfrm>
            <a:off x="1063626" y="4593830"/>
            <a:ext cx="9902952" cy="506627"/>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0852244-3842-519E-F4F7-09845E42AABC}"/>
              </a:ext>
            </a:extLst>
          </p:cNvPr>
          <p:cNvSpPr/>
          <p:nvPr/>
        </p:nvSpPr>
        <p:spPr>
          <a:xfrm>
            <a:off x="1063626" y="5246585"/>
            <a:ext cx="9902952" cy="506627"/>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24079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0" nodeType="clickEffect">
                                  <p:stCondLst>
                                    <p:cond delay="0"/>
                                  </p:stCondLst>
                                  <p:childTnLst>
                                    <p:animEffect transition="out" filter="blinds(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grpId="0" nodeType="clickEffect">
                                  <p:stCondLst>
                                    <p:cond delay="0"/>
                                  </p:stCondLst>
                                  <p:childTnLst>
                                    <p:animEffect transition="out" filter="blinds(horizontal)">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0" nodeType="clickEffect">
                                  <p:stCondLst>
                                    <p:cond delay="0"/>
                                  </p:stCondLst>
                                  <p:childTnLst>
                                    <p:animEffect transition="out" filter="blinds(horizontal)">
                                      <p:cBhvr>
                                        <p:cTn id="21" dur="500"/>
                                        <p:tgtEl>
                                          <p:spTgt spid="8"/>
                                        </p:tgtEl>
                                      </p:cBhvr>
                                    </p:animEffect>
                                    <p:set>
                                      <p:cBhvr>
                                        <p:cTn id="22"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11FF8-8E61-4E4A-AD95-28B4DBECC3A0}"/>
              </a:ext>
            </a:extLst>
          </p:cNvPr>
          <p:cNvSpPr>
            <a:spLocks noGrp="1"/>
          </p:cNvSpPr>
          <p:nvPr>
            <p:ph type="title"/>
          </p:nvPr>
        </p:nvSpPr>
        <p:spPr/>
        <p:txBody>
          <a:bodyPr/>
          <a:lstStyle/>
          <a:p>
            <a:r>
              <a:rPr lang="en-US" dirty="0"/>
              <a:t xml:space="preserve">Summary: What Matters for Teaching? </a:t>
            </a:r>
          </a:p>
        </p:txBody>
      </p:sp>
      <p:sp>
        <p:nvSpPr>
          <p:cNvPr id="3" name="Content Placeholder 2">
            <a:extLst>
              <a:ext uri="{FF2B5EF4-FFF2-40B4-BE49-F238E27FC236}">
                <a16:creationId xmlns:a16="http://schemas.microsoft.com/office/drawing/2014/main" id="{10D27918-45CE-9D45-9596-C5CFE2556FFF}"/>
              </a:ext>
            </a:extLst>
          </p:cNvPr>
          <p:cNvSpPr>
            <a:spLocks noGrp="1"/>
          </p:cNvSpPr>
          <p:nvPr>
            <p:ph idx="1"/>
          </p:nvPr>
        </p:nvSpPr>
        <p:spPr/>
        <p:txBody>
          <a:bodyPr/>
          <a:lstStyle/>
          <a:p>
            <a:r>
              <a:rPr lang="en-US" dirty="0"/>
              <a:t>Story Problems and Context Problems</a:t>
            </a:r>
          </a:p>
          <a:p>
            <a:r>
              <a:rPr lang="en-US" dirty="0"/>
              <a:t>Planning for multiple ways to represent thinking</a:t>
            </a:r>
          </a:p>
          <a:p>
            <a:r>
              <a:rPr lang="en-US" dirty="0"/>
              <a:t>Offering a variety of problem types</a:t>
            </a:r>
          </a:p>
          <a:p>
            <a:r>
              <a:rPr lang="en-US" dirty="0"/>
              <a:t xml:space="preserve">Considering different number choices (e.g., some students might work with the numbers 8, 4, and 12; others might be ready to work with the numbers 42, 30, and 72; and still others might be ready to work with the numbers 28, 37, and 65) </a:t>
            </a:r>
          </a:p>
          <a:p>
            <a:endParaRPr lang="en-US" dirty="0"/>
          </a:p>
        </p:txBody>
      </p:sp>
    </p:spTree>
    <p:extLst>
      <p:ext uri="{BB962C8B-B14F-4D97-AF65-F5344CB8AC3E}">
        <p14:creationId xmlns:p14="http://schemas.microsoft.com/office/powerpoint/2010/main" val="1529229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6886B-9E9A-4E0B-B4A8-BE4C31B00E67}"/>
              </a:ext>
            </a:extLst>
          </p:cNvPr>
          <p:cNvSpPr>
            <a:spLocks noGrp="1"/>
          </p:cNvSpPr>
          <p:nvPr>
            <p:ph type="title"/>
          </p:nvPr>
        </p:nvSpPr>
        <p:spPr/>
        <p:txBody>
          <a:bodyPr/>
          <a:lstStyle/>
          <a:p>
            <a:r>
              <a:rPr lang="en-US" dirty="0"/>
              <a:t>Until We Meet Again</a:t>
            </a:r>
          </a:p>
        </p:txBody>
      </p:sp>
      <p:sp>
        <p:nvSpPr>
          <p:cNvPr id="3" name="Content Placeholder 2">
            <a:extLst>
              <a:ext uri="{FF2B5EF4-FFF2-40B4-BE49-F238E27FC236}">
                <a16:creationId xmlns:a16="http://schemas.microsoft.com/office/drawing/2014/main" id="{F0D26E64-D72E-4FFE-AAC6-7A90DAD69246}"/>
              </a:ext>
            </a:extLst>
          </p:cNvPr>
          <p:cNvSpPr>
            <a:spLocks noGrp="1"/>
          </p:cNvSpPr>
          <p:nvPr>
            <p:ph idx="1"/>
          </p:nvPr>
        </p:nvSpPr>
        <p:spPr/>
        <p:txBody>
          <a:bodyPr/>
          <a:lstStyle/>
          <a:p>
            <a:r>
              <a:rPr lang="en-US" dirty="0"/>
              <a:t>Lesson 1 revised version due tonight – have fun teaching tomorrow!!!!!!</a:t>
            </a:r>
          </a:p>
          <a:p>
            <a:r>
              <a:rPr lang="en-US" dirty="0"/>
              <a:t>Week 9 Check-In, due Thu.</a:t>
            </a:r>
          </a:p>
          <a:p>
            <a:r>
              <a:rPr lang="en-US" dirty="0"/>
              <a:t>Lesson 1 transcripts due Sun.</a:t>
            </a:r>
          </a:p>
          <a:p>
            <a:r>
              <a:rPr lang="en-US" dirty="0"/>
              <a:t xml:space="preserve">Van de </a:t>
            </a:r>
            <a:r>
              <a:rPr lang="en-US" dirty="0" err="1"/>
              <a:t>Walle</a:t>
            </a:r>
            <a:r>
              <a:rPr lang="en-US" dirty="0"/>
              <a:t xml:space="preserve"> et al. reading</a:t>
            </a:r>
          </a:p>
          <a:p>
            <a:r>
              <a:rPr lang="en-US" dirty="0"/>
              <a:t>Reminder: If you are teaching this week, have someone video record your lesson so you can do the Lesson Analysis assignment!</a:t>
            </a:r>
          </a:p>
        </p:txBody>
      </p:sp>
    </p:spTree>
    <p:extLst>
      <p:ext uri="{BB962C8B-B14F-4D97-AF65-F5344CB8AC3E}">
        <p14:creationId xmlns:p14="http://schemas.microsoft.com/office/powerpoint/2010/main" val="3442991199"/>
      </p:ext>
    </p:extLst>
  </p:cSld>
  <p:clrMapOvr>
    <a:masterClrMapping/>
  </p:clrMapOvr>
</p:sld>
</file>

<file path=ppt/theme/_rels/theme1.xml.rels><?xml version="1.0" encoding="UTF-8"?><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17740</TotalTime>
  <Words>1196</Words>
  <Application>Microsoft Macintosh PowerPoint</Application>
  <PresentationFormat>Widescreen</PresentationFormat>
  <Paragraphs>103</Paragraphs>
  <Slides>12</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Calibri</vt:lpstr>
      <vt:lpstr>Google Sans Text</vt:lpstr>
      <vt:lpstr>Rockwell</vt:lpstr>
      <vt:lpstr>Rockwell Condensed</vt:lpstr>
      <vt:lpstr>Rockwell Extra Bold</vt:lpstr>
      <vt:lpstr>Wingdings</vt:lpstr>
      <vt:lpstr>Wood Type</vt:lpstr>
      <vt:lpstr>E343: Week 9</vt:lpstr>
      <vt:lpstr>Agenda</vt:lpstr>
      <vt:lpstr>Where are we in Standards?</vt:lpstr>
      <vt:lpstr>Why do we Care About Problem Types?</vt:lpstr>
      <vt:lpstr>Four Types of Problems</vt:lpstr>
      <vt:lpstr>Different Parts of a Problem Can be Unknown</vt:lpstr>
      <vt:lpstr>Get Into Small Groups</vt:lpstr>
      <vt:lpstr>PowerPoint Presentation</vt:lpstr>
      <vt:lpstr>Activity Instructions</vt:lpstr>
      <vt:lpstr>Rounds</vt:lpstr>
      <vt:lpstr>Summary: What Matters for Teaching? </vt:lpstr>
      <vt:lpstr>Until We Meet Again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E343: Week 9</dc:title>
  <dc:creator>Tillema, Erik</dc:creator>
  <cp:lastModifiedBy>Savich, Theodore M.</cp:lastModifiedBy>
  <cp:revision>35</cp:revision>
  <cp:lastPrinted>2022-03-21T12:44:25Z</cp:lastPrinted>
  <dcterms:created xsi:type="dcterms:W3CDTF">2020-03-10T15:01:54Z</dcterms:created>
  <dcterms:modified xsi:type="dcterms:W3CDTF">2026-03-11T13:27:57Z</dcterms:modified>
</cp:coreProperties>
</file>