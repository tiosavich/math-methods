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360" r:id="rId2"/>
    <p:sldId id="361" r:id="rId3"/>
    <p:sldId id="435" r:id="rId4"/>
    <p:sldId id="370" r:id="rId5"/>
    <p:sldId id="365" r:id="rId6"/>
    <p:sldId id="433" r:id="rId7"/>
    <p:sldId id="366" r:id="rId8"/>
    <p:sldId id="367" r:id="rId9"/>
    <p:sldId id="368" r:id="rId10"/>
    <p:sldId id="341" r:id="rId11"/>
    <p:sldId id="436" r:id="rId12"/>
    <p:sldId id="437" r:id="rId13"/>
    <p:sldId id="3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1"/>
    <p:restoredTop sz="78112" autoAdjust="0"/>
  </p:normalViewPr>
  <p:slideViewPr>
    <p:cSldViewPr snapToGrid="0" snapToObjects="1">
      <p:cViewPr varScale="1">
        <p:scale>
          <a:sx n="98" d="100"/>
          <a:sy n="98" d="100"/>
        </p:scale>
        <p:origin x="1600" y="1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0" Type="http://schemas.openxmlformats.org/officeDocument/2006/relationships/notesSlide" Target="notesSlides/notesSlide1.xml"/><Relationship Id="rId21" Type="http://schemas.openxmlformats.org/officeDocument/2006/relationships/notesSlide" Target="notesSlides/notesSlide2.xml"/><Relationship Id="rId22" Type="http://schemas.openxmlformats.org/officeDocument/2006/relationships/notesSlide" Target="notesSlides/notesSlide3.xml"/><Relationship Id="rId23" Type="http://schemas.openxmlformats.org/officeDocument/2006/relationships/notesSlide" Target="notesSlides/notesSlide4.xml"/><Relationship Id="rId24" Type="http://schemas.openxmlformats.org/officeDocument/2006/relationships/notesSlide" Target="notesSlides/notesSlide5.xml"/><Relationship Id="rId25" Type="http://schemas.openxmlformats.org/officeDocument/2006/relationships/notesSlide" Target="notesSlides/notesSlide6.xml"/><Relationship Id="rId26" Type="http://schemas.openxmlformats.org/officeDocument/2006/relationships/notesSlide" Target="notesSlides/notesSlide7.xml"/><Relationship Id="rId27" Type="http://schemas.openxmlformats.org/officeDocument/2006/relationships/notesSlide" Target="notesSlides/notesSlide8.xml"/><Relationship Id="rId28" Type="http://schemas.openxmlformats.org/officeDocument/2006/relationships/notesSlide" Target="notesSlides/notesSlide9.xml"/><Relationship Id="rId29" Type="http://schemas.openxmlformats.org/officeDocument/2006/relationships/notesSlide" Target="notesSlides/notesSlide10.xml"/><Relationship Id="rId30" Type="http://schemas.openxmlformats.org/officeDocument/2006/relationships/notesSlide" Target="notesSlides/notesSlide11.xml"/><Relationship Id="rId31" Type="http://schemas.openxmlformats.org/officeDocument/2006/relationships/notesSlide" Target="notesSlides/notesSlide12.xml"/><Relationship Id="rId32" Type="http://schemas.openxmlformats.org/officeDocument/2006/relationships/notesSlide" Target="notesSlides/not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E3E0E-5307-4078-8BF3-F7484A58D610}" type="datetimeFigureOut">
              <a:rPr lang="en-US" smtClean="0"/>
              <a:t>11/12/25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361D7-EEA1-4B68-95F1-94CD22C478E0}" type="slidenum">
              <a:rPr lang="en-US" smtClean="0"/>
              <a:t>‹#›</a:t>
            </a:fld>
            <a:endParaRPr lang="en-US"/>
          </a:p>
        </p:txBody>
      </p:sp>
    </p:spTree>
    <p:extLst>
      <p:ext uri="{BB962C8B-B14F-4D97-AF65-F5344CB8AC3E}">
        <p14:creationId xmlns:p14="http://schemas.microsoft.com/office/powerpoint/2010/main" val="1636792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a:extLst>
            <a:ext uri="{FF2B5EF4-FFF2-40B4-BE49-F238E27FC236}">
              <a16:creationId xmlns:a16="http://schemas.microsoft.com/office/drawing/2014/main" id="{AFCE9B02-0A4C-6856-1A57-3F77AF9A3AFB}"/>
            </a:ext>
          </a:extLst>
        </p:cNvPr>
        <p:cNvGrpSpPr/>
        <p:nvPr/>
      </p:nvGrpSpPr>
      <p:grpSpPr>
        <a:xfrm>
          <a:off x="0" y="0"/>
          <a:ext cx="0" cy="0"/>
          <a:chOff x="0" y="0"/>
          <a:chExt cx="0" cy="0"/>
        </a:xfrm>
      </p:grpSpPr>
      <p:sp>
        <p:nvSpPr>
          <p:cNvPr id="414" name="Google Shape;414;p4:notes">
            <a:extLst>
              <a:ext uri="{FF2B5EF4-FFF2-40B4-BE49-F238E27FC236}">
                <a16:creationId xmlns:a16="http://schemas.microsoft.com/office/drawing/2014/main" id="{9B4FFF32-DCC1-F55C-6072-BF139802DBBC}"/>
              </a:ext>
            </a:extLst>
          </p:cNvPr>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b="1"/>
              <a:t>Welcome &amp; Opening Remarks</a:t>
            </a:r>
          </a:p>
          <a:p>
            <a:pPr marL="0" lvl="0" indent="0" algn="l" rtl="0">
              <a:spcBef>
                <a:spcPts val="0"/>
              </a:spcBef>
              <a:spcAft>
                <a:spcPts val="100"/>
              </a:spcAft>
              <a:buNone/>
            </a:pPr>
            <a:r>
              <a:rPr lang="en-US" dirty="0"/>
              <a:t>Welcome students to Week 12, Day 2 of the semester. This is an exciting day where we deepen our understanding of multiplication algorithms and begin our exploration of division. Today we’re building on everything we covered Monday about large multiplication, moving from concrete manipulatives through semi-concrete models to the abstract standard algorithm. In the second half of class, we’ll introduce large division, emphasizing the two conceptual types: sharing and measurement division.</a:t>
            </a:r>
          </a:p>
          <a:p>
            <a:pPr marL="0" lvl="0" indent="0" algn="l" rtl="0">
              <a:spcBef>
                <a:spcPts val="0"/>
              </a:spcBef>
              <a:spcAft>
                <a:spcPts val="0"/>
              </a:spcAft>
              <a:buNone/>
            </a:pPr>
            <a:endParaRPr dirty="0"/>
          </a:p>
        </p:txBody>
      </p:sp>
      <p:sp>
        <p:nvSpPr>
          <p:cNvPr id="415" name="Google Shape;415;p4:notes">
            <a:extLst>
              <a:ext uri="{FF2B5EF4-FFF2-40B4-BE49-F238E27FC236}">
                <a16:creationId xmlns:a16="http://schemas.microsoft.com/office/drawing/2014/main" id="{2520FD62-51D4-2A0F-C31B-FD03CB4A04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2059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100"/>
              </a:spcAft>
              <a:buNone/>
            </a:pPr>
            <a:r>
              <a:rPr lang="en-US" dirty="0" b="1"/>
              <a:t>Agenda Overview (2-3 minutes)</a:t>
            </a:r>
          </a:p>
          <a:p>
            <a:pPr marL="0" lvl="0" indent="0" algn="l" rtl="0">
              <a:spcBef>
                <a:spcPts val="0"/>
              </a:spcBef>
              <a:spcAft>
                <a:spcPts val="50"/>
              </a:spcAft>
              <a:buNone/>
            </a:pPr>
            <a:r>
              <a:rPr lang="en-US" dirty="0" b="1"/>
              <a:t>Three Main Parts:</a:t>
            </a:r>
          </a:p>
          <a:p>
            <a:pPr marL="0" lvl="0" indent="0" algn="l" rtl="0">
              <a:spcBef>
                <a:spcPts val="0"/>
              </a:spcBef>
              <a:spcAft>
                <a:spcPts val="50"/>
              </a:spcAft>
              <a:buNone/>
            </a:pPr>
            <a:r>
              <a:rPr lang="en-US" dirty="0"/>
              <a:t>1. Warm-up activity (5 min) – Counting by 60s and connecting to 30 × 60 (foundational number sense)</a:t>
            </a:r>
          </a:p>
          <a:p>
            <a:pPr marL="0" lvl="0" indent="0" algn="l" rtl="0">
              <a:spcBef>
                <a:spcPts val="0"/>
              </a:spcBef>
              <a:spcAft>
                <a:spcPts val="50"/>
              </a:spcAft>
              <a:buNone/>
            </a:pPr>
            <a:r>
              <a:rPr lang="en-US" dirty="0"/>
              <a:t>2. Continuing multiplication work (main focus, ~30 min) – Unpacking the algorithm through models</a:t>
            </a:r>
          </a:p>
          <a:p>
            <a:pPr marL="0" lvl="0" indent="0" algn="l" rtl="0">
              <a:spcBef>
                <a:spcPts val="0"/>
              </a:spcBef>
              <a:spcAft>
                <a:spcPts val="50"/>
              </a:spcAft>
              <a:buNone/>
            </a:pPr>
            <a:r>
              <a:rPr lang="en-US" dirty="0"/>
              <a:t>3. Introduction to large division (~15 min) – Distinguish sharing vs. measurement division</a:t>
            </a:r>
          </a:p>
          <a:p>
            <a:pPr marL="0" lvl="0" indent="0" algn="l" rtl="0">
              <a:spcBef>
                <a:spcPts val="0"/>
              </a:spcBef>
              <a:spcAft>
                <a:spcPts val="0"/>
              </a:spcAft>
              <a:buNone/>
            </a:pPr>
            <a:endParaRPr dirty="0"/>
          </a:p>
        </p:txBody>
      </p:sp>
      <p:sp>
        <p:nvSpPr>
          <p:cNvPr id="415" name="Google Shape;4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2285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100"/>
              </a:spcAft>
              <a:buNone/>
            </a:pPr>
            <a:r>
              <a:rPr lang="en-US" dirty="0" b="1"/>
              <a:t>Warm-Up with Partners (5 minutes)</a:t>
            </a:r>
          </a:p>
          <a:p>
            <a:pPr marL="0" lvl="0" indent="0" algn="l" rtl="0">
              <a:spcBef>
                <a:spcPts val="0"/>
              </a:spcBef>
              <a:spcAft>
                <a:spcPts val="50"/>
              </a:spcAft>
              <a:buNone/>
            </a:pPr>
            <a:r>
              <a:rPr lang="en-US" dirty="0" b="1"/>
              <a:t>Purpose:</a:t>
            </a:r>
          </a:p>
          <a:p>
            <a:pPr marL="0" lvl="0" indent="0" algn="l" rtl="0">
              <a:spcBef>
                <a:spcPts val="0"/>
              </a:spcBef>
              <a:spcAft>
                <a:spcPts val="50"/>
              </a:spcAft>
              <a:buNone/>
            </a:pPr>
            <a:r>
              <a:rPr lang="en-US" dirty="0"/>
              <a:t>Activate students’ skip-counting skills and help them see the connection between repeated addition (10 × 60) and multiplication. This also preps them to think about the “bundling” concept central to multiplication algorithms.</a:t>
            </a:r>
          </a:p>
          <a:p>
            <a:pPr marL="0" lvl="0" indent="0" algn="l" rtl="0">
              <a:spcBef>
                <a:spcPts val="0"/>
              </a:spcBef>
              <a:spcAft>
                <a:spcPts val="50"/>
              </a:spcAft>
              <a:buNone/>
            </a:pPr>
            <a:r>
              <a:rPr lang="en-US" dirty="0" b="1"/>
              <a:t>Facilitation Tips:</a:t>
            </a:r>
          </a:p>
          <a:p>
            <a:pPr marL="0" lvl="0" indent="0" algn="l" rtl="0">
              <a:spcBef>
                <a:spcPts val="0"/>
              </a:spcBef>
              <a:spcAft>
                <a:spcPts val="30"/>
              </a:spcAft>
              <a:buNone/>
            </a:pPr>
            <a:r>
              <a:rPr lang="en-US" dirty="0"/>
              <a:t>- Encourage one partner to count while the other records: 60, 120, 180, 240, 300, 360, 420, 480, 540, 600</a:t>
            </a:r>
          </a:p>
          <a:p>
            <a:pPr marL="0" lvl="0" indent="0" algn="l" rtl="0">
              <a:spcBef>
                <a:spcPts val="0"/>
              </a:spcBef>
              <a:spcAft>
                <a:spcPts val="30"/>
              </a:spcAft>
              <a:buNone/>
            </a:pPr>
            <a:r>
              <a:rPr lang="en-US" dirty="0"/>
              <a:t>- Have them switch roles and verify they get the same answer (600)</a:t>
            </a:r>
          </a:p>
          <a:p>
            <a:pPr marL="0" lvl="0" indent="0" algn="l" rtl="0">
              <a:spcBef>
                <a:spcPts val="0"/>
              </a:spcBef>
              <a:spcAft>
                <a:spcPts val="30"/>
              </a:spcAft>
              <a:buNone/>
            </a:pPr>
            <a:r>
              <a:rPr lang="en-US" dirty="0"/>
              <a:t>- For the extension (30 × 60), guide them: “We know 10 × 60 = 600. What if we have 30 groups of 60? How can we use our answer?” (Answer: 3 × 600 = 1800)</a:t>
            </a:r>
          </a:p>
          <a:p>
            <a:pPr marL="0" lvl="0" indent="0" algn="l" rtl="0">
              <a:spcBef>
                <a:spcPts val="0"/>
              </a:spcBef>
              <a:spcAft>
                <a:spcPts val="0"/>
              </a:spcAft>
              <a:buNone/>
            </a:pPr>
            <a:endParaRPr dirty="0"/>
          </a:p>
        </p:txBody>
      </p:sp>
      <p:sp>
        <p:nvSpPr>
          <p:cNvPr id="415" name="Google Shape;4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7944572"/>
      </p:ext>
    </p:extLst>
  </p:cSld>
  <p:clrMapOvr>
    <a:masterClrMapping/>
  </p:clrMapOvr>
</p:notes>
</file>

<file path=ppt/notesSlides/notesSlide4.xml><?xml version="1.0" encoding="utf-8"?>
<ns0:notes xmlns:ns0="http://schemas.openxmlformats.org/presentationml/2006/main" xmlns:ns1="http://schemas.openxmlformats.org/drawingml/2006/main" xmlns:ns2="http://schemas.microsoft.com/office/drawing/2014/main" xmlns:ns3="http://schemas.microsoft.com/office/powerpoint/2010/main" showMasterSp="0" showMasterPhAnim="0">
  <ns0:cSld>
    <ns0:spTree>
      <ns0:nvGrpSpPr>
        <ns0:cNvPr id="1" name="Shape 413">
          <ns1:extLst>
            <ns1:ext uri="{FF2B5EF4-FFF2-40B4-BE49-F238E27FC236}">
              <ns2:creationId id="{772AB2B8-7C6E-0D41-1F76-4559EE14867A}"/>
            </ns1:ext>
          </ns1:extLst>
        </ns0:cNvPr>
        <ns0:cNvGrpSpPr/>
        <ns0:nvPr/>
      </ns0:nvGrpSpPr>
      <ns0:grpSpPr>
        <ns1:xfrm>
          <ns1:off x="0" y="0"/>
          <ns1:ext cx="0" cy="0"/>
          <ns1:chOff x="0" y="0"/>
          <ns1:chExt cx="0" cy="0"/>
        </ns1:xfrm>
      </ns0:grpSpPr>
      <ns0:sp>
        <ns0:nvSpPr>
          <ns0:cNvPr id="414" name="Google Shape;414;p4:notes">
            <ns1:extLst>
              <ns1:ext uri="{FF2B5EF4-FFF2-40B4-BE49-F238E27FC236}">
                <ns2:creationId id="{3451FC8B-F6AB-D233-4398-669466229FD7}"/>
              </ns1:ext>
            </ns1:extLst>
          </ns0:cNvPr>
          <ns0:cNvSpPr txBox="1">
            <ns1:spLocks noGrp="1"/>
          </ns0:cNvSpPr>
          <ns0:nvPr>
            <ns0:ph type="body" idx="1"/>
          </ns0:nvPr>
        </ns0:nvSpPr>
        <ns0:spPr>
          <ns1:xfrm>
            <ns1:off x="685800" y="4343400"/>
            <ns1:ext cx="5486399" cy="4114800"/>
          </ns1:xfrm>
          <ns1:prstGeom prst="rect">
            <ns1:avLst/>
          </ns1:prstGeom>
        </ns0:spPr>
        <ns0:txBody>
          <ns1:bodyPr spcFirstLastPara="1" wrap="square" lIns="91425" tIns="91425" rIns="91425" bIns="91425" anchor="t" anchorCtr="0">
            <ns1:noAutofit/>
          </ns1:bodyPr>
          <ns1:lstStyle/>
          <ns1:p>
            <ns1:pPr marL="0" lvl="0" indent="0" algn="l" rtl="0">
              <ns1:spcBef>
                <ns1:spcPts val="0"/>
              </ns1:spcBef>
              <ns1:spcAft>
                <ns1:spcPts val="0"/>
              </ns1:spcAft>
              <ns1:buNone/>
            </ns1:pPr>
            <ns1:endParaRPr/>
          </ns1:p>
          <ns1:p>
            <ns1:pPr marL="0" lvl="0" indent="0" algn="l" rtl="0">
              <ns1:spcBef>
                <ns1:spcPts val="0"/>
              </ns1:spcBef>
              <ns1:spcAft>
                <ns1:spcPts val="50"/>
              </ns1:spcAft>
              <ns1:buNone/>
            </ns1:pPr>
            <ns1:r>
              <ns1:rPr lang="en-US" dirty="0"/>
              <ns1:t>Number Strings/Cluster Problems Strategy (10 minutes)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Purpose:</ns1:t>
            </ns1:r>
          </ns1:p>
          <ns1:p>
            <ns1:pPr marL="0" lvl="0" indent="0" algn="l" rtl="0">
              <ns1:spcBef>
                <ns1:spcPts val="0"/>
              </ns1:spcBef>
              <ns1:spcAft>
                <ns1:spcPts val="50"/>
              </ns1:spcAft>
              <ns1:buNone/>
            </ns1:pPr>
            <ns1:r>
              <ns1:rPr lang="en-US" dirty="0"/>
              <ns1:t>Build computational fluency by leveraging known facts and numerical relationships. Rather than always using the standard algorithm, students learn multiple paths to products using decomposition and partial products (aligned with Van de Walle Chapter 13: Multiplication &amp; Division Computation).</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Key Teaching Points:</ns1:t>
            </ns1:r>
          </ns1:p>
          <ns1:p>
            <ns1:pPr marL="0" lvl="0" indent="0" algn="l" rtl="0">
              <ns1:spcBef>
                <ns1:spcPts val="0"/>
              </ns1:spcBef>
              <ns1:spcAft>
                <ns1:spcPts val="50"/>
              </ns1:spcAft>
              <ns1:buNone/>
            </ns1:pPr>
            <ns1:r>
              <ns1:rPr lang="en-US" dirty="0"/>
              <ns1:t>- For 34 × 50: Students might think "30 × 50 = 1500, then 4 × 50 = 200, so total is 1700"</ns1:t>
            </ns1:r>
          </ns1:p>
          <ns1:p>
            <ns1:pPr marL="0" lvl="0" indent="0" algn="l" rtl="0">
              <ns1:spcBef>
                <ns1:spcPts val="0"/>
              </ns1:spcBef>
              <ns1:spcAft>
                <ns1:spcPts val="50"/>
              </ns1:spcAft>
              <ns1:buNone/>
            </ns1:pPr>
            <ns1:r>
              <ns1:rPr lang="en-US" dirty="0"/>
              <ns1:t>- For 86 × 42: Break it into parts students can handle mentally or with simple calculations</ns1:t>
            </ns1:r>
          </ns1:p>
          <ns1:p>
            <ns1:pPr marL="0" lvl="0" indent="0" algn="l" rtl="0">
              <ns1:spcBef>
                <ns1:spcPts val="0"/>
              </ns1:spcBef>
              <ns1:spcAft>
                <ns1:spcPts val="50"/>
              </ns1:spcAft>
              <ns1:buNone/>
            </ns1:pPr>
            <ns1:r>
              <ns1:rPr lang="en-US" dirty="0"/>
              <ns1:t>- This is the "reasoning strategy" before jumping to formal algorithms—it legitimizes flexible thinking</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Facilitation Tips:</ns1:t>
            </ns1:r>
          </ns1:p>
          <ns1:p>
            <ns1:pPr marL="0" lvl="0" indent="0" algn="l" rtl="0">
              <ns1:spcBef>
                <ns1:spcPts val="0"/>
              </ns1:spcBef>
              <ns1:spcAft>
                <ns1:spcPts val="50"/>
              </ns1:spcAft>
              <ns1:buNone/>
            </ns1:pPr>
            <ns1:r>
              <ns1:rPr lang="en-US" dirty="0"/>
              <ns1:t>- Ask students: "What multiplication facts do you already know that could help?"</ns1:t>
            </ns1:r>
          </ns1:p>
          <ns1:p>
            <ns1:pPr marL="0" lvl="0" indent="0" algn="l" rtl="0">
              <ns1:spcBef>
                <ns1:spcPts val="0"/>
              </ns1:spcBef>
              <ns1:spcAft>
                <ns1:spcPts val="50"/>
              </ns1:spcAft>
              <ns1:buNone/>
            </ns1:pPr>
            <ns1:r>
              <ns1:rPr lang="en-US" dirty="0"/>
              <ns1:t>- Write down ALL student strategies on chart paper—no single "right way"</ns1:t>
            </ns1:r>
          </ns1:p>
          <ns1:p>
            <ns1:pPr marL="0" lvl="0" indent="0" algn="l" rtl="0">
              <ns1:spcBef>
                <ns1:spcPts val="0"/>
              </ns1:spcBef>
              <ns1:spcAft>
                <ns1:spcPts val="50"/>
              </ns1:spcAft>
              <ns1:buNone/>
            </ns1:pPr>
            <ns1:r>
              <ns1:rPr lang="en-US" dirty="0"/>
              <ns1:t>- Connect this back to Monday's exploration of area models (sets of partial products)</ns1:t>
            </ns1:r>
          </ns1:p>
          <ns1:p>
            <ns1:pPr marL="0" lvl="0" indent="0" algn="l" rtl="0">
              <ns1:spcBef>
                <ns1:spcPts val="0"/>
              </ns1:spcBef>
              <ns1:spcAft>
                <ns1:spcPts val="50"/>
              </ns1:spcAft>
              <ns1:buNone/>
            </ns1:pPr>
            <ns1:r>
              <ns1:rPr lang="en-US" dirty="0"/>
              <ns1:t>- Emphasize: "We can break big numbers into smaller, easier pieces"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Connection to Broader Curriculum:</ns1:t>
            </ns1:r>
          </ns1:p>
          <ns1:p>
            <ns1:pPr marL="0" lvl="0" indent="0" algn="l" rtl="0">
              <ns1:spcBef>
                <ns1:spcPts val="0"/>
              </ns1:spcBef>
              <ns1:spcAft>
                <ns1:spcPts val="50"/>
              </ns1:spcAft>
              <ns1:buNone/>
            </ns1:pPr>
            <ns1:r>
              <ns1:rPr lang="en-US" dirty="0"/>
              <ns1:t>This cluster approach is a bridge between concrete/semi-concrete representations and the abstract standard algorithm. Students who understand why partial products work are less likely to make procedural errors in the algorithm.</ns1:t>
            </ns1:r>
          </ns1:p>
          <ns1:p>
            <ns1:pPr marL="0" lvl="0" indent="0" algn="l" rtl="0">
              <ns1:spcBef>
                <ns1:spcPts val="0"/>
              </ns1:spcBef>
              <ns1:spcAft>
                <ns1:spcPts val="50"/>
              </ns1:spcAft>
              <ns1:buNone/>
            </ns1:pPr>
            <ns1:r>
              <ns1:rPr lang="en-US" dirty="0"/>
              <ns1:t/>
            </ns1:r>
          </ns1:p>
        </ns0:txBody>
      </ns0:sp>
      <ns0:sp>
        <ns0:nvSpPr>
          <ns0:cNvPr id="415" name="Google Shape;415;p4:notes">
            <ns1:extLst>
              <ns1:ext uri="{FF2B5EF4-FFF2-40B4-BE49-F238E27FC236}">
                <ns2:creationId id="{4124C36C-1D9A-B395-13AD-83F188BC4837}"/>
              </ns1:ext>
            </ns1:extLst>
          </ns0:cNvPr>
          <ns0:cNvSpPr>
            <ns1:spLocks noGrp="1" noRot="1" noChangeAspect="1"/>
          </ns0:cNvSpPr>
          <ns0:nvPr>
            <ns0:ph type="sldImg" idx="2"/>
          </ns0:nvPr>
        </ns0:nvSpPr>
        <ns0:spPr>
          <ns1:xfrm>
            <ns1:off x="381000" y="685800"/>
            <ns1:ext cx="6096000" cy="3429000"/>
          </ns1:xfrm>
          <ns1:custGeom>
            <ns1:avLst/>
            <ns1:gdLst/>
            <ns1:ahLst/>
            <ns1:cxnLst/>
            <ns1:rect l="l" t="t" r="r" b="b"/>
            <ns1:pathLst>
              <ns1:path w="120000" h="120000" extrusionOk="0">
                <ns1:moveTo>
                  <ns1:pt x="0" y="0"/>
                </ns1:moveTo>
                <ns1:lnTo>
                  <ns1:pt x="120000" y="0"/>
                </ns1:lnTo>
                <ns1:lnTo>
                  <ns1:pt x="120000" y="120000"/>
                </ns1:lnTo>
                <ns1:lnTo>
                  <ns1:pt x="0" y="120000"/>
                </ns1:lnTo>
                <ns1:close/>
              </ns1:path>
            </ns1:pathLst>
          </ns1:custGeom>
        </ns0:spPr>
      </ns0:sp>
    </ns0:spTree>
    <ns0:extLst>
      <ns0:ext uri="{BB962C8B-B14F-4D97-AF65-F5344CB8AC3E}">
        <ns3:creationId val="1029405052"/>
      </ns0:ext>
    </ns0:extLst>
  </ns0:cSld>
  <ns0:clrMapOvr>
    <ns1:masterClrMapping/>
  </ns0:clrMapOvr>
</ns0:notes>
</file>

<file path=ppt/notesSlides/notesSlide5.xml><?xml version="1.0" encoding="utf-8"?>
<ns0:notes xmlns:ns0="http://schemas.openxmlformats.org/presentationml/2006/main" xmlns:ns1="http://schemas.openxmlformats.org/drawingml/2006/main" xmlns:ns2="http://schemas.microsoft.com/office/powerpoint/2010/main" showMasterSp="0" showMasterPhAnim="0">
  <ns0:cSld>
    <ns0:spTree>
      <ns0:nvGrpSpPr>
        <ns0:cNvPr id="1" name="Shape 413"/>
        <ns0:cNvGrpSpPr/>
        <ns0:nvPr/>
      </ns0:nvGrpSpPr>
      <ns0:grpSpPr>
        <ns1:xfrm>
          <ns1:off x="0" y="0"/>
          <ns1:ext cx="0" cy="0"/>
          <ns1:chOff x="0" y="0"/>
          <ns1:chExt cx="0" cy="0"/>
        </ns1:xfrm>
      </ns0:grpSpPr>
      <ns0:sp>
        <ns0:nvSpPr>
          <ns0:cNvPr id="414" name="Google Shape;414;p4:notes"/>
          <ns0:cNvSpPr txBox="1">
            <ns1:spLocks noGrp="1"/>
          </ns0:cNvSpPr>
          <ns0:nvPr>
            <ns0:ph type="body" idx="1"/>
          </ns0:nvPr>
        </ns0:nvSpPr>
        <ns0:spPr>
          <ns1:xfrm>
            <ns1:off x="685800" y="4343400"/>
            <ns1:ext cx="5486399" cy="4114800"/>
          </ns1:xfrm>
          <ns1:prstGeom prst="rect">
            <ns1:avLst/>
          </ns1:prstGeom>
        </ns0:spPr>
        <ns0:txBody>
          <ns1:bodyPr spcFirstLastPara="1" wrap="square" lIns="91425" tIns="91425" rIns="91425" bIns="91425" anchor="t" anchorCtr="0">
            <ns1:noAutofit/>
          </ns1:bodyPr>
          <ns1:lstStyle/>
          <ns1:p>
            <ns1:pPr marL="0" lvl="0" indent="0" algn="l" rtl="0">
              <ns1:spcBef>
                <ns1:spcPts val="0"/>
              </ns1:spcBef>
              <ns1:spcAft>
                <ns1:spcPts val="0"/>
              </ns1:spcAft>
              <ns1:buNone/>
            </ns1:pPr>
            <ns1:endParaRPr/>
          </ns1:p>
          <ns1:p>
            <ns1:pPr marL="0" lvl="0" indent="0" algn="l" rtl="0">
              <ns1:spcBef>
                <ns1:spcPts val="0"/>
              </ns1:spcBef>
              <ns1:spcAft>
                <ns1:spcPts val="50"/>
              </ns1:spcAft>
              <ns1:buNone/>
            </ns1:pPr>
            <ns1:r>
              <ns1:rPr lang="en-US" dirty="0"/>
              <ns1:t>Now You Try Activity (5 minutes)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Purpose:</ns1:t>
            </ns1:r>
          </ns1:p>
          <ns1:p>
            <ns1:pPr marL="0" lvl="0" indent="0" algn="l" rtl="0">
              <ns1:spcBef>
                <ns1:spcPts val="0"/>
              </ns1:spcBef>
              <ns1:spcAft>
                <ns1:spcPts val="50"/>
              </ns1:spcAft>
              <ns1:buNone/>
            </ns1:pPr>
            <ns1:r>
              <ns1:rPr lang="en-US" dirty="0"/>
              <ns1:t>Give students a chance to practice the cluster/number string strategy independently or in pairs before moving to the formal algorithm. This is low-stakes practice and formative assessment.</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Activity Setup:</ns1:t>
            </ns1:r>
          </ns1:p>
          <ns1:p>
            <ns1:pPr marL="0" lvl="0" indent="0" algn="l" rtl="0">
              <ns1:spcBef>
                <ns1:spcPts val="0"/>
              </ns1:spcBef>
              <ns1:spcAft>
                <ns1:spcPts val="50"/>
              </ns1:spcAft>
              <ns1:buNone/>
            </ns1:pPr>
            <ns1:r>
              <ns1:rPr lang="en-US" dirty="0"/>
              <ns1:t>- Choose a similar multiplication problem (or similar structure to the examples shown)</ns1:t>
            </ns1:r>
          </ns1:p>
          <ns1:p>
            <ns1:pPr marL="0" lvl="0" indent="0" algn="l" rtl="0">
              <ns1:spcBef>
                <ns1:spcPts val="0"/>
              </ns1:spcBef>
              <ns1:spcAft>
                <ns1:spcPts val="50"/>
              </ns1:spcAft>
              <ns1:buNone/>
            </ns1:pPr>
            <ns1:r>
              <ns1:rPr lang="en-US" dirty="0"/>
              <ns1:t>- Have students work in pairs</ns1:t>
            </ns1:r>
          </ns1:p>
          <ns1:p>
            <ns1:pPr marL="0" lvl="0" indent="0" algn="l" rtl="0">
              <ns1:spcBef>
                <ns1:spcPts val="0"/>
              </ns1:spcBef>
              <ns1:spcAft>
                <ns1:spcPts val="50"/>
              </ns1:spcAft>
              <ns1:buNone/>
            </ns1:pPr>
            <ns1:r>
              <ns1:rPr lang="en-US" dirty="0"/>
              <ns1:t>- Circulate and listen for reasoning: Are they breaking numbers efficiently? Are they correctly adding partial products?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Facilitation Tips:</ns1:t>
            </ns1:r>
          </ns1:p>
          <ns1:p>
            <ns1:pPr marL="0" lvl="0" indent="0" algn="l" rtl="0">
              <ns1:spcBef>
                <ns1:spcPts val="0"/>
              </ns1:spcBef>
              <ns1:spcAft>
                <ns1:spcPts val="50"/>
              </ns1:spcAft>
              <ns1:buNone/>
            </ns1:pPr>
            <ns1:r>
              <ns1:rPr lang="en-US" dirty="0"/>
              <ns1:t>- If a student struggles, ask: "What smaller multiplication problems could you solve first?"</ns1:t>
            </ns1:r>
          </ns1:p>
          <ns1:p>
            <ns1:pPr marL="0" lvl="0" indent="0" algn="l" rtl="0">
              <ns1:spcBef>
                <ns1:spcPts val="0"/>
              </ns1:spcBef>
              <ns1:spcAft>
                <ns1:spcPts val="50"/>
              </ns1:spcAft>
              <ns1:buNone/>
            </ns1:pPr>
            <ns1:r>
              <ns1:rPr lang="en-US" dirty="0"/>
              <ns1:t>- Celebrate diverse strategies: "I like how you broke this into hundreds first!"</ns1:t>
            </ns1:r>
          </ns1:p>
          <ns1:p>
            <ns1:pPr marL="0" lvl="0" indent="0" algn="l" rtl="0">
              <ns1:spcBef>
                <ns1:spcPts val="0"/>
              </ns1:spcBef>
              <ns1:spcAft>
                <ns1:spcPts val="50"/>
              </ns1:spcAft>
              <ns1:buNone/>
            </ns1:pPr>
            <ns1:r>
              <ns1:rPr lang="en-US" dirty="0"/>
              <ns1:t>- Note students who still need support with the transition from concrete to abstract—they'll benefit from continued use of base-ten blocks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Transition Note:</ns1:t>
            </ns1:r>
          </ns1:p>
          <ns1:p>
            <ns1:pPr marL="0" lvl="0" indent="0" algn="l" rtl="0">
              <ns1:spcBef>
                <ns1:spcPts val="0"/>
              </ns1:spcBef>
              <ns1:spcAft>
                <ns1:spcPts val="50"/>
              </ns1:spcAft>
              <ns1:buNone/>
            </ns1:pPr>
            <ns1:r>
              <ns1:rPr lang="en-US" dirty="0"/>
              <ns1:t>Use this activity to gauge readiness. If most students show solid understanding, move confidently into slides 6-8 (standard algorithms with models). If students are hesitant, spend a few more minutes with manipulatives before the abstract algorithm.</ns1:t>
            </ns1:r>
          </ns1:p>
          <ns1:p>
            <ns1:pPr marL="0" lvl="0" indent="0" algn="l" rtl="0">
              <ns1:spcBef>
                <ns1:spcPts val="0"/>
              </ns1:spcBef>
              <ns1:spcAft>
                <ns1:spcPts val="50"/>
              </ns1:spcAft>
              <ns1:buNone/>
            </ns1:pPr>
            <ns1:r>
              <ns1:rPr lang="en-US" dirty="0"/>
              <ns1:t/>
            </ns1:r>
          </ns1:p>
        </ns0:txBody>
      </ns0:sp>
      <ns0:sp>
        <ns0:nvSpPr>
          <ns0:cNvPr id="415" name="Google Shape;415;p4:notes"/>
          <ns0:cNvSpPr>
            <ns1:spLocks noGrp="1" noRot="1" noChangeAspect="1"/>
          </ns0:cNvSpPr>
          <ns0:nvPr>
            <ns0:ph type="sldImg" idx="2"/>
          </ns0:nvPr>
        </ns0:nvSpPr>
        <ns0:spPr>
          <ns1:xfrm>
            <ns1:off x="381000" y="685800"/>
            <ns1:ext cx="6096000" cy="3429000"/>
          </ns1:xfrm>
          <ns1:custGeom>
            <ns1:avLst/>
            <ns1:gdLst/>
            <ns1:ahLst/>
            <ns1:cxnLst/>
            <ns1:rect l="l" t="t" r="r" b="b"/>
            <ns1:pathLst>
              <ns1:path w="120000" h="120000" extrusionOk="0">
                <ns1:moveTo>
                  <ns1:pt x="0" y="0"/>
                </ns1:moveTo>
                <ns1:lnTo>
                  <ns1:pt x="120000" y="0"/>
                </ns1:lnTo>
                <ns1:lnTo>
                  <ns1:pt x="120000" y="120000"/>
                </ns1:lnTo>
                <ns1:lnTo>
                  <ns1:pt x="0" y="120000"/>
                </ns1:lnTo>
                <ns1:close/>
              </ns1:path>
            </ns1:pathLst>
          </ns1:custGeom>
        </ns0:spPr>
      </ns0:sp>
    </ns0:spTree>
    <ns0:extLst>
      <ns0:ext uri="{BB962C8B-B14F-4D97-AF65-F5344CB8AC3E}">
        <ns2:creationId val="3745668477"/>
      </ns0:ext>
    </ns0:extLst>
  </ns0:cSld>
  <ns0:clrMapOvr>
    <ns1:masterClrMapping/>
  </ns0:clrMapOvr>
</ns0:notes>
</file>

<file path=ppt/notesSlides/notesSlide6.xml><?xml version="1.0" encoding="utf-8"?>
<ns0:notes xmlns:ns0="http://schemas.openxmlformats.org/presentationml/2006/main" xmlns:ns1="http://schemas.openxmlformats.org/drawingml/2006/main" xmlns:ns2="http://schemas.microsoft.com/office/powerpoint/2010/main" showMasterSp="0" showMasterPhAnim="0">
  <ns0:cSld>
    <ns0:spTree>
      <ns0:nvGrpSpPr>
        <ns0:cNvPr id="1" name="Shape 413"/>
        <ns0:cNvGrpSpPr/>
        <ns0:nvPr/>
      </ns0:nvGrpSpPr>
      <ns0:grpSpPr>
        <ns1:xfrm>
          <ns1:off x="0" y="0"/>
          <ns1:ext cx="0" cy="0"/>
          <ns1:chOff x="0" y="0"/>
          <ns1:chExt cx="0" cy="0"/>
        </ns1:xfrm>
      </ns0:grpSpPr>
      <ns0:sp>
        <ns0:nvSpPr>
          <ns0:cNvPr id="414" name="Google Shape;414;p4:notes"/>
          <ns0:cNvSpPr txBox="1">
            <ns1:spLocks noGrp="1"/>
          </ns0:cNvSpPr>
          <ns0:nvPr>
            <ns0:ph type="body" idx="1"/>
          </ns0:nvPr>
        </ns0:nvSpPr>
        <ns0:spPr>
          <ns1:xfrm>
            <ns1:off x="685800" y="4343400"/>
            <ns1:ext cx="5486399" cy="4114800"/>
          </ns1:xfrm>
          <ns1:prstGeom prst="rect">
            <ns1:avLst/>
          </ns1:prstGeom>
        </ns0:spPr>
        <ns0:txBody>
          <ns1:bodyPr spcFirstLastPara="1" wrap="square" lIns="91425" tIns="91425" rIns="91425" bIns="91425" anchor="t" anchorCtr="0">
            <ns1:noAutofit/>
          </ns1:bodyPr>
          <ns1:lstStyle/>
          <ns1:p>
            <ns1:pPr marL="0" lvl="0" indent="0" algn="l" rtl="0">
              <ns1:spcBef>
                <ns1:spcPts val="0"/>
              </ns1:spcBef>
              <ns1:spcAft>
                <ns1:spcPts val="0"/>
              </ns1:spcAft>
              <ns1:buNone/>
            </ns1:pPr>
            <ns1:endParaRPr/>
          </ns1:p>
          <ns1:p>
            <ns1:pPr marL="0" lvl="0" indent="0" algn="l" rtl="0">
              <ns1:spcBef>
                <ns1:spcPts val="0"/>
              </ns1:spcBef>
              <ns1:spcAft>
                <ns1:spcPts val="50"/>
              </ns1:spcAft>
              <ns1:buNone/>
            </ns1:pPr>
            <ns1:r>
              <ns1:rPr lang="en-US" dirty="0"/>
              <ns1:t>Standard Algorithms for Multiplication (1 of 3): Base-Ten Blocks Introduction (8 minutes)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Purpose:</ns1:t>
            </ns1:r>
          </ns1:p>
          <ns1:p>
            <ns1:pPr marL="0" lvl="0" indent="0" algn="l" rtl="0">
              <ns1:spcBef>
                <ns1:spcPts val="0"/>
              </ns1:spcBef>
              <ns1:spcAft>
                <ns1:spcPts val="50"/>
              </ns1:spcAft>
              <ns1:buNone/>
            </ns1:pPr>
            <ns1:r>
              <ns1:rPr lang="en-US" dirty="0"/>
              <ns1:t>Introduce the standard algorithm through CONCRETE MODELS (base-ten blocks). This slide begins the critical progression: Concrete → Semi-Concrete (area models) → Abstract (digits and place value notation).</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50"/>
              </ns1:spcAft>
              <ns1:buNone/>
            </ns1:pPr>
            <ns1:r>
              <ns1:rPr lang="en-US" dirty="0"/>
              <ns1:t>Content Focus: 13 × 7</ns1:t>
            </ns1:r>
          </ns1:p>
          <ns1:p>
            <ns1:pPr marL="0" lvl="0" indent="0" algn="l" rtl="0">
              <ns1:spcBef>
                <ns1:spcPts val="0"/>
              </ns1:spcBef>
              <ns1:spcAft>
                <ns1:spcPts val="50"/>
              </ns1:spcAft>
              <ns1:buNone/>
            </ns1:pPr>
            <ns1:r>
              <ns1:rPr lang="en-US" dirty="0"/>
              <ns1:t>- Use base-ten blocks: 1 ten and 3 ones, repeated 7 times</ns1:t>
            </ns1:r>
          </ns1:p>
          <ns1:p>
            <ns1:pPr marL="0" lvl="0" indent="0" algn="l" rtl="0">
              <ns1:spcBef>
                <ns1:spcPts val="0"/>
              </ns1:spcBef>
              <ns1:spcAft>
                <ns1:spcPts val="50"/>
              </ns1:spcAft>
              <ns1:buNone/>
            </ns1:pPr>
            <ns1:r>
              <ns1:rPr lang="en-US" dirty="0"/>
              <ns1:t>- First, physically make 7 groups of 13 using blocks</ns1:t>
            </ns1:r>
          </ns1:p>
          <ns1:p>
            <ns1:pPr marL="0" lvl="0" indent="0" algn="l" rtl="0">
              <ns1:spcBef>
                <ns1:spcPts val="0"/>
              </ns1:spcBef>
              <ns1:spcAft>
                <ns1:spcPts val="50"/>
              </ns1:spcAft>
              <ns1:buNone/>
            </ns1:pPr>
            <ns1:r>
              <ns1:rPr lang="en-US" dirty="0"/>
              <ns1:t>- Then, collectively regroup: 7 groups of 3 ones (21 ones) = 2 tens and 1 one; 7 groups of 1 ten (7 tens) = 7 tens</ns1:t>
            </ns1:r>
          </ns1:p>
          <ns1:p>
            <ns1:pPr marL="0" lvl="0" indent="0" algn="l" rtl="0">
              <ns1:spcBef>
                <ns1:spcPts val="0"/>
              </ns1:spcBef>
              <ns1:spcAft>
                <ns1:spcPts val="50"/>
              </ns1:spcAft>
              <ns1:buNone/>
            </ns1:pPr>
            <ns1:r>
              <ns1:rPr lang="en-US" dirty="0"/>
              <ns1:t>- Total: 9 tens and 1 one = 91</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Van de Walle Connection (Ch. 13):</ns1:t>
            </ns1:r>
          </ns1:p>
          <ns1:p>
            <ns1:pPr marL="0" lvl="0" indent="0" algn="l" rtl="0">
              <ns1:spcBef>
                <ns1:spcPts val="0"/>
              </ns1:spcBef>
              <ns1:spcAft>
                <ns1:spcPts val="50"/>
              </ns1:spcAft>
              <ns1:buNone/>
            </ns1:pPr>
            <ns1:r>
              <ns1:rPr lang="en-US" dirty="0"/>
              <ns1:t>Chapter 13 emphasizes the critical role of BASE-TEN STRUCTURE in multiplication. Without concrete understanding of place value and regrouping, the algorithm is just mysterious symbol-pushing. The chapter argues: "Use models to develop understanding before teaching the algorithm."</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Facilitation Tips:</ns1:t>
            </ns1:r>
          </ns1:p>
          <ns1:p>
            <ns1:pPr marL="0" lvl="0" indent="0" algn="l" rtl="0">
              <ns1:spcBef>
                <ns1:spcPts val="0"/>
              </ns1:spcBef>
              <ns1:spcAft>
                <ns1:spcPts val="50"/>
              </ns1:spcAft>
              <ns1:buNone/>
            </ns1:pPr>
            <ns1:r>
              <ns1:rPr lang="en-US" dirty="0"/>
              <ns1:t>- SHOW, don't tell: Have students (or you) build the blocks at the document camera/board</ns1:t>
            </ns1:r>
          </ns1:p>
          <ns1:p>
            <ns1:pPr marL="0" lvl="0" indent="0" algn="l" rtl="0">
              <ns1:spcBef>
                <ns1:spcPts val="0"/>
              </ns1:spcBef>
              <ns1:spcAft>
                <ns1:spcPts val="50"/>
              </ns1:spcAft>
              <ns1:buNone/>
            </ns1:pPr>
            <ns1:r>
              <ns1:rPr lang="en-US" dirty="0"/>
              <ns1:t>- Use a think-aloud: "I have 7 groups of 13. Let me see... each group has 1 ten and 3 ones. So altogether I have 7 tens and... (count the ones blocks) 21 ones."</ns1:t>
            </ns1:r>
          </ns1:p>
          <ns1:p>
            <ns1:pPr marL="0" lvl="0" indent="0" algn="l" rtl="0">
              <ns1:spcBef>
                <ns1:spcPts val="0"/>
              </ns1:spcBef>
              <ns1:spcAft>
                <ns1:spcPts val="50"/>
              </ns1:spcAft>
              <ns1:buNone/>
            </ns1:pPr>
            <ns1:r>
              <ns1:rPr lang="en-US" dirty="0"/>
              <ns1:t>- Guide the regrouping: "Can we trade 10 ones for a ten? Yes! So we had 21 ones, now it's 2 tens and 1 one."</ns1:t>
            </ns1:r>
          </ns1:p>
          <ns1:p>
            <ns1:pPr marL="0" lvl="0" indent="0" algn="l" rtl="0">
              <ns1:spcBef>
                <ns1:spcPts val="0"/>
              </ns1:spcBef>
              <ns1:spcAft>
                <ns1:spcPts val="50"/>
              </ns1:spcAft>
              <ns1:buNone/>
            </ns1:pPr>
            <ns1:r>
              <ns1:rPr lang="en-US" dirty="0"/>
              <ns1:t>- Record the steps alongside the blocks—begin to show notation WITHOUT explaining the algorithm yet</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Timing:</ns1:t>
            </ns1:r>
          </ns1:p>
          <ns1:p>
            <ns1:pPr marL="0" lvl="0" indent="0" algn="l" rtl="0">
              <ns1:spcBef>
                <ns1:spcPts val="0"/>
              </ns1:spcBef>
              <ns1:spcAft>
                <ns1:spcPts val="50"/>
              </ns1:spcAft>
              <ns1:buNone/>
            </ns1:pPr>
            <ns1:r>
              <ns1:rPr lang="en-US" dirty="0"/>
              <ns1:t>This is deliberate, showing-the-thinking work. Take time. Students watching this will be ready to speed up with area models (next slide).</ns1:t>
            </ns1:r>
          </ns1:p>
          <ns1:p>
            <ns1:pPr marL="0" lvl="0" indent="0" algn="l" rtl="0">
              <ns1:spcBef>
                <ns1:spcPts val="0"/>
              </ns1:spcBef>
              <ns1:spcAft>
                <ns1:spcPts val="50"/>
              </ns1:spcAft>
              <ns1:buNone/>
            </ns1:pPr>
            <ns1:r>
              <ns1:rPr lang="en-US" dirty="0"/>
              <ns1:t/>
            </ns1:r>
          </ns1:p>
        </ns0:txBody>
      </ns0:sp>
      <ns0:sp>
        <ns0:nvSpPr>
          <ns0:cNvPr id="415" name="Google Shape;415;p4:notes"/>
          <ns0:cNvSpPr>
            <ns1:spLocks noGrp="1" noRot="1" noChangeAspect="1"/>
          </ns0:cNvSpPr>
          <ns0:nvPr>
            <ns0:ph type="sldImg" idx="2"/>
          </ns0:nvPr>
        </ns0:nvSpPr>
        <ns0:spPr>
          <ns1:xfrm>
            <ns1:off x="381000" y="685800"/>
            <ns1:ext cx="6096000" cy="3429000"/>
          </ns1:xfrm>
          <ns1:custGeom>
            <ns1:avLst/>
            <ns1:gdLst/>
            <ns1:ahLst/>
            <ns1:cxnLst/>
            <ns1:rect l="l" t="t" r="r" b="b"/>
            <ns1:pathLst>
              <ns1:path w="120000" h="120000" extrusionOk="0">
                <ns1:moveTo>
                  <ns1:pt x="0" y="0"/>
                </ns1:moveTo>
                <ns1:lnTo>
                  <ns1:pt x="120000" y="0"/>
                </ns1:lnTo>
                <ns1:lnTo>
                  <ns1:pt x="120000" y="120000"/>
                </ns1:lnTo>
                <ns1:lnTo>
                  <ns1:pt x="0" y="120000"/>
                </ns1:lnTo>
                <ns1:close/>
              </ns1:path>
            </ns1:pathLst>
          </ns1:custGeom>
        </ns0:spPr>
      </ns0:sp>
    </ns0:spTree>
    <ns0:extLst>
      <ns0:ext uri="{BB962C8B-B14F-4D97-AF65-F5344CB8AC3E}">
        <ns2:creationId val="2614492755"/>
      </ns0:ext>
    </ns0:extLst>
  </ns0:cSld>
  <ns0:clrMapOvr>
    <ns1:masterClrMapping/>
  </ns0:clrMapOvr>
</ns0:notes>
</file>

<file path=ppt/notesSlides/notesSlide7.xml><?xml version="1.0" encoding="utf-8"?>
<ns0:notes xmlns:ns0="http://schemas.openxmlformats.org/presentationml/2006/main" xmlns:ns1="http://schemas.openxmlformats.org/drawingml/2006/main" xmlns:ns2="http://schemas.microsoft.com/office/powerpoint/2010/main" showMasterSp="0" showMasterPhAnim="0">
  <ns0:cSld>
    <ns0:spTree>
      <ns0:nvGrpSpPr>
        <ns0:cNvPr id="1" name="Shape 413"/>
        <ns0:cNvGrpSpPr/>
        <ns0:nvPr/>
      </ns0:nvGrpSpPr>
      <ns0:grpSpPr>
        <ns1:xfrm>
          <ns1:off x="0" y="0"/>
          <ns1:ext cx="0" cy="0"/>
          <ns1:chOff x="0" y="0"/>
          <ns1:chExt cx="0" cy="0"/>
        </ns1:xfrm>
      </ns0:grpSpPr>
      <ns0:sp>
        <ns0:nvSpPr>
          <ns0:cNvPr id="414" name="Google Shape;414;p4:notes"/>
          <ns0:cNvSpPr txBox="1">
            <ns1:spLocks noGrp="1"/>
          </ns0:cNvSpPr>
          <ns0:nvPr>
            <ns0:ph type="body" idx="1"/>
          </ns0:nvPr>
        </ns0:nvSpPr>
        <ns0:spPr>
          <ns1:xfrm>
            <ns1:off x="685800" y="4343400"/>
            <ns1:ext cx="5486399" cy="4114800"/>
          </ns1:xfrm>
          <ns1:prstGeom prst="rect">
            <ns1:avLst/>
          </ns1:prstGeom>
        </ns0:spPr>
        <ns0:txBody>
          <ns1:bodyPr spcFirstLastPara="1" wrap="square" lIns="91425" tIns="91425" rIns="91425" bIns="91425" anchor="t" anchorCtr="0">
            <ns1:noAutofit/>
          </ns1:bodyPr>
          <ns1:lstStyle/>
          <ns1:p>
            <ns1:pPr marL="0" lvl="0" indent="0" algn="l" rtl="0">
              <ns1:spcBef>
                <ns1:spcPts val="0"/>
              </ns1:spcBef>
              <ns1:spcAft>
                <ns1:spcPts val="0"/>
              </ns1:spcAft>
              <ns1:buNone/>
            </ns1:pPr>
            <ns1:endParaRPr/>
          </ns1:p>
          <ns1:p>
            <ns1:pPr marL="0" lvl="0" indent="0" algn="l" rtl="0">
              <ns1:spcBef>
                <ns1:spcPts val="0"/>
              </ns1:spcBef>
              <ns1:spcAft>
                <ns1:spcPts val="50"/>
              </ns1:spcAft>
              <ns1:buNone/>
            </ns1:pPr>
            <ns1:r>
              <ns1:rPr lang="en-US" dirty="0"/>
              <ns1:t>Standard Algorithms for Multiplication (2 of 3): Area Models and Partial Products (10 minutes)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Purpose:</ns1:t>
            </ns1:r>
          </ns1:p>
          <ns1:p>
            <ns1:pPr marL="0" lvl="0" indent="0" algn="l" rtl="0">
              <ns1:spcBef>
                <ns1:spcPts val="0"/>
              </ns1:spcBef>
              <ns1:spcAft>
                <ns1:spcPts val="50"/>
              </ns1:spcAft>
              <ns1:buNone/>
            </ns1:pPr>
            <ns1:r>
              <ns1:rPr lang="en-US" dirty="0"/>
              <ns1:t>SEMI-CONCRETE transition. Move from physical blocks to drawn/sketched models (area models) and introduce the written form of partial products. This bridges concrete understanding to the abstract algorithm.</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50"/>
              </ns1:spcAft>
              <ns1:buNone/>
            </ns1:pPr>
            <ns1:r>
              <ns1:rPr lang="en-US" dirty="0"/>
              <ns1:t>Content Focus: 47 × 36</ns1:t>
            </ns1:r>
          </ns1:p>
          <ns1:p>
            <ns1:pPr marL="0" lvl="0" indent="0" algn="l" rtl="0">
              <ns1:spcBef>
                <ns1:spcPts val="0"/>
              </ns1:spcBef>
              <ns1:spcAft>
                <ns1:spcPts val="100"/>
              </ns1:spcAft>
              <ns1:buNone/>
            </ns1:pPr>
            <ns1:r>
              <ns1:rPr lang="en-US" dirty="0" b="1"/>
              <ns1:t>Two representations shown:</ns1:t>
            </ns1:r>
          </ns1:p>
          <ns1:p>
            <ns1:pPr marL="0" lvl="0" indent="0" algn="l" rtl="0">
              <ns1:spcBef>
                <ns1:spcPts val="0"/>
              </ns1:spcBef>
              <ns1:spcAft>
                <ns1:spcPts val="50"/>
              </ns1:spcAft>
              <ns1:buNone/>
            </ns1:pPr>
            <ns1:r>
              <ns1:rPr lang="en-US" dirty="0"/>
              <ns1:t>1. CONNECTED AREA MODEL: A rectangle divided into sections showing 40×30, 40×6, 7×30, 7×6. Each partial product is visible and labeled.</ns1:t>
            </ns1:r>
          </ns1:p>
          <ns1:p>
            <ns1:pPr marL="0" lvl="0" indent="0" algn="l" rtl="0">
              <ns1:spcBef>
                <ns1:spcPts val="0"/>
              </ns1:spcBef>
              <ns1:spcAft>
                <ns1:spcPts val="50"/>
              </ns1:spcAft>
              <ns1:buNone/>
            </ns1:pPr>
            <ns1:r>
              <ns1:rPr lang="en-US" dirty="0"/>
              <ns1:t>2. OPEN ARRAY: Same decomposition, but drawn as an array on grid paper. Emphasizes that 47 × 36 = 40×36 + 7×36 (or similar decomposition).</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Van de Walle Connection (Ch. 13):</ns1:t>
            </ns1:r>
          </ns1:p>
          <ns1:p>
            <ns1:pPr marL="0" lvl="0" indent="0" algn="l" rtl="0">
              <ns1:spcBef>
                <ns1:spcPts val="0"/>
              </ns1:spcBef>
              <ns1:spcAft>
                <ns1:spcPts val="50"/>
              </ns1:spcAft>
              <ns1:buNone/>
            </ns1:pPr>
            <ns1:r>
              <ns1:rPr lang="en-US" dirty="0"/>
              <ns1:t>The area model is the HEART of understanding multiplication algorithms. It shows WHY we multiply tens by tens, tens by ones, ones by tens, and ones by ones. Without this model, students don't understand WHY the algorithm works.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Facilitation Tips:</ns1:t>
            </ns1:r>
          </ns1:p>
          <ns1:p>
            <ns1:pPr marL="0" lvl="0" indent="0" algn="l" rtl="0">
              <ns1:spcBef>
                <ns1:spcPts val="0"/>
              </ns1:spcBef>
              <ns1:spcAft>
                <ns1:spcPts val="50"/>
              </ns1:spcAft>
              <ns1:buNone/>
            </ns1:pPr>
            <ns1:r>
              <ns1:rPr lang="en-US" dirty="0"/>
              <ns1:t>- Draw (or project) the connected area model step by step</ns1:t>
            </ns1:r>
          </ns1:p>
          <ns1:p>
            <ns1:pPr marL="0" lvl="0" indent="0" algn="l" rtl="0">
              <ns1:spcBef>
                <ns1:spcPts val="0"/>
              </ns1:spcBef>
              <ns1:spcAft>
                <ns1:spcPts val="50"/>
              </ns1:spcAft>
              <ns1:buNone/>
            </ns1:pPr>
            <ns1:r>
              <ns1:rPr lang="en-US" dirty="0"/>
              <ns1:t>- Label each section: "40 × 30 = 1200. 40 × 6 = 240. 7 × 30 = 210. 7 × 6 = 42."</ns1:t>
            </ns1:r>
          </ns1:p>
          <ns1:p>
            <ns1:pPr marL="0" lvl="0" indent="0" algn="l" rtl="0">
              <ns1:spcBef>
                <ns1:spcPts val="0"/>
              </ns1:spcBef>
              <ns1:spcAft>
                <ns1:spcPts val="50"/>
              </ns1:spcAft>
              <ns1:buNone/>
            </ns1:pPr>
            <ns1:r>
              <ns1:rPr lang="en-US" dirty="0"/>
              <ns1:t>- Add them: 1200 + 240 + 210 + 42 = 1692</ns1:t>
            </ns1:r>
          </ns1:p>
          <ns1:p>
            <ns1:pPr marL="0" lvl="0" indent="0" algn="l" rtl="0">
              <ns1:spcBef>
                <ns1:spcPts val="0"/>
              </ns1:spcBef>
              <ns1:spcAft>
                <ns1:spcPts val="50"/>
              </ns1:spcAft>
              <ns1:buNone/>
            </ns1:pPr>
            <ns1:r>
              <ns1:rPr lang="en-US" dirty="0"/>
              <ns1:t>- Show the same decomposition with an open array (rectangle on graph paper)</ns1:t>
            </ns1:r>
          </ns1:p>
          <ns1:p>
            <ns1:pPr marL="0" lvl="0" indent="0" algn="l" rtl="0">
              <ns1:spcBef>
                <ns1:spcPts val="0"/>
              </ns1:spcBef>
              <ns1:spcAft>
                <ns1:spcPts val="50"/>
              </ns1:spcAft>
              <ns1:buNone/>
            </ns1:pPr>
            <ns1:r>
              <ns1:rPr lang="en-US" dirty="0"/>
              <ns1:t>- Then say: "Notice, we're multiplying each piece of 47 by each piece of 36. This is what the algorithm is REALLY doing, just written in a different way."</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Key Insight for Students:</ns1:t>
            </ns1:r>
          </ns1:p>
          <ns1:p>
            <ns1:pPr marL="0" lvl="0" indent="0" algn="l" rtl="0">
              <ns1:spcBef>
                <ns1:spcPts val="0"/>
              </ns1:spcBef>
              <ns1:spcAft>
                <ns1:spcPts val="50"/>
              </ns1:spcAft>
              <ns1:buNone/>
            </ns1:pPr>
            <ns1:r>
              <ns1:rPr lang="en-US" dirty="0"/>
              <ns1:t>The standard algorithm is just a shorthand notation for the area model. Once they see this connection, the algorithm stops being mysterious.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50"/>
              </ns1:spcAft>
              <ns1:buNone/>
            </ns1:pPr>
            <ns1:r>
              <ns1:rPr lang="en-US" dirty="0"/>
              <ns1:t>Timing: 10 minutes—take time to draw and explain clearly.</ns1:t>
            </ns1:r>
          </ns1:p>
          <ns1:p>
            <ns1:pPr marL="0" lvl="0" indent="0" algn="l" rtl="0">
              <ns1:spcBef>
                <ns1:spcPts val="0"/>
              </ns1:spcBef>
              <ns1:spcAft>
                <ns1:spcPts val="50"/>
              </ns1:spcAft>
              <ns1:buNone/>
            </ns1:pPr>
            <ns1:r>
              <ns1:rPr lang="en-US" dirty="0"/>
              <ns1:t/>
            </ns1:r>
          </ns1:p>
        </ns0:txBody>
      </ns0:sp>
      <ns0:sp>
        <ns0:nvSpPr>
          <ns0:cNvPr id="415" name="Google Shape;415;p4:notes"/>
          <ns0:cNvSpPr>
            <ns1:spLocks noGrp="1" noRot="1" noChangeAspect="1"/>
          </ns0:cNvSpPr>
          <ns0:nvPr>
            <ns0:ph type="sldImg" idx="2"/>
          </ns0:nvPr>
        </ns0:nvSpPr>
        <ns0:spPr>
          <ns1:xfrm>
            <ns1:off x="381000" y="685800"/>
            <ns1:ext cx="6096000" cy="3429000"/>
          </ns1:xfrm>
          <ns1:custGeom>
            <ns1:avLst/>
            <ns1:gdLst/>
            <ns1:ahLst/>
            <ns1:cxnLst/>
            <ns1:rect l="l" t="t" r="r" b="b"/>
            <ns1:pathLst>
              <ns1:path w="120000" h="120000" extrusionOk="0">
                <ns1:moveTo>
                  <ns1:pt x="0" y="0"/>
                </ns1:moveTo>
                <ns1:lnTo>
                  <ns1:pt x="120000" y="0"/>
                </ns1:lnTo>
                <ns1:lnTo>
                  <ns1:pt x="120000" y="120000"/>
                </ns1:lnTo>
                <ns1:lnTo>
                  <ns1:pt x="0" y="120000"/>
                </ns1:lnTo>
                <ns1:close/>
              </ns1:path>
            </ns1:pathLst>
          </ns1:custGeom>
        </ns0:spPr>
      </ns0:sp>
    </ns0:spTree>
    <ns0:extLst>
      <ns0:ext uri="{BB962C8B-B14F-4D97-AF65-F5344CB8AC3E}">
        <ns2:creationId val="3854994584"/>
      </ns0:ext>
    </ns0:extLst>
  </ns0:cSld>
  <ns0:clrMapOvr>
    <ns1:masterClrMapping/>
  </ns0:clrMapOvr>
</ns0:notes>
</file>

<file path=ppt/notesSlides/notesSlide8.xml><?xml version="1.0" encoding="utf-8"?>
<ns0:notes xmlns:ns0="http://schemas.openxmlformats.org/presentationml/2006/main" xmlns:ns1="http://schemas.openxmlformats.org/drawingml/2006/main" xmlns:ns2="http://schemas.microsoft.com/office/drawing/2014/main" xmlns:ns3="http://schemas.microsoft.com/office/powerpoint/2010/main" showMasterSp="0" showMasterPhAnim="0">
  <ns0:cSld>
    <ns0:spTree>
      <ns0:nvGrpSpPr>
        <ns0:cNvPr id="1" name="Shape 413">
          <ns1:extLst>
            <ns1:ext uri="{FF2B5EF4-FFF2-40B4-BE49-F238E27FC236}">
              <ns2:creationId id="{DEAFD729-FCB1-ADEB-78A7-CCD995E7AA4D}"/>
            </ns1:ext>
          </ns1:extLst>
        </ns0:cNvPr>
        <ns0:cNvGrpSpPr/>
        <ns0:nvPr/>
      </ns0:nvGrpSpPr>
      <ns0:grpSpPr>
        <ns1:xfrm>
          <ns1:off x="0" y="0"/>
          <ns1:ext cx="0" cy="0"/>
          <ns1:chOff x="0" y="0"/>
          <ns1:chExt cx="0" cy="0"/>
        </ns1:xfrm>
      </ns0:grpSpPr>
      <ns0:sp>
        <ns0:nvSpPr>
          <ns0:cNvPr id="414" name="Google Shape;414;p4:notes">
            <ns1:extLst>
              <ns1:ext uri="{FF2B5EF4-FFF2-40B4-BE49-F238E27FC236}">
                <ns2:creationId id="{07BC6957-5649-31A5-1534-1F27F2B65660}"/>
              </ns1:ext>
            </ns1:extLst>
          </ns0:cNvPr>
          <ns0:cNvSpPr txBox="1">
            <ns1:spLocks noGrp="1"/>
          </ns0:cNvSpPr>
          <ns0:nvPr>
            <ns0:ph type="body" idx="1"/>
          </ns0:nvPr>
        </ns0:nvSpPr>
        <ns0:spPr>
          <ns1:xfrm>
            <ns1:off x="685800" y="4343400"/>
            <ns1:ext cx="5486399" cy="4114800"/>
          </ns1:xfrm>
          <ns1:prstGeom prst="rect">
            <ns1:avLst/>
          </ns1:prstGeom>
        </ns0:spPr>
        <ns0:txBody>
          <ns1:bodyPr spcFirstLastPara="1" wrap="square" lIns="91425" tIns="91425" rIns="91425" bIns="91425" anchor="t" anchorCtr="0">
            <ns1:noAutofit/>
          </ns1:bodyPr>
          <ns1:lstStyle/>
          <ns1:p>
            <ns1:pPr marL="0" lvl="0" indent="0" algn="l" rtl="0">
              <ns1:spcBef>
                <ns1:spcPts val="0"/>
              </ns1:spcBef>
              <ns1:spcAft>
                <ns1:spcPts val="0"/>
              </ns1:spcAft>
              <ns1:buNone/>
            </ns1:pPr>
            <ns1:endParaRPr dirty="0"/>
          </ns1:p>
          <ns1:p>
            <ns1:pPr marL="0" lvl="0" indent="0" algn="l" rtl="0">
              <ns1:spcBef>
                <ns1:spcPts val="0"/>
              </ns1:spcBef>
              <ns1:spcAft>
                <ns1:spcPts val="50"/>
              </ns1:spcAft>
              <ns1:buNone/>
            </ns1:pPr>
            <ns1:r>
              <ns1:rPr lang="en-US" dirty="0"/>
              <ns1:t>Standard Algorithms for Multiplication (3 of 3): Open Array and Transition to Abstract (8 minutes)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Purpose:</ns1:t>
            </ns1:r>
          </ns1:p>
          <ns1:p>
            <ns1:pPr marL="0" lvl="0" indent="0" algn="l" rtl="0">
              <ns1:spcBef>
                <ns1:spcPts val="0"/>
              </ns1:spcBef>
              <ns1:spcAft>
                <ns1:spcPts val="50"/>
              </ns1:spcAft>
              <ns1:buNone/>
            </ns1:pPr>
            <ns1:r>
              <ns1:rPr lang="en-US" dirty="0"/>
              <ns1:t>Continue semi-concrete work with open arrays, then show the bridge to the ABSTRACT standard algorithm (the vertical notation used in traditional multiplication).</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50"/>
              </ns1:spcAft>
              <ns1:buNone/>
            </ns1:pPr>
            <ns1:r>
              <ns1:rPr lang="en-US" dirty="0"/>
              <ns1:t>Content Focus: 72 × 36</ns1:t>
            </ns1:r>
          </ns1:p>
          <ns1:p>
            <ns1:pPr marL="0" lvl="0" indent="0" algn="l" rtl="0">
              <ns1:spcBef>
                <ns1:spcPts val="0"/>
              </ns1:spcBef>
              <ns1:spcAft>
                <ns1:spcPts val="50"/>
              </ns1:spcAft>
              <ns1:buNone/>
            </ns1:pPr>
            <ns1:r>
              <ns1:rPr lang="en-US" dirty="0"/>
              <ns1:t>- Start with an open array: Draw a rectangle, label sides 72 and 36, divide it into partial products</ns1:t>
            </ns1:r>
          </ns1:p>
          <ns1:p>
            <ns1:pPr marL="0" lvl="0" indent="0" algn="l" rtl="0">
              <ns1:spcBef>
                <ns1:spcPts val="0"/>
              </ns1:spcBef>
              <ns1:spcAft>
                <ns1:spcPts val="50"/>
              </ns1:spcAft>
              <ns1:buNone/>
            </ns1:pPr>
            <ns1:r>
              <ns1:rPr lang="en-US" dirty="0"/>
              <ns1:t>- Show partial products visually: 70×30, 70×6, 2×30, 2×6</ns1:t>
            </ns1:r>
          </ns1:p>
          <ns1:p>
            <ns1:pPr marL="0" lvl="0" indent="0" algn="l" rtl="0">
              <ns1:spcBef>
                <ns1:spcPts val="0"/>
              </ns1:spcBef>
              <ns1:spcAft>
                <ns1:spcPts val="50"/>
              </ns1:spcAft>
              <ns1:buNone/>
            </ns1:pPr>
            <ns1:r>
              <ns1:rPr lang="en-US" dirty="0"/>
              <ns1:t>- Calculate and add each partial product</ns1:t>
            </ns1:r>
          </ns1:p>
          <ns1:p>
            <ns1:pPr marL="0" lvl="0" indent="0" algn="l" rtl="0">
              <ns1:spcBef>
                <ns1:spcPts val="0"/>
              </ns1:spcBef>
              <ns1:spcAft>
                <ns1:spcPts val="100"/>
              </ns1:spcAft>
              <ns1:buNone/>
            </ns1:pPr>
            <ns1:r>
              <ns1:rPr lang="en-US" dirty="0" b="1"/>
              <ns1:t>- Then show the SAME calculation written in standard algorithm notation:</ns1:t>
            </ns1:r>
          </ns1:p>
          <ns1:p>
            <ns1:pPr marL="0" lvl="0" indent="0" algn="l" rtl="0">
              <ns1:spcBef>
                <ns1:spcPts val="0"/>
              </ns1:spcBef>
              <ns1:spcAft>
                <ns1:spcPts val="50"/>
              </ns1:spcAft>
              <ns1:buNone/>
            </ns1:pPr>
            <ns1:r>
              <ns1:rPr lang="en-US" dirty="0"/>
              <ns1:t>```</ns1:t>
            </ns1:r>
          </ns1:p>
          <ns1:p>
            <ns1:pPr marL="0" lvl="0" indent="0" algn="l" rtl="0">
              <ns1:spcBef>
                <ns1:spcPts val="0"/>
              </ns1:spcBef>
              <ns1:spcAft>
                <ns1:spcPts val="50"/>
              </ns1:spcAft>
              <ns1:buNone/>
            </ns1:pPr>
            <ns1:r>
              <ns1:rPr lang="en-US" dirty="0"/>
              <ns1:t>72</ns1:t>
            </ns1:r>
          </ns1:p>
          <ns1:p>
            <ns1:pPr marL="0" lvl="0" indent="0" algn="l" rtl="0">
              <ns1:spcBef>
                <ns1:spcPts val="0"/>
              </ns1:spcBef>
              <ns1:spcAft>
                <ns1:spcPts val="50"/>
              </ns1:spcAft>
              <ns1:buNone/>
            </ns1:pPr>
            <ns1:r>
              <ns1:rPr lang="en-US" dirty="0"/>
              <ns1:t>× 36</ns1:t>
            </ns1:r>
          </ns1:p>
          <ns1:p>
            <ns1:pPr marL="0" lvl="0" indent="0" algn="l" rtl="0">
              <ns1:spcBef>
                <ns1:spcPts val="0"/>
              </ns1:spcBef>
              <ns1:spcAft>
                <ns1:spcPts val="50"/>
              </ns1:spcAft>
              <ns1:buNone/>
            </ns1:pPr>
            <ns1:r>
              <ns1:rPr lang="en-US" dirty="0"/>
              <ns1:t>-----</ns1:t>
            </ns1:r>
          </ns1:p>
          <ns1:p>
            <ns1:pPr marL="0" lvl="0" indent="0" algn="l" rtl="0">
              <ns1:spcBef>
                <ns1:spcPts val="0"/>
              </ns1:spcBef>
              <ns1:spcAft>
                <ns1:spcPts val="50"/>
              </ns1:spcAft>
              <ns1:buNone/>
            </ns1:pPr>
            <ns1:r>
              <ns1:rPr lang="en-US" dirty="0"/>
              <ns1:t>432  (72 × 6)</ns1:t>
            </ns1:r>
          </ns1:p>
          <ns1:p>
            <ns1:pPr marL="0" lvl="0" indent="0" algn="l" rtl="0">
              <ns1:spcBef>
                <ns1:spcPts val="0"/>
              </ns1:spcBef>
              <ns1:spcAft>
                <ns1:spcPts val="50"/>
              </ns1:spcAft>
              <ns1:buNone/>
            </ns1:pPr>
            <ns1:r>
              <ns1:rPr lang="en-US" dirty="0"/>
              <ns1:t>2160   (72 × 30, written with regrouping)</ns1:t>
            </ns1:r>
          </ns1:p>
          <ns1:p>
            <ns1:pPr marL="0" lvl="0" indent="0" algn="l" rtl="0">
              <ns1:spcBef>
                <ns1:spcPts val="0"/>
              </ns1:spcBef>
              <ns1:spcAft>
                <ns1:spcPts val="50"/>
              </ns1:spcAft>
              <ns1:buNone/>
            </ns1:pPr>
            <ns1:r>
              <ns1:rPr lang="en-US" dirty="0"/>
              <ns1:t>-----</ns1:t>
            </ns1:r>
          </ns1:p>
          <ns1:p>
            <ns1:pPr marL="0" lvl="0" indent="0" algn="l" rtl="0">
              <ns1:spcBef>
                <ns1:spcPts val="0"/>
              </ns1:spcBef>
              <ns1:spcAft>
                <ns1:spcPts val="50"/>
              </ns1:spcAft>
              <ns1:buNone/>
            </ns1:pPr>
            <ns1:r>
              <ns1:rPr lang="en-US" dirty="0"/>
              <ns1:t>2592</ns1:t>
            </ns1:r>
          </ns1:p>
          <ns1:p>
            <ns1:pPr marL="0" lvl="0" indent="0" algn="l" rtl="0">
              <ns1:spcBef>
                <ns1:spcPts val="0"/>
              </ns1:spcBef>
              <ns1:spcAft>
                <ns1:spcPts val="50"/>
              </ns1:spcAft>
              <ns1:buNone/>
            </ns1:pPr>
            <ns1:r>
              <ns1:rPr lang="en-US" dirty="0"/>
              <ns1:t>```</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Van de Walle Chapter 13 Insight:</ns1:t>
            </ns1:r>
          </ns1:p>
          <ns1:p>
            <ns1:pPr marL="0" lvl="0" indent="0" algn="l" rtl="0">
              <ns1:spcBef>
                <ns1:spcPts val="0"/>
              </ns1:spcBef>
              <ns1:spcAft>
                <ns1:spcPts val="50"/>
              </ns1:spcAft>
              <ns1:buNone/>
            </ns1:pPr>
            <ns1:r>
              <ns1:rPr lang="en-US" dirty="0"/>
              <ns1:t>By Slide 8, students should understand that the standard algorithm is just a COMPACT way to record the partial products they already understand from the area/array models. The key to preventing errors later is maintaining this connection.</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Facilitation Tips:</ns1:t>
            </ns1:r>
          </ns1:p>
          <ns1:p>
            <ns1:pPr marL="0" lvl="0" indent="0" algn="l" rtl="0">
              <ns1:spcBef>
                <ns1:spcPts val="0"/>
              </ns1:spcBef>
              <ns1:spcAft>
                <ns1:spcPts val="50"/>
              </ns1:spcAft>
              <ns1:buNone/>
            </ns1:pPr>
            <ns1:r>
              <ns1:rPr lang="en-US" dirty="0"/>
              <ns1:t>- Draw the open array first, calculate all partial products visually</ns1:t>
            </ns1:r>
          </ns1:p>
          <ns1:p>
            <ns1:pPr marL="0" lvl="0" indent="0" algn="l" rtl="0">
              <ns1:spcBef>
                <ns1:spcPts val="0"/>
              </ns1:spcBef>
              <ns1:spcAft>
                <ns1:spcPts val="50"/>
              </ns1:spcAft>
              <ns1:buNone/>
            </ns1:pPr>
            <ns1:r>
              <ns1:rPr lang="en-US" dirty="0"/>
              <ns1:t>- Then position the standard algorithm NEXT TO the array</ns1:t>
            </ns1:r>
          </ns1:p>
          <ns1:p>
            <ns1:pPr marL="0" lvl="0" indent="0" algn="l" rtl="0">
              <ns1:spcBef>
                <ns1:spcPts val="0"/>
              </ns1:spcBef>
              <ns1:spcAft>
                <ns1:spcPts val="50"/>
              </ns1:spcAft>
              <ns1:buNone/>
            </ns1:pPr>
            <ns1:r>
              <ns1:rPr lang="en-US" dirty="0"/>
              <ns1:t>- Use color or arrows to show: "See? 72 × 6 = 432, which appears here in the algorithm."</ns1:t>
            </ns1:r>
          </ns1:p>
          <ns1:p>
            <ns1:pPr marL="0" lvl="0" indent="0" algn="l" rtl="0">
              <ns1:spcBef>
                <ns1:spcPts val="0"/>
              </ns1:spcBef>
              <ns1:spcAft>
                <ns1:spcPts val="50"/>
              </ns1:spcAft>
              <ns1:buNone/>
            </ns1:pPr>
            <ns1:r>
              <ns1:rPr lang="en-US" dirty="0"/>
              <ns1:t>- Emphasize: "We're doing the same math. The algorithm is just a faster way to write it."</ns1:t>
            </ns1:r>
          </ns1:p>
          <ns1:p>
            <ns1:pPr marL="0" lvl="0" indent="0" algn="l" rtl="0">
              <ns1:spcBef>
                <ns1:spcPts val="0"/>
              </ns1:spcBef>
              <ns1:spcAft>
                <ns1:spcPts val="50"/>
              </ns1:spcAft>
              <ns1:buNone/>
            </ns1:pPr>
            <ns1:r>
              <ns1:rPr lang="en-US" dirty="0"/>
              <ns1:t>- If students are ready, briefly explain regrouping: "When we multiply 72 × 30, we get 2160. We write this in the 'tens place' position because 30 is three tens."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Caution:</ns1:t>
            </ns1:r>
          </ns1:p>
          <ns1:p>
            <ns1:pPr marL="0" lvl="0" indent="0" algn="l" rtl="0">
              <ns1:spcBef>
                <ns1:spcPts val="0"/>
              </ns1:spcBef>
              <ns1:spcAft>
                <ns1:spcPts val="50"/>
              </ns1:spcAft>
              <ns1:buNone/>
            </ns1:pPr>
            <ns1:r>
              <ns1:rPr lang="en-US" dirty="0"/>
              <ns1:t>Some students will still prefer the open array or partial products method. Validate that! The algorithm is efficient, but other representations are also correct and often easier to explain.</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50"/>
              </ns1:spcAft>
              <ns1:buNone/>
            </ns1:pPr>
            <ns1:r>
              <ns1:rPr lang="en-US" dirty="0"/>
              <ns1:t>Timing: 8 minutes. By now, students should be following the logic fairly quickly.</ns1:t>
            </ns1:r>
          </ns1:p>
          <ns1:p>
            <ns1:pPr marL="0" lvl="0" indent="0" algn="l" rtl="0">
              <ns1:spcBef>
                <ns1:spcPts val="0"/>
              </ns1:spcBef>
              <ns1:spcAft>
                <ns1:spcPts val="50"/>
              </ns1:spcAft>
              <ns1:buNone/>
            </ns1:pPr>
            <ns1:r>
              <ns1:rPr lang="en-US" dirty="0"/>
              <ns1:t/>
            </ns1:r>
          </ns1:p>
        </ns0:txBody>
      </ns0:sp>
      <ns0:sp>
        <ns0:nvSpPr>
          <ns0:cNvPr id="415" name="Google Shape;415;p4:notes">
            <ns1:extLst>
              <ns1:ext uri="{FF2B5EF4-FFF2-40B4-BE49-F238E27FC236}">
                <ns2:creationId id="{7D370759-3ECC-A27B-F902-2D27399D0E53}"/>
              </ns1:ext>
            </ns1:extLst>
          </ns0:cNvPr>
          <ns0:cNvSpPr>
            <ns1:spLocks noGrp="1" noRot="1" noChangeAspect="1"/>
          </ns0:cNvSpPr>
          <ns0:nvPr>
            <ns0:ph type="sldImg" idx="2"/>
          </ns0:nvPr>
        </ns0:nvSpPr>
        <ns0:spPr>
          <ns1:xfrm>
            <ns1:off x="381000" y="685800"/>
            <ns1:ext cx="6096000" cy="3429000"/>
          </ns1:xfrm>
          <ns1:custGeom>
            <ns1:avLst/>
            <ns1:gdLst/>
            <ns1:ahLst/>
            <ns1:cxnLst/>
            <ns1:rect l="l" t="t" r="r" b="b"/>
            <ns1:pathLst>
              <ns1:path w="120000" h="120000" extrusionOk="0">
                <ns1:moveTo>
                  <ns1:pt x="0" y="0"/>
                </ns1:moveTo>
                <ns1:lnTo>
                  <ns1:pt x="120000" y="0"/>
                </ns1:lnTo>
                <ns1:lnTo>
                  <ns1:pt x="120000" y="120000"/>
                </ns1:lnTo>
                <ns1:lnTo>
                  <ns1:pt x="0" y="120000"/>
                </ns1:lnTo>
                <ns1:close/>
              </ns1:path>
            </ns1:pathLst>
          </ns1:custGeom>
        </ns0:spPr>
      </ns0:sp>
    </ns0:spTree>
    <ns0:extLst>
      <ns0:ext uri="{BB962C8B-B14F-4D97-AF65-F5344CB8AC3E}">
        <ns3:creationId val="3983593976"/>
      </ns0:ext>
    </ns0:extLst>
  </ns0:cSld>
  <ns0:clrMapOvr>
    <ns1:masterClrMapping/>
  </ns0:clrMapOvr>
</ns0:notes>
</file>

<file path=ppt/notesSlides/notesSlide9.xml><?xml version="1.0" encoding="utf-8"?>
<ns0:notes xmlns:ns0="http://schemas.openxmlformats.org/presentationml/2006/main" xmlns:ns1="http://schemas.openxmlformats.org/drawingml/2006/main" xmlns:ns2="http://schemas.microsoft.com/office/drawing/2014/main" xmlns:ns3="http://schemas.microsoft.com/office/powerpoint/2010/main" showMasterSp="0" showMasterPhAnim="0">
  <ns0:cSld>
    <ns0:spTree>
      <ns0:nvGrpSpPr>
        <ns0:cNvPr id="1" name="Shape 413">
          <ns1:extLst>
            <ns1:ext uri="{FF2B5EF4-FFF2-40B4-BE49-F238E27FC236}">
              <ns2:creationId id="{D84FEEEA-FBD4-4DE2-1FF4-10087F398130}"/>
            </ns1:ext>
          </ns1:extLst>
        </ns0:cNvPr>
        <ns0:cNvGrpSpPr/>
        <ns0:nvPr/>
      </ns0:nvGrpSpPr>
      <ns0:grpSpPr>
        <ns1:xfrm>
          <ns1:off x="0" y="0"/>
          <ns1:ext cx="0" cy="0"/>
          <ns1:chOff x="0" y="0"/>
          <ns1:chExt cx="0" cy="0"/>
        </ns1:xfrm>
      </ns0:grpSpPr>
      <ns0:sp>
        <ns0:nvSpPr>
          <ns0:cNvPr id="414" name="Google Shape;414;p4:notes">
            <ns1:extLst>
              <ns1:ext uri="{FF2B5EF4-FFF2-40B4-BE49-F238E27FC236}">
                <ns2:creationId id="{B5D4672C-5C43-598F-8CD4-E9CC52CAA361}"/>
              </ns1:ext>
            </ns1:extLst>
          </ns0:cNvPr>
          <ns0:cNvSpPr txBox="1">
            <ns1:spLocks noGrp="1"/>
          </ns0:cNvSpPr>
          <ns0:nvPr>
            <ns0:ph type="body" idx="1"/>
          </ns0:nvPr>
        </ns0:nvSpPr>
        <ns0:spPr>
          <ns1:xfrm>
            <ns1:off x="685800" y="4343400"/>
            <ns1:ext cx="5486399" cy="4114800"/>
          </ns1:xfrm>
          <ns1:prstGeom prst="rect">
            <ns1:avLst/>
          </ns1:prstGeom>
        </ns0:spPr>
        <ns0:txBody>
          <ns1:bodyPr spcFirstLastPara="1" wrap="square" lIns="91425" tIns="91425" rIns="91425" bIns="91425" anchor="t" anchorCtr="0">
            <ns1:noAutofit/>
          </ns1:bodyPr>
          <ns1:lstStyle/>
          <ns1:p>
            <ns1:pPr marL="0" lvl="0" indent="0" algn="l" rtl="0">
              <ns1:spcBef>
                <ns1:spcPts val="0"/>
              </ns1:spcBef>
              <ns1:spcAft>
                <ns1:spcPts val="0"/>
              </ns1:spcAft>
              <ns1:buNone/>
            </ns1:pPr>
            <ns1:endParaRPr dirty="0"/>
          </ns1:p>
          <ns1:p>
            <ns1:pPr marL="0" lvl="0" indent="0" algn="l" rtl="0">
              <ns1:spcBef>
                <ns1:spcPts val="0"/>
              </ns1:spcBef>
              <ns1:spcAft>
                <ns1:spcPts val="50"/>
              </ns1:spcAft>
              <ns1:buNone/>
            </ns1:pPr>
            <ns1:r>
              <ns1:rPr lang="en-US" dirty="0"/>
              <ns1:t>Connecting Concrete and Abstract: Full Model Progression (12 minutes)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Purpose:</ns1:t>
            </ns1:r>
          </ns1:p>
          <ns1:p>
            <ns1:pPr marL="0" lvl="0" indent="0" algn="l" rtl="0">
              <ns1:spcBef>
                <ns1:spcPts val="0"/>
              </ns1:spcBef>
              <ns1:spcAft>
                <ns1:spcPts val="50"/>
              </ns1:spcAft>
              <ns1:buNone/>
            </ns1:pPr>
            <ns1:r>
              <ns1:rPr lang="en-US" dirty="0"/>
              <ns1:t>Explicitly show the ENTIRE progression from base-ten blocks through area models to the standard algorithm using ONE EXAMPLE. This metacognitive moment is crucial for solidifying understanding.</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50"/>
              </ns1:spcAft>
              <ns1:buNone/>
            </ns1:pPr>
            <ns1:r>
              <ns1:rPr lang="en-US" dirty="0"/>
              <ns1:t>Content Focus: 47 × 36 (revisited with full progression)</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What This Slide Should Contain:</ns1:t>
            </ns1:r>
          </ns1:p>
          <ns1:p>
            <ns1:pPr marL="0" lvl="0" indent="0" algn="l" rtl="0">
              <ns1:spcBef>
                <ns1:spcPts val="0"/>
              </ns1:spcBef>
              <ns1:spcAft>
                <ns1:spcPts val="50"/>
              </ns1:spcAft>
              <ns1:buNone/>
            </ns1:pPr>
            <ns1:r>
              <ns1:rPr lang="en-US" dirty="0"/>
              <ns1:t>1. BASE-TEN BLOCKS representation (top): 4 tens and 7 ones, arranged in a 36-group structure. Visually shows the product.</ns1:t>
            </ns1:r>
          </ns1:p>
          <ns1:p>
            <ns1:pPr marL="0" lvl="0" indent="0" algn="l" rtl="0">
              <ns1:spcBef>
                <ns1:spcPts val="0"/>
              </ns1:spcBef>
              <ns1:spcAft>
                <ns1:spcPts val="50"/>
              </ns1:spcAft>
              <ns1:buNone/>
            </ns1:pPr>
            <ns1:r>
              <ns1:rPr lang="en-US" dirty="0"/>
              <ns1:t>2. AREA MODEL (middle): Rectangle divided into 40×30, 40×6, 7×30, 7×6. Partial products labeled and added.</ns1:t>
            </ns1:r>
          </ns1:p>
          <ns1:p>
            <ns1:pPr marL="0" lvl="0" indent="0" algn="l" rtl="0">
              <ns1:spcBef>
                <ns1:spcPts val="0"/>
              </ns1:spcBef>
              <ns1:spcAft>
                <ns1:spcPts val="50"/>
              </ns1:spcAft>
              <ns1:buNone/>
            </ns1:pPr>
            <ns1:r>
              <ns1:rPr lang="en-US" dirty="0"/>
              <ns1:t>3. STANDARD ALGORITHM (bottom): The vertical notation showing same calculation in compact form.</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Teaching Strategy:</ns1:t>
            </ns1:r>
          </ns1:p>
          <ns1:p>
            <ns1:pPr marL="0" lvl="0" indent="0" algn="l" rtl="0">
              <ns1:spcBef>
                <ns1:spcPts val="0"/>
              </ns1:spcBef>
              <ns1:spcAft>
                <ns1:spcPts val="50"/>
              </ns1:spcAft>
              <ns1:buNone/>
            </ns1:pPr>
            <ns1:r>
              <ns1:rPr lang="en-US" dirty="0"/>
              <ns1:t>- Point to each representation in sequence</ns1:t>
            </ns1:r>
          </ns1:p>
          <ns1:p>
            <ns1:pPr marL="0" lvl="0" indent="0" algn="l" rtl="0">
              <ns1:spcBef>
                <ns1:spcPts val="0"/>
              </ns1:spcBef>
              <ns1:spcAft>
                <ns1:spcPts val="50"/>
              </ns1:spcAft>
              <ns1:buNone/>
            </ns1:pPr>
            <ns1:r>
              <ns1:rPr lang="en-US" dirty="0"/>
              <ns1:t>- Say: "Here we see the SAME multiplication problem, represented three different ways."</ns1:t>
            </ns1:r>
          </ns1:p>
          <ns1:p>
            <ns1:pPr marL="0" lvl="0" indent="0" algn="l" rtl="0">
              <ns1:spcBef>
                <ns1:spcPts val="0"/>
              </ns1:spcBef>
              <ns1:spcAft>
                <ns1:spcPts val="50"/>
              </ns1:spcAft>
              <ns1:buNone/>
            </ns1:pPr>
            <ns1:r>
              <ns1:rPr lang="en-US" dirty="0"/>
              <ns1:t>- "The blocks show us the concrete reality: how many are actually there."</ns1:t>
            </ns1:r>
          </ns1:p>
          <ns1:p>
            <ns1:pPr marL="0" lvl="0" indent="0" algn="l" rtl="0">
              <ns1:spcBef>
                <ns1:spcPts val="0"/>
              </ns1:spcBef>
              <ns1:spcAft>
                <ns1:spcPts val="50"/>
              </ns1:spcAft>
              <ns1:buNone/>
            </ns1:pPr>
            <ns1:r>
              <ns1:rPr lang="en-US" dirty="0"/>
              <ns1:t>- "The area model lets us SEE the partial products before we write them."</ns1:t>
            </ns1:r>
          </ns1:p>
          <ns1:p>
            <ns1:pPr marL="0" lvl="0" indent="0" algn="l" rtl="0">
              <ns1:spcBef>
                <ns1:spcPts val="0"/>
              </ns1:spcBef>
              <ns1:spcAft>
                <ns1:spcPts val="50"/>
              </ns1:spcAft>
              <ns1:buNone/>
            </ns1:pPr>
            <ns1:r>
              <ns1:rPr lang="en-US" dirty="0"/>
              <ns1:t>- "The algorithm is the shorthand—it's the fastest way to write the same calculation."</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Van de Walle's Big Idea:</ns1:t>
            </ns1:r>
          </ns1:p>
          <ns1:p>
            <ns1:pPr marL="0" lvl="0" indent="0" algn="l" rtl="0">
              <ns1:spcBef>
                <ns1:spcPts val="0"/>
              </ns1:spcBef>
              <ns1:spcAft>
                <ns1:spcPts val="50"/>
              </ns1:spcAft>
              <ns1:buNone/>
            </ns1:pPr>
            <ns1:r>
              <ns1:rPr lang="en-US" dirty="0"/>
              <ns1:t>Chapter 13 emphasizes that ALL THREE representations should be available to students. Some students will always prefer to draw an area model or use blocks. That's fine! The standard algorithm is efficient, but it's not superior—it's just different.</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Facilitation Tips:</ns1:t>
            </ns1:r>
          </ns1:p>
          <ns1:p>
            <ns1:pPr marL="0" lvl="0" indent="0" algn="l" rtl="0">
              <ns1:spcBef>
                <ns1:spcPts val="0"/>
              </ns1:spcBef>
              <ns1:spcAft>
                <ns1:spcPts val="50"/>
              </ns1:spcAft>
              <ns1:buNone/>
            </ns1:pPr>
            <ns1:r>
              <ns1:rPr lang="en-US" dirty="0"/>
              <ns1:t>- Use a document camera to show blocks, then draw models, then show notation</ns1:t>
            </ns1:r>
          </ns1:p>
          <ns1:p>
            <ns1:pPr marL="0" lvl="0" indent="0" algn="l" rtl="0">
              <ns1:spcBef>
                <ns1:spcPts val="0"/>
              </ns1:spcBef>
              <ns1:spcAft>
                <ns1:spcPts val="50"/>
              </ns1:spcAft>
              <ns1:buNone/>
            </ns1:pPr>
            <ns1:r>
              <ns1:rPr lang="en-US" dirty="0"/>
              <ns1:t>- Ask students: "What do you notice? Are we doing the SAME math each time?"</ns1:t>
            </ns1:r>
          </ns1:p>
          <ns1:p>
            <ns1:pPr marL="0" lvl="0" indent="0" algn="l" rtl="0">
              <ns1:spcBef>
                <ns1:spcPts val="0"/>
              </ns1:spcBef>
              <ns1:spcAft>
                <ns1:spcPts val="50"/>
              </ns1:spcAft>
              <ns1:buNone/>
            </ns1:pPr>
            <ns1:r>
              <ns1:rPr lang="en-US" dirty="0"/>
              <ns1:t>- Pause and let students see the connections themselves before explaining</ns1:t>
            </ns1:r>
          </ns1:p>
          <ns1:p>
            <ns1:pPr marL="0" lvl="0" indent="0" algn="l" rtl="0">
              <ns1:spcBef>
                <ns1:spcPts val="0"/>
              </ns1:spcBef>
              <ns1:spcAft>
                <ns1:spcPts val="50"/>
              </ns1:spcAft>
              <ns1:buNone/>
            </ns1:pPr>
            <ns1:r>
              <ns1:rPr lang="en-US" dirty="0"/>
              <ns1:t>- Celebrate: "By understanding all these ways, you now see multiplication from multiple angles. You're not just memorizing a trick—you understand what's happening."</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Critical Timing Point:</ns1:t>
            </ns1:r>
          </ns1:p>
          <ns1:p>
            <ns1:pPr marL="0" lvl="0" indent="0" algn="l" rtl="0">
              <ns1:spcBef>
                <ns1:spcPts val="0"/>
              </ns1:spcBef>
              <ns1:spcAft>
                <ns1:spcPts val="50"/>
              </ns1:spcAft>
              <ns1:buNone/>
            </ns1:pPr>
            <ns1:r>
              <ns1:rPr lang="en-US" dirty="0"/>
              <ns1:t>This slide is your opportunity to consolidate learning. Spend time here (12 minutes is justified). Students who leave class understanding these connections will have strong, flexible number sense. Students who only see the algorithm without the models will struggle with more complex problems and real-world applications.</ns1:t>
            </ns1:r>
          </ns1:p>
          <ns1:p>
            <ns1:pPr marL="0" lvl="0" indent="0" algn="l" rtl="0">
              <ns1:spcBef>
                <ns1:spcPts val="0"/>
              </ns1:spcBef>
              <ns1:spcAft>
                <ns1:spcPts val="50"/>
              </ns1:spcAft>
              <ns1:buNone/>
            </ns1:pPr>
            <ns1:r>
              <ns1:rPr lang="en-US" dirty="0"/>
              <ns1:t/>
            </ns1:r>
          </ns1:p>
          <ns1:p>
            <ns1:pPr marL="0" lvl="0" indent="0" algn="l" rtl="0">
              <ns1:spcBef>
                <ns1:spcPts val="0"/>
              </ns1:spcBef>
              <ns1:spcAft>
                <ns1:spcPts val="100"/>
              </ns1:spcAft>
              <ns1:buNone/>
            </ns1:pPr>
            <ns1:r>
              <ns1:rPr lang="en-US" dirty="0" b="1"/>
              <ns1:t>Assessment Opportunity:</ns1:t>
            </ns1:r>
          </ns1:p>
          <ns1:p>
            <ns1:pPr marL="0" lvl="0" indent="0" algn="l" rtl="0">
              <ns1:spcBef>
                <ns1:spcPts val="0"/>
              </ns1:spcBef>
              <ns1:spcAft>
                <ns1:spcPts val="50"/>
              </ns1:spcAft>
              <ns1:buNone/>
            </ns1:pPr>
            <ns1:r>
              <ns1:rPr lang="en-US" dirty="0"/>
              <ns1:t>Watch for students who see the three representations and nod in understanding. These students are ready to fluently use the algorithm. Students who are still confused about the connections may benefit from additional small-group work with models before moving to independent practice.</ns1:t>
            </ns1:r>
          </ns1:p>
          <ns1:p>
            <ns1:pPr marL="0" lvl="0" indent="0" algn="l" rtl="0">
              <ns1:spcBef>
                <ns1:spcPts val="0"/>
              </ns1:spcBef>
              <ns1:spcAft>
                <ns1:spcPts val="50"/>
              </ns1:spcAft>
              <ns1:buNone/>
            </ns1:pPr>
            <ns1:r>
              <ns1:rPr lang="en-US" dirty="0"/>
              <ns1:t/>
            </ns1:r>
          </ns1:p>
        </ns0:txBody>
      </ns0:sp>
      <ns0:sp>
        <ns0:nvSpPr>
          <ns0:cNvPr id="415" name="Google Shape;415;p4:notes">
            <ns1:extLst>
              <ns1:ext uri="{FF2B5EF4-FFF2-40B4-BE49-F238E27FC236}">
                <ns2:creationId id="{2CF36ED6-7038-E01D-04FA-70497F2B23EE}"/>
              </ns1:ext>
            </ns1:extLst>
          </ns0:cNvPr>
          <ns0:cNvSpPr>
            <ns1:spLocks noGrp="1" noRot="1" noChangeAspect="1"/>
          </ns0:cNvSpPr>
          <ns0:nvPr>
            <ns0:ph type="sldImg" idx="2"/>
          </ns0:nvPr>
        </ns0:nvSpPr>
        <ns0:spPr>
          <ns1:xfrm>
            <ns1:off x="381000" y="685800"/>
            <ns1:ext cx="6096000" cy="3429000"/>
          </ns1:xfrm>
          <ns1:custGeom>
            <ns1:avLst/>
            <ns1:gdLst/>
            <ns1:ahLst/>
            <ns1:cxnLst/>
            <ns1:rect l="l" t="t" r="r" b="b"/>
            <ns1:pathLst>
              <ns1:path w="120000" h="120000" extrusionOk="0">
                <ns1:moveTo>
                  <ns1:pt x="0" y="0"/>
                </ns1:moveTo>
                <ns1:lnTo>
                  <ns1:pt x="120000" y="0"/>
                </ns1:lnTo>
                <ns1:lnTo>
                  <ns1:pt x="120000" y="120000"/>
                </ns1:lnTo>
                <ns1:lnTo>
                  <ns1:pt x="0" y="120000"/>
                </ns1:lnTo>
                <ns1:close/>
              </ns1:path>
            </ns1:pathLst>
          </ns1:custGeom>
        </ns0:spPr>
      </ns0:sp>
    </ns0:spTree>
    <ns0:extLst>
      <ns0:ext uri="{BB962C8B-B14F-4D97-AF65-F5344CB8AC3E}">
        <ns3:creationId val="2561936129"/>
      </ns0:ext>
    </ns0:extLst>
  </ns0:cSld>
  <ns0:clrMapOvr>
    <ns1:masterClrMapping/>
  </ns0:clrMapOvr>
</ns0: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100"/>
              </a:spcAft>
              <a:buNone/>
            </a:pPr>
            <a:r>
              <a:rPr lang="en-US" dirty="0" b="1"/>
              <a:t>Video Link (flexible timing, ~5-10 minutes optional)</a:t>
            </a:r>
          </a:p>
          <a:p>
            <a:pPr marL="0" lvl="0" indent="0" algn="l" rtl="0">
              <a:spcBef>
                <a:spcPts val="0"/>
              </a:spcBef>
              <a:spcAft>
                <a:spcPts val="50"/>
              </a:spcAft>
              <a:buNone/>
            </a:pPr>
            <a:r>
              <a:rPr lang="en-US" dirty="0" b="1"/>
              <a:t>Purpose:</a:t>
            </a:r>
          </a:p>
          <a:p>
            <a:pPr marL="0" lvl="0" indent="0" algn="l" rtl="0">
              <a:spcBef>
                <a:spcPts val="0"/>
              </a:spcBef>
              <a:spcAft>
                <a:spcPts val="50"/>
              </a:spcAft>
              <a:buNone/>
            </a:pPr>
            <a:r>
              <a:rPr lang="en-US" dirty="0"/>
              <a:t>Provide an alternative visual explanation of the standard algorithm, or add engagement through multimedia. This can reinforce the teaching or show a different teacher’s explanation.</a:t>
            </a:r>
          </a:p>
          <a:p>
            <a:pPr marL="0" lvl="0" indent="0" algn="l" rtl="0">
              <a:spcBef>
                <a:spcPts val="0"/>
              </a:spcBef>
              <a:spcAft>
                <a:spcPts val="50"/>
              </a:spcAft>
              <a:buNone/>
            </a:pPr>
            <a:r>
              <a:rPr lang="en-US" dirty="0" b="1"/>
              <a:t>How to Use:</a:t>
            </a:r>
          </a:p>
          <a:p>
            <a:pPr marL="0" lvl="0" indent="0" algn="l" rtl="0">
              <a:spcBef>
                <a:spcPts val="0"/>
              </a:spcBef>
              <a:spcAft>
                <a:spcPts val="50"/>
              </a:spcAft>
              <a:buNone/>
            </a:pPr>
            <a:r>
              <a:rPr lang="en-US" dirty="0"/>
              <a:t>- If timing allows and engagement is needed, play the video</a:t>
            </a:r>
          </a:p>
          <a:p>
            <a:pPr marL="0" lvl="0" indent="0" algn="l" rtl="0">
              <a:spcBef>
                <a:spcPts val="0"/>
              </a:spcBef>
              <a:spcAft>
                <a:spcPts val="50"/>
              </a:spcAft>
              <a:buNone/>
            </a:pPr>
            <a:r>
              <a:rPr lang="en-US" dirty="0"/>
              <a:t>- If class is moving quickly and students show strong understanding, SKIP and move to division</a:t>
            </a:r>
          </a:p>
          <a:p>
            <a:pPr marL="0" lvl="0" indent="0" algn="l" rtl="0">
              <a:spcBef>
                <a:spcPts val="0"/>
              </a:spcBef>
              <a:spcAft>
                <a:spcPts val="50"/>
              </a:spcAft>
              <a:buNone/>
            </a:pPr>
            <a:r>
              <a:rPr lang="en-US" dirty="0"/>
              <a:t>- Consider using as homework/asynchronous review instead</a:t>
            </a:r>
          </a:p>
          <a:p>
            <a:pPr marL="0" lvl="0" indent="0" algn="l" rtl="0">
              <a:spcBef>
                <a:spcPts val="0"/>
              </a:spcBef>
              <a:spcAft>
                <a:spcPts val="50"/>
              </a:spcAft>
              <a:buNone/>
            </a:pPr>
            <a:r>
              <a:rPr lang="en-US" dirty="0" b="1"/>
              <a:t>Note:</a:t>
            </a:r>
          </a:p>
          <a:p>
            <a:pPr marL="0" lvl="0" indent="0" algn="l" rtl="0">
              <a:spcBef>
                <a:spcPts val="0"/>
              </a:spcBef>
              <a:spcAft>
                <a:spcPts val="50"/>
              </a:spcAft>
              <a:buNone/>
            </a:pPr>
            <a:r>
              <a:rPr lang="en-US" dirty="0"/>
              <a:t>Before class, verify the video link works. Test audio and video quality. Have a backup explanation ready if the video doesn’t load.</a:t>
            </a:r>
          </a:p>
          <a:p>
            <a:pPr marL="0" lvl="0" indent="0" algn="l" rtl="0">
              <a:spcBef>
                <a:spcPts val="0"/>
              </a:spcBef>
              <a:spcAft>
                <a:spcPts val="0"/>
              </a:spcAft>
              <a:buNone/>
            </a:pPr>
            <a:endParaRPr dirty="0"/>
          </a:p>
        </p:txBody>
      </p:sp>
      <p:sp>
        <p:nvSpPr>
          <p:cNvPr id="415" name="Google Shape;4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2059265"/>
      </p:ext>
    </p:extLst>
  </p:cSld>
  <p:clrMapOvr>
    <a:masterClrMapping/>
  </p:clrMapOvr>
</p:notes>
</file>

<file path=ppt/notesSlides/notesSlide11.xml><?xml version="1.0" encoding="utf-8"?>
<p:notes xmlns:a="http://schemas.openxmlformats.org/drawingml/2006/main" xmlns:p="http://schemas.openxmlformats.org/presentationml/2006/main" xmlns:p14="http://schemas.microsoft.com/office/powerpoint/2010/main" showMasterSp="0" showMasterPhAnim="0">
  <p:cSld>
    <p:spTree>
      <p:nvGrpSpPr>
        <p:cNvPr id="1" name="Shape 413"/>
        <p:cNvGrpSpPr/>
        <p:nvPr/>
      </p:nvGrpSpPr>
      <p:grpSpPr>
        <a:xfrm>
          <a:off x="0" y="0"/>
          <a:ext cx="0" cy="0"/>
          <a:chOff x="0" y="0"/>
          <a:chExt cx="0" cy="0"/>
        </a:xfrm>
      </p:grpSpPr>
      <p:sp>
        <p:nvSpPr>
          <p:cNvPr id="414" name="Google Shape;414;p4: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50"/>
              </a:spcAft>
              <a:buNone/>
            </a:pPr>
            <a:r>
              <a:rPr lang="en-US" dirty="0"/>
              <a:t>Starting with Large Division: Two Types (12 minutes)</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Purpose:</a:t>
            </a:r>
          </a:p>
          <a:p>
            <a:pPr marL="0" lvl="0" indent="0" algn="l" rtl="0">
              <a:spcBef>
                <a:spcPts val="0"/>
              </a:spcBef>
              <a:spcAft>
                <a:spcPts val="50"/>
              </a:spcAft>
              <a:buNone/>
            </a:pPr>
            <a:r>
              <a:rPr lang="en-US" dirty="0"/>
              <a:t>Introduce division at the conceptual level. Students must understand that division has two distinct meanings—sharing and measurement—before seeing any algorithm (Van de Walle Ch. 13).</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SHARING DIVISION (Partitive):</a:t>
            </a:r>
          </a:p>
          <a:p>
            <a:pPr marL="0" lvl="0" indent="0" algn="l" rtl="0">
              <a:spcBef>
                <a:spcPts val="0"/>
              </a:spcBef>
              <a:spcAft>
                <a:spcPts val="50"/>
              </a:spcAft>
              <a:buNone/>
            </a:pPr>
            <a:r>
              <a:rPr lang="en-US" dirty="0"/>
              <a:t>You know the number of groups; you want to find the group size. Example: "24 cookies shared equally among 6 friends. How many each?"</a:t>
            </a:r>
          </a:p>
          <a:p>
            <a:pPr marL="0" lvl="0" indent="0" algn="l" rtl="0">
              <a:spcBef>
                <a:spcPts val="0"/>
              </a:spcBef>
              <a:spcAft>
                <a:spcPts val="50"/>
              </a:spcAft>
              <a:buNone/>
            </a:pPr>
            <a:r>
              <a:rPr lang="en-US" dirty="0"/>
              <a:t>Model: Use base-ten blocks. Make 6 piles, distribute blocks evenly, count what's in one pile.</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MEASUREMENT DIVISION (Quotative):</a:t>
            </a:r>
          </a:p>
          <a:p>
            <a:pPr marL="0" lvl="0" indent="0" algn="l" rtl="0">
              <a:spcBef>
                <a:spcPts val="0"/>
              </a:spcBef>
              <a:spcAft>
                <a:spcPts val="50"/>
              </a:spcAft>
              <a:buNone/>
            </a:pPr>
            <a:r>
              <a:rPr lang="en-US" dirty="0"/>
              <a:t>You know the group size; you want to find the number of groups. Example: "24 cookies. 6 per bag. How many bags?"</a:t>
            </a:r>
          </a:p>
          <a:p>
            <a:pPr marL="0" lvl="0" indent="0" algn="l" rtl="0">
              <a:spcBef>
                <a:spcPts val="0"/>
              </a:spcBef>
              <a:spcAft>
                <a:spcPts val="50"/>
              </a:spcAft>
              <a:buNone/>
            </a:pPr>
            <a:r>
              <a:rPr lang="en-US" dirty="0"/>
              <a:t>Model: Use open arrays or draw groups. Count how many groups of 6 fit into 24.</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Why Both Matter:</a:t>
            </a:r>
          </a:p>
          <a:p>
            <a:pPr marL="0" lvl="0" indent="0" algn="l" rtl="0">
              <a:spcBef>
                <a:spcPts val="0"/>
              </a:spcBef>
              <a:spcAft>
                <a:spcPts val="50"/>
              </a:spcAft>
              <a:buNone/>
            </a:pPr>
            <a:r>
              <a:rPr lang="en-US" dirty="0"/>
              <a:t>Both give 24 ÷ 6 = 4, but the thinking is different. Students who understand both are more flexible problem-solvers.</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Facilitation Tips:</a:t>
            </a:r>
          </a:p>
          <a:p>
            <a:pPr marL="0" lvl="0" indent="0" algn="l" rtl="0">
              <a:spcBef>
                <a:spcPts val="0"/>
              </a:spcBef>
              <a:spcAft>
                <a:spcPts val="50"/>
              </a:spcAft>
              <a:buNone/>
            </a:pPr>
            <a:r>
              <a:rPr lang="en-US" dirty="0"/>
              <a:t>- Use concrete examples from classroom/student life (cookies, pencils, seating arrangements)</a:t>
            </a:r>
          </a:p>
          <a:p>
            <a:pPr marL="0" lvl="0" indent="0" algn="l" rtl="0">
              <a:spcBef>
                <a:spcPts val="0"/>
              </a:spcBef>
              <a:spcAft>
                <a:spcPts val="50"/>
              </a:spcAft>
              <a:buNone/>
            </a:pPr>
            <a:r>
              <a:rPr lang="en-US" dirty="0"/>
              <a:t>- Act out sharing with base-ten blocks (cookies) shared among 4 people</a:t>
            </a:r>
          </a:p>
          <a:p>
            <a:pPr marL="0" lvl="0" indent="0" algn="l" rtl="0">
              <a:spcBef>
                <a:spcPts val="0"/>
              </a:spcBef>
              <a:spcAft>
                <a:spcPts val="50"/>
              </a:spcAft>
              <a:buNone/>
            </a:pPr>
            <a:r>
              <a:rPr lang="en-US" dirty="0"/>
              <a:t>- Use open arrays for measurement: "If each group has 5 blocks, how many complete groups fit in this total?"</a:t>
            </a:r>
          </a:p>
          <a:p>
            <a:pPr marL="0" lvl="0" indent="0" algn="l" rtl="0">
              <a:spcBef>
                <a:spcPts val="0"/>
              </a:spcBef>
              <a:spcAft>
                <a:spcPts val="50"/>
              </a:spcAft>
              <a:buNone/>
            </a:pPr>
            <a:r>
              <a:rPr lang="en-US" dirty="0"/>
              <a:t>- Don't introduce algorithm yet—just build conceptual understanding</a:t>
            </a:r>
          </a:p>
          <a:p>
            <a:pPr marL="0" lvl="0" indent="0" algn="l" rtl="0">
              <a:spcBef>
                <a:spcPts val="0"/>
              </a:spcBef>
              <a:spcAft>
                <a:spcPts val="50"/>
              </a:spcAft>
              <a:buNone/>
            </a:pPr>
            <a:r>
              <a:rPr lang="en-US" dirty="0"/>
              <a:t>- Have students generate their own problems of each type</a:t>
            </a:r>
          </a:p>
          <a:p>
            <a:pPr marL="0" lvl="0" indent="0" algn="l" rtl="0">
              <a:spcBef>
                <a:spcPts val="0"/>
              </a:spcBef>
              <a:spcAft>
                <a:spcPts val="50"/>
              </a:spcAft>
              <a:buNone/>
            </a:pPr>
            <a:r>
              <a:rPr lang="en-US" dirty="0"/>
              <a:t/>
            </a:r>
          </a:p>
        </p:txBody>
      </p:sp>
      <p:sp>
        <p:nvSpPr>
          <p:cNvPr id="415" name="Google Shape;4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val="2692059265"/>
      </p:ext>
    </p:extLst>
  </p:cSld>
  <p:clrMapOvr>
    <a:masterClrMapping/>
  </p:clrMapOvr>
</p:notes>
</file>

<file path=ppt/notesSlides/notesSlide12.xml><?xml version="1.0" encoding="utf-8"?>
<p:notes xmlns:a="http://schemas.openxmlformats.org/drawingml/2006/main" xmlns:p="http://schemas.openxmlformats.org/presentationml/2006/main" xmlns:p14="http://schemas.microsoft.com/office/powerpoint/2010/main" showMasterSp="0" showMasterPhAnim="0">
  <p:cSld>
    <p:spTree>
      <p:nvGrpSpPr>
        <p:cNvPr id="1" name="Shape 413"/>
        <p:cNvGrpSpPr/>
        <p:nvPr/>
      </p:nvGrpSpPr>
      <p:grpSpPr>
        <a:xfrm>
          <a:off x="0" y="0"/>
          <a:ext cx="0" cy="0"/>
          <a:chOff x="0" y="0"/>
          <a:chExt cx="0" cy="0"/>
        </a:xfrm>
      </p:grpSpPr>
      <p:sp>
        <p:nvSpPr>
          <p:cNvPr id="414" name="Google Shape;414;p4: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50"/>
              </a:spcAft>
              <a:buNone/>
            </a:pPr>
            <a:r>
              <a:rPr lang="en-US" dirty="0"/>
              <a:t>Starting with Large Division: Visual Example and Practice (10 minutes)</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Purpose:</a:t>
            </a:r>
          </a:p>
          <a:p>
            <a:pPr marL="0" lvl="0" indent="0" algn="l" rtl="0">
              <a:spcBef>
                <a:spcPts val="0"/>
              </a:spcBef>
              <a:spcAft>
                <a:spcPts val="50"/>
              </a:spcAft>
              <a:buNone/>
            </a:pPr>
            <a:r>
              <a:rPr lang="en-US" dirty="0"/>
              <a:t>Show a concrete/visual example of one division problem using base-ten blocks or open arrays. This bridges conceptual understanding from Slide 11 to more formal representation, still without the algorithm.</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Example Problem: 56 ÷ 4 (sharing model):</a:t>
            </a:r>
          </a:p>
          <a:p>
            <a:pPr marL="0" lvl="0" indent="0" algn="l" rtl="0">
              <a:spcBef>
                <a:spcPts val="0"/>
              </a:spcBef>
              <a:spcAft>
                <a:spcPts val="50"/>
              </a:spcAft>
              <a:buNone/>
            </a:pPr>
            <a:r>
              <a:rPr lang="en-US" dirty="0"/>
              <a:t>- Show 5 tens and 6 ones</a:t>
            </a:r>
          </a:p>
          <a:p>
            <a:pPr marL="0" lvl="0" indent="0" algn="l" rtl="0">
              <a:spcBef>
                <a:spcPts val="0"/>
              </a:spcBef>
              <a:spcAft>
                <a:spcPts val="50"/>
              </a:spcAft>
              <a:buNone/>
            </a:pPr>
            <a:r>
              <a:rPr lang="en-US" dirty="0"/>
              <a:t>- Say: "We're sharing these among 4 people equally. First, can we share the tens equally? Yes, 4 tens go to each person, with 1 ten left over. Now we have 1 ten and 6 ones = 16 ones to share. That's 4 ones per person. So each person gets 1 ten and 4 ones = 14."</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Example Problem: 56 ÷ 4 (measurement model):</a:t>
            </a:r>
          </a:p>
          <a:p>
            <a:pPr marL="0" lvl="0" indent="0" algn="l" rtl="0">
              <a:spcBef>
                <a:spcPts val="0"/>
              </a:spcBef>
              <a:spcAft>
                <a:spcPts val="50"/>
              </a:spcAft>
              <a:buNone/>
            </a:pPr>
            <a:r>
              <a:rPr lang="en-US" dirty="0"/>
              <a:t>- Use an open array or tape diagram</a:t>
            </a:r>
          </a:p>
          <a:p>
            <a:pPr marL="0" lvl="0" indent="0" algn="l" rtl="0">
              <a:spcBef>
                <a:spcPts val="0"/>
              </a:spcBef>
              <a:spcAft>
                <a:spcPts val="50"/>
              </a:spcAft>
              <a:buNone/>
            </a:pPr>
            <a:r>
              <a:rPr lang="en-US" dirty="0"/>
              <a:t>- Show: "We're measuring off groups of 4. How many 4s fit into 56? Let's count..."</a:t>
            </a:r>
          </a:p>
          <a:p>
            <a:pPr marL="0" lvl="0" indent="0" algn="l" rtl="0">
              <a:spcBef>
                <a:spcPts val="0"/>
              </a:spcBef>
              <a:spcAft>
                <a:spcPts val="50"/>
              </a:spcAft>
              <a:buNone/>
            </a:pPr>
            <a:r>
              <a:rPr lang="en-US" dirty="0"/>
              <a:t>- Mark each multiple until reaching 56</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Facilitation Tips:</a:t>
            </a:r>
          </a:p>
          <a:p>
            <a:pPr marL="0" lvl="0" indent="0" algn="l" rtl="0">
              <a:spcBef>
                <a:spcPts val="0"/>
              </a:spcBef>
              <a:spcAft>
                <a:spcPts val="50"/>
              </a:spcAft>
              <a:buNone/>
            </a:pPr>
            <a:r>
              <a:rPr lang="en-US" dirty="0"/>
              <a:t>- Use manipulatives or drawings—NOT abstract notation yet</a:t>
            </a:r>
          </a:p>
          <a:p>
            <a:pPr marL="0" lvl="0" indent="0" algn="l" rtl="0">
              <a:spcBef>
                <a:spcPts val="0"/>
              </a:spcBef>
              <a:spcAft>
                <a:spcPts val="50"/>
              </a:spcAft>
              <a:buNone/>
            </a:pPr>
            <a:r>
              <a:rPr lang="en-US" dirty="0"/>
              <a:t>- Ask students to predict before showing: "How many do you think each person will get?"</a:t>
            </a:r>
          </a:p>
          <a:p>
            <a:pPr marL="0" lvl="0" indent="0" algn="l" rtl="0">
              <a:spcBef>
                <a:spcPts val="0"/>
              </a:spcBef>
              <a:spcAft>
                <a:spcPts val="50"/>
              </a:spcAft>
              <a:buNone/>
            </a:pPr>
            <a:r>
              <a:rPr lang="en-US" dirty="0"/>
              <a:t>- After solving with models, write the notation 56 ÷ 4 = 14, but explain what the 14 means using the blocks</a:t>
            </a:r>
          </a:p>
          <a:p>
            <a:pPr marL="0" lvl="0" indent="0" algn="l" rtl="0">
              <a:spcBef>
                <a:spcPts val="0"/>
              </a:spcBef>
              <a:spcAft>
                <a:spcPts val="50"/>
              </a:spcAft>
              <a:buNone/>
            </a:pPr>
            <a:r>
              <a:rPr lang="en-US" dirty="0"/>
              <a:t>- Transition: "Next time we'll use a faster method called the division algorithm. But understanding what's happening with blocks and models is crucial."</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Assessment:</a:t>
            </a:r>
          </a:p>
          <a:p>
            <a:pPr marL="0" lvl="0" indent="0" algn="l" rtl="0">
              <a:spcBef>
                <a:spcPts val="0"/>
              </a:spcBef>
              <a:spcAft>
                <a:spcPts val="50"/>
              </a:spcAft>
              <a:buNone/>
            </a:pPr>
            <a:r>
              <a:rPr lang="en-US" dirty="0"/>
              <a:t>Watch for students who can explain WHY the answer is 14 using models vs. those just counting. Former are ready for algorithm; latter need more time with models.</a:t>
            </a:r>
          </a:p>
          <a:p>
            <a:pPr marL="0" lvl="0" indent="0" algn="l" rtl="0">
              <a:spcBef>
                <a:spcPts val="0"/>
              </a:spcBef>
              <a:spcAft>
                <a:spcPts val="50"/>
              </a:spcAft>
              <a:buNone/>
            </a:pPr>
            <a:r>
              <a:rPr lang="en-US" dirty="0"/>
              <a:t/>
            </a:r>
          </a:p>
        </p:txBody>
      </p:sp>
      <p:sp>
        <p:nvSpPr>
          <p:cNvPr id="415" name="Google Shape;4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val="2692059265"/>
      </p:ext>
    </p:extLst>
  </p:cSld>
  <p:clrMapOvr>
    <a:masterClrMapping/>
  </p:clrMapOvr>
</p:notes>
</file>

<file path=ppt/notesSlides/notesSlide13.xml><?xml version="1.0" encoding="utf-8"?>
<p:notes xmlns:a="http://schemas.openxmlformats.org/drawingml/2006/main" xmlns:p="http://schemas.openxmlformats.org/presentationml/2006/main" xmlns:p14="http://schemas.microsoft.com/office/powerpoint/2010/main" showMasterSp="0" showMasterPhAnim="0">
  <p:cSld>
    <p:spTree>
      <p:nvGrpSpPr>
        <p:cNvPr id="1" name="Shape 413"/>
        <p:cNvGrpSpPr/>
        <p:nvPr/>
      </p:nvGrpSpPr>
      <p:grpSpPr>
        <a:xfrm>
          <a:off x="0" y="0"/>
          <a:ext cx="0" cy="0"/>
          <a:chOff x="0" y="0"/>
          <a:chExt cx="0" cy="0"/>
        </a:xfrm>
      </p:grpSpPr>
      <p:sp>
        <p:nvSpPr>
          <p:cNvPr id="414" name="Google Shape;414;p4: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50"/>
              </a:spcAft>
              <a:buNone/>
            </a:pPr>
            <a:r>
              <a:rPr lang="en-US" dirty="0"/>
              <a:t>Until Next Time: Closing Remarks and Assignments (2-3 minutes)</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Purpose:</a:t>
            </a:r>
          </a:p>
          <a:p>
            <a:pPr marL="0" lvl="0" indent="0" algn="l" rtl="0">
              <a:spcBef>
                <a:spcPts val="0"/>
              </a:spcBef>
              <a:spcAft>
                <a:spcPts val="50"/>
              </a:spcAft>
              <a:buNone/>
            </a:pPr>
            <a:r>
              <a:rPr lang="en-US" dirty="0"/>
              <a:t>Summarize the day's learning, set expectations for homework/reading, and preview next class.</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What to Cover:</a:t>
            </a:r>
          </a:p>
          <a:p>
            <a:pPr marL="0" lvl="0" indent="0" algn="l" rtl="0">
              <a:spcBef>
                <a:spcPts val="0"/>
              </a:spcBef>
              <a:spcAft>
                <a:spcPts val="100"/>
              </a:spcAft>
              <a:buNone/>
            </a:pPr>
            <a:r>
              <a:rPr lang="en-US" dirty="0" b="1"/>
              <a:t>1. Recap the day's progress:</a:t>
            </a:r>
          </a:p>
          <a:p>
            <a:pPr marL="0" lvl="0" indent="0" algn="l" rtl="0">
              <a:spcBef>
                <a:spcPts val="0"/>
              </a:spcBef>
              <a:spcAft>
                <a:spcPts val="50"/>
              </a:spcAft>
              <a:buNone/>
            </a:pPr>
            <a:r>
              <a:rPr lang="en-US" dirty="0"/>
              <a:t>- "We spent today understanding multiplication from multiple angles: blocks, area models, and the algorithm. Each way helps us see the same math."</a:t>
            </a:r>
          </a:p>
          <a:p>
            <a:pPr marL="0" lvl="0" indent="0" algn="l" rtl="0">
              <a:spcBef>
                <a:spcPts val="0"/>
              </a:spcBef>
              <a:spcAft>
                <a:spcPts val="50"/>
              </a:spcAft>
              <a:buNone/>
            </a:pPr>
            <a:r>
              <a:rPr lang="en-US" dirty="0"/>
              <a:t>- "We also started thinking about division in two ways: sharing and measuring. These two ideas are the foundation for division algorithms."</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2. Reading Assignment:</a:t>
            </a:r>
          </a:p>
          <a:p>
            <a:pPr marL="0" lvl="0" indent="0" algn="l" rtl="0">
              <a:spcBef>
                <a:spcPts val="0"/>
              </a:spcBef>
              <a:spcAft>
                <a:spcPts val="50"/>
              </a:spcAft>
              <a:buNone/>
            </a:pPr>
            <a:r>
              <a:rPr lang="en-US" dirty="0"/>
              <a:t>- Students should finish Van de Walle Chapter 13 (assigned Monday) by next class</a:t>
            </a:r>
          </a:p>
          <a:p>
            <a:pPr marL="0" lvl="0" indent="0" algn="l" rtl="0">
              <a:spcBef>
                <a:spcPts val="0"/>
              </a:spcBef>
              <a:spcAft>
                <a:spcPts val="50"/>
              </a:spcAft>
              <a:buNone/>
            </a:pPr>
            <a:r>
              <a:rPr lang="en-US" dirty="0"/>
              <a:t>- Key sections: Multiplication computation strategies and division concepts</a:t>
            </a:r>
          </a:p>
          <a:p>
            <a:pPr marL="0" lvl="0" indent="0" algn="l" rtl="0">
              <a:spcBef>
                <a:spcPts val="0"/>
              </a:spcBef>
              <a:spcAft>
                <a:spcPts val="50"/>
              </a:spcAft>
              <a:buNone/>
            </a:pPr>
            <a:r>
              <a:rPr lang="en-US" dirty="0"/>
              <a:t>- Emphasize: "The textbook confirms what we did today."</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3. Lesson Analysis Assignment:</a:t>
            </a:r>
          </a:p>
          <a:p>
            <a:pPr marL="0" lvl="0" indent="0" algn="l" rtl="0">
              <a:spcBef>
                <a:spcPts val="0"/>
              </a:spcBef>
              <a:spcAft>
                <a:spcPts val="50"/>
              </a:spcAft>
              <a:buNone/>
            </a:pPr>
            <a:r>
              <a:rPr lang="en-US" dirty="0"/>
              <a:t>- Due: Sunday (before Lesson 3 teaching observation)</a:t>
            </a:r>
          </a:p>
          <a:p>
            <a:pPr marL="0" lvl="0" indent="0" algn="l" rtl="0">
              <a:spcBef>
                <a:spcPts val="0"/>
              </a:spcBef>
              <a:spcAft>
                <a:spcPts val="50"/>
              </a:spcAft>
              <a:buNone/>
            </a:pPr>
            <a:r>
              <a:rPr lang="en-US" dirty="0"/>
              <a:t>- Content: Analyze own or peer's lesson for how well it teaches multiplication/division concepts vs. just procedures</a:t>
            </a:r>
          </a:p>
          <a:p>
            <a:pPr marL="0" lvl="0" indent="0" algn="l" rtl="0">
              <a:spcBef>
                <a:spcPts val="0"/>
              </a:spcBef>
              <a:spcAft>
                <a:spcPts val="50"/>
              </a:spcAft>
              <a:buNone/>
            </a:pPr>
            <a:r>
              <a:rPr lang="en-US" dirty="0"/>
              <a:t>- Guide: Identify—Are models used? Do students understand WHY the algorithm works, or just HOW to use it?</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4. Looking Ahead:</a:t>
            </a:r>
          </a:p>
          <a:p>
            <a:pPr marL="0" lvl="0" indent="0" algn="l" rtl="0">
              <a:spcBef>
                <a:spcPts val="0"/>
              </a:spcBef>
              <a:spcAft>
                <a:spcPts val="50"/>
              </a:spcAft>
              <a:buNone/>
            </a:pPr>
            <a:r>
              <a:rPr lang="en-US" dirty="0"/>
              <a:t>- Next class (Week 12, Friday): More division practice, possibly starting division algorithm</a:t>
            </a:r>
          </a:p>
          <a:p>
            <a:pPr marL="0" lvl="0" indent="0" algn="l" rtl="0">
              <a:spcBef>
                <a:spcPts val="0"/>
              </a:spcBef>
              <a:spcAft>
                <a:spcPts val="50"/>
              </a:spcAft>
              <a:buNone/>
            </a:pPr>
            <a:r>
              <a:rPr lang="en-US" dirty="0"/>
              <a:t>- Preview: "We'll use the same progression—blocks, models, algorithm—for division as we did for multiplication."</a:t>
            </a:r>
          </a:p>
          <a:p>
            <a:pPr marL="0" lvl="0" indent="0" algn="l" rtl="0">
              <a:spcBef>
                <a:spcPts val="0"/>
              </a:spcBef>
              <a:spcAft>
                <a:spcPts val="50"/>
              </a:spcAft>
              <a:buNone/>
            </a:pPr>
            <a:r>
              <a:rPr lang="en-US" dirty="0"/>
              <a:t>- Reminder: "Keep thinking about how YOU would teach this to your future students."</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Facilitation Tips:</a:t>
            </a:r>
          </a:p>
          <a:p>
            <a:pPr marL="0" lvl="0" indent="0" algn="l" rtl="0">
              <a:spcBef>
                <a:spcPts val="0"/>
              </a:spcBef>
              <a:spcAft>
                <a:spcPts val="50"/>
              </a:spcAft>
              <a:buNone/>
            </a:pPr>
            <a:r>
              <a:rPr lang="en-US" dirty="0"/>
              <a:t>- Write reading and due dates on the board/in course notes</a:t>
            </a:r>
          </a:p>
          <a:p>
            <a:pPr marL="0" lvl="0" indent="0" algn="l" rtl="0">
              <a:spcBef>
                <a:spcPts val="0"/>
              </a:spcBef>
              <a:spcAft>
                <a:spcPts val="50"/>
              </a:spcAft>
              <a:buNone/>
            </a:pPr>
            <a:r>
              <a:rPr lang="en-US" dirty="0"/>
              <a:t>- Emphasize the lesson analysis: "As teacher-candidates, you're learning not just the math, but how to TEACH the math."</a:t>
            </a:r>
          </a:p>
          <a:p>
            <a:pPr marL="0" lvl="0" indent="0" algn="l" rtl="0">
              <a:spcBef>
                <a:spcPts val="0"/>
              </a:spcBef>
              <a:spcAft>
                <a:spcPts val="50"/>
              </a:spcAft>
              <a:buNone/>
            </a:pPr>
            <a:r>
              <a:rPr lang="en-US" dirty="0"/>
              <a:t>- If time, ask: "What was the most helpful representation for you today—blocks, area models, or the algorithm? Why?"</a:t>
            </a:r>
          </a:p>
          <a:p>
            <a:pPr marL="0" lvl="0" indent="0" algn="l" rtl="0">
              <a:spcBef>
                <a:spcPts val="0"/>
              </a:spcBef>
              <a:spcAft>
                <a:spcPts val="50"/>
              </a:spcAft>
              <a:buNone/>
            </a:pPr>
            <a:r>
              <a:rPr lang="en-US" dirty="0"/>
              <a:t/>
            </a:r>
          </a:p>
          <a:p>
            <a:pPr marL="0" lvl="0" indent="0" algn="l" rtl="0">
              <a:spcBef>
                <a:spcPts val="0"/>
              </a:spcBef>
              <a:spcAft>
                <a:spcPts val="100"/>
              </a:spcAft>
              <a:buNone/>
            </a:pPr>
            <a:r>
              <a:rPr lang="en-US" dirty="0" b="1"/>
              <a:t>Closing Thought:</a:t>
            </a:r>
          </a:p>
          <a:p>
            <a:pPr marL="0" lvl="0" indent="0" algn="l" rtl="0">
              <a:spcBef>
                <a:spcPts val="0"/>
              </a:spcBef>
              <a:spcAft>
                <a:spcPts val="50"/>
              </a:spcAft>
              <a:buNone/>
            </a:pPr>
            <a:r>
              <a:rPr lang="en-US" dirty="0"/>
              <a:t>"Understanding math deeply makes you a better teacher. Today, you experienced multiplication in multiple ways. Think about your students—they might prefer different representations. The more ways you can show them, the more students will understand."</a:t>
            </a:r>
          </a:p>
          <a:p>
            <a:pPr marL="0" lvl="0" indent="0" algn="l" rtl="0">
              <a:spcBef>
                <a:spcPts val="0"/>
              </a:spcBef>
              <a:spcAft>
                <a:spcPts val="50"/>
              </a:spcAft>
              <a:buNone/>
            </a:pPr>
            <a:r>
              <a:rPr lang="en-US" dirty="0"/>
              <a:t/>
            </a:r>
          </a:p>
        </p:txBody>
      </p:sp>
      <p:sp>
        <p:nvSpPr>
          <p:cNvPr id="415" name="Google Shape;4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val="2692059265"/>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B5A5-6610-F440-A82E-9E4DF92400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ADFEFD-1D1B-3649-A6A5-6EE1CF426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D0851F-5684-894D-8992-11447775F0EA}"/>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72711E46-05B4-9844-8201-DDCA7C6EDF5E}"/>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604FF77B-91F6-EB4D-ABA8-B708435AD865}"/>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574100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57346-25EE-664D-BFFA-13A66364B6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C19C9B-7746-A74B-8260-C06F7E0CE8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84721-E2B5-4B42-918A-2B241D5FF557}"/>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5A000498-31A7-A84E-B2F6-F0CA5904AC96}"/>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0E800F88-FFF9-684E-9A0C-7EDFD3F638B9}"/>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3874218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5866F-D2D8-FC4C-89CA-24D1888ECD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FFAC02-9128-2D49-9E63-30DF770516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707442-4C46-3042-AD96-5F43D152DE29}"/>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798C9B2D-26FA-B042-9230-0B8F947C128B}"/>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362337BC-D9C1-E345-B486-F030CDEDE91F}"/>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3434628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31E9-E12A-CD49-9A83-4CF4602219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6E259C-8D35-6F44-AE49-8E2A03678E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46494F-A8E8-194C-A478-20A7903BFB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E9F76F-DB7F-B140-ABF9-2FEA73DA84B1}"/>
              </a:ext>
            </a:extLst>
          </p:cNvPr>
          <p:cNvSpPr>
            <a:spLocks noGrp="1"/>
          </p:cNvSpPr>
          <p:nvPr>
            <p:ph type="dt" sz="half" idx="10"/>
          </p:nvPr>
        </p:nvSpPr>
        <p:spPr/>
        <p:txBody>
          <a:bodyPr/>
          <a:lstStyle/>
          <a:p>
            <a:r>
              <a:rPr lang="en-US" dirty="0"/>
              <a:t>3/28/2022</a:t>
            </a:r>
          </a:p>
        </p:txBody>
      </p:sp>
      <p:sp>
        <p:nvSpPr>
          <p:cNvPr id="6" name="Footer Placeholder 5">
            <a:extLst>
              <a:ext uri="{FF2B5EF4-FFF2-40B4-BE49-F238E27FC236}">
                <a16:creationId xmlns:a16="http://schemas.microsoft.com/office/drawing/2014/main" id="{DDF79C6F-FDB4-D546-BC11-4E653D39A181}"/>
              </a:ext>
            </a:extLst>
          </p:cNvPr>
          <p:cNvSpPr>
            <a:spLocks noGrp="1"/>
          </p:cNvSpPr>
          <p:nvPr>
            <p:ph type="ftr" sz="quarter" idx="11"/>
          </p:nvPr>
        </p:nvSpPr>
        <p:spPr/>
        <p:txBody>
          <a:bodyPr/>
          <a:lstStyle/>
          <a:p>
            <a:r>
              <a:rPr lang="en-US" dirty="0"/>
              <a:t>E343 Spring 2022</a:t>
            </a:r>
          </a:p>
        </p:txBody>
      </p:sp>
      <p:sp>
        <p:nvSpPr>
          <p:cNvPr id="7" name="Slide Number Placeholder 6">
            <a:extLst>
              <a:ext uri="{FF2B5EF4-FFF2-40B4-BE49-F238E27FC236}">
                <a16:creationId xmlns:a16="http://schemas.microsoft.com/office/drawing/2014/main" id="{F5BC77D8-4DB6-1045-B67C-8ED81B81B4CB}"/>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2943745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1CFC0-70D2-A247-8026-E560715136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00CB93-AAE7-3149-83C3-8396CD973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ADDF49-82C0-B542-BD3E-95AD145F4A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432A2F-6671-8F4A-85C3-059E02E087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D1DACE-4D9F-8940-B1A9-2839FD2A89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02A035-4608-2746-A1DB-AF8D6835C988}"/>
              </a:ext>
            </a:extLst>
          </p:cNvPr>
          <p:cNvSpPr>
            <a:spLocks noGrp="1"/>
          </p:cNvSpPr>
          <p:nvPr>
            <p:ph type="dt" sz="half" idx="10"/>
          </p:nvPr>
        </p:nvSpPr>
        <p:spPr/>
        <p:txBody>
          <a:bodyPr/>
          <a:lstStyle/>
          <a:p>
            <a:r>
              <a:rPr lang="en-US" dirty="0"/>
              <a:t>3/28/2022</a:t>
            </a:r>
          </a:p>
        </p:txBody>
      </p:sp>
      <p:sp>
        <p:nvSpPr>
          <p:cNvPr id="8" name="Footer Placeholder 7">
            <a:extLst>
              <a:ext uri="{FF2B5EF4-FFF2-40B4-BE49-F238E27FC236}">
                <a16:creationId xmlns:a16="http://schemas.microsoft.com/office/drawing/2014/main" id="{9C859144-23A8-C448-B74A-082853CBA148}"/>
              </a:ext>
            </a:extLst>
          </p:cNvPr>
          <p:cNvSpPr>
            <a:spLocks noGrp="1"/>
          </p:cNvSpPr>
          <p:nvPr>
            <p:ph type="ftr" sz="quarter" idx="11"/>
          </p:nvPr>
        </p:nvSpPr>
        <p:spPr/>
        <p:txBody>
          <a:bodyPr/>
          <a:lstStyle/>
          <a:p>
            <a:r>
              <a:rPr lang="en-US" dirty="0"/>
              <a:t>E343 Spring 2022</a:t>
            </a:r>
          </a:p>
        </p:txBody>
      </p:sp>
      <p:sp>
        <p:nvSpPr>
          <p:cNvPr id="9" name="Slide Number Placeholder 8">
            <a:extLst>
              <a:ext uri="{FF2B5EF4-FFF2-40B4-BE49-F238E27FC236}">
                <a16:creationId xmlns:a16="http://schemas.microsoft.com/office/drawing/2014/main" id="{39375412-BA3E-F74D-92D6-DD8D60F5A9E2}"/>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1544766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8BD49-D782-7541-9DB9-F0CA7E093D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A363C7-5061-0844-A37F-E8522FAA3762}"/>
              </a:ext>
            </a:extLst>
          </p:cNvPr>
          <p:cNvSpPr>
            <a:spLocks noGrp="1"/>
          </p:cNvSpPr>
          <p:nvPr>
            <p:ph type="dt" sz="half" idx="10"/>
          </p:nvPr>
        </p:nvSpPr>
        <p:spPr/>
        <p:txBody>
          <a:bodyPr/>
          <a:lstStyle/>
          <a:p>
            <a:r>
              <a:rPr lang="en-US" dirty="0"/>
              <a:t>3/28/2022</a:t>
            </a:r>
          </a:p>
        </p:txBody>
      </p:sp>
      <p:sp>
        <p:nvSpPr>
          <p:cNvPr id="4" name="Footer Placeholder 3">
            <a:extLst>
              <a:ext uri="{FF2B5EF4-FFF2-40B4-BE49-F238E27FC236}">
                <a16:creationId xmlns:a16="http://schemas.microsoft.com/office/drawing/2014/main" id="{52E7F45F-4384-234A-8559-A95A4DC67C19}"/>
              </a:ext>
            </a:extLst>
          </p:cNvPr>
          <p:cNvSpPr>
            <a:spLocks noGrp="1"/>
          </p:cNvSpPr>
          <p:nvPr>
            <p:ph type="ftr" sz="quarter" idx="11"/>
          </p:nvPr>
        </p:nvSpPr>
        <p:spPr/>
        <p:txBody>
          <a:bodyPr/>
          <a:lstStyle/>
          <a:p>
            <a:r>
              <a:rPr lang="en-US" dirty="0"/>
              <a:t>E343 Spring 2022</a:t>
            </a:r>
          </a:p>
        </p:txBody>
      </p:sp>
      <p:sp>
        <p:nvSpPr>
          <p:cNvPr id="5" name="Slide Number Placeholder 4">
            <a:extLst>
              <a:ext uri="{FF2B5EF4-FFF2-40B4-BE49-F238E27FC236}">
                <a16:creationId xmlns:a16="http://schemas.microsoft.com/office/drawing/2014/main" id="{C85AE6EA-6C0A-D743-8076-C628ABC41725}"/>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3706606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53E062-F611-0048-BE68-1C81EC853B4E}"/>
              </a:ext>
            </a:extLst>
          </p:cNvPr>
          <p:cNvSpPr>
            <a:spLocks noGrp="1"/>
          </p:cNvSpPr>
          <p:nvPr>
            <p:ph type="dt" sz="half" idx="10"/>
          </p:nvPr>
        </p:nvSpPr>
        <p:spPr/>
        <p:txBody>
          <a:bodyPr/>
          <a:lstStyle/>
          <a:p>
            <a:r>
              <a:rPr lang="en-US" dirty="0"/>
              <a:t>3/28/2022</a:t>
            </a:r>
          </a:p>
        </p:txBody>
      </p:sp>
      <p:sp>
        <p:nvSpPr>
          <p:cNvPr id="3" name="Footer Placeholder 2">
            <a:extLst>
              <a:ext uri="{FF2B5EF4-FFF2-40B4-BE49-F238E27FC236}">
                <a16:creationId xmlns:a16="http://schemas.microsoft.com/office/drawing/2014/main" id="{C7F5B87D-D734-9449-B1BD-1FE387A70BB8}"/>
              </a:ext>
            </a:extLst>
          </p:cNvPr>
          <p:cNvSpPr>
            <a:spLocks noGrp="1"/>
          </p:cNvSpPr>
          <p:nvPr>
            <p:ph type="ftr" sz="quarter" idx="11"/>
          </p:nvPr>
        </p:nvSpPr>
        <p:spPr/>
        <p:txBody>
          <a:bodyPr/>
          <a:lstStyle/>
          <a:p>
            <a:r>
              <a:rPr lang="en-US" dirty="0"/>
              <a:t>E343 Spring 2022</a:t>
            </a:r>
          </a:p>
        </p:txBody>
      </p:sp>
      <p:sp>
        <p:nvSpPr>
          <p:cNvPr id="4" name="Slide Number Placeholder 3">
            <a:extLst>
              <a:ext uri="{FF2B5EF4-FFF2-40B4-BE49-F238E27FC236}">
                <a16:creationId xmlns:a16="http://schemas.microsoft.com/office/drawing/2014/main" id="{B304C09E-FD10-1446-AD9C-800881CE49F0}"/>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4192229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0687-C53E-AA4C-9731-E68A5FB2D9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70E3B4-5092-C64B-A636-DEEB8A8AD7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B6C7A0-C5BD-B04A-B18B-33CEB3B3EA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05BB78-C902-6849-944F-0F6302F5DE69}"/>
              </a:ext>
            </a:extLst>
          </p:cNvPr>
          <p:cNvSpPr>
            <a:spLocks noGrp="1"/>
          </p:cNvSpPr>
          <p:nvPr>
            <p:ph type="dt" sz="half" idx="10"/>
          </p:nvPr>
        </p:nvSpPr>
        <p:spPr/>
        <p:txBody>
          <a:bodyPr/>
          <a:lstStyle/>
          <a:p>
            <a:r>
              <a:rPr lang="en-US" dirty="0"/>
              <a:t>3/28/2022</a:t>
            </a:r>
          </a:p>
        </p:txBody>
      </p:sp>
      <p:sp>
        <p:nvSpPr>
          <p:cNvPr id="6" name="Footer Placeholder 5">
            <a:extLst>
              <a:ext uri="{FF2B5EF4-FFF2-40B4-BE49-F238E27FC236}">
                <a16:creationId xmlns:a16="http://schemas.microsoft.com/office/drawing/2014/main" id="{C510EA03-D485-7745-B058-09EDA7835C85}"/>
              </a:ext>
            </a:extLst>
          </p:cNvPr>
          <p:cNvSpPr>
            <a:spLocks noGrp="1"/>
          </p:cNvSpPr>
          <p:nvPr>
            <p:ph type="ftr" sz="quarter" idx="11"/>
          </p:nvPr>
        </p:nvSpPr>
        <p:spPr/>
        <p:txBody>
          <a:bodyPr/>
          <a:lstStyle/>
          <a:p>
            <a:r>
              <a:rPr lang="en-US" dirty="0"/>
              <a:t>E343 Spring 2022</a:t>
            </a:r>
          </a:p>
        </p:txBody>
      </p:sp>
      <p:sp>
        <p:nvSpPr>
          <p:cNvPr id="7" name="Slide Number Placeholder 6">
            <a:extLst>
              <a:ext uri="{FF2B5EF4-FFF2-40B4-BE49-F238E27FC236}">
                <a16:creationId xmlns:a16="http://schemas.microsoft.com/office/drawing/2014/main" id="{CD52CFED-9FCD-5F44-976A-8761D696E82D}"/>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4213529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870CA-6731-DA4D-825D-7074CD872A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C239BE-C371-CB48-8694-D316D549D0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929C7A-8419-5A45-8768-46F7859A9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82B32-C92B-1D45-B966-0D3A3C6FA820}"/>
              </a:ext>
            </a:extLst>
          </p:cNvPr>
          <p:cNvSpPr>
            <a:spLocks noGrp="1"/>
          </p:cNvSpPr>
          <p:nvPr>
            <p:ph type="dt" sz="half" idx="10"/>
          </p:nvPr>
        </p:nvSpPr>
        <p:spPr/>
        <p:txBody>
          <a:bodyPr/>
          <a:lstStyle/>
          <a:p>
            <a:r>
              <a:rPr lang="en-US" dirty="0"/>
              <a:t>3/28/2022</a:t>
            </a:r>
          </a:p>
        </p:txBody>
      </p:sp>
      <p:sp>
        <p:nvSpPr>
          <p:cNvPr id="6" name="Footer Placeholder 5">
            <a:extLst>
              <a:ext uri="{FF2B5EF4-FFF2-40B4-BE49-F238E27FC236}">
                <a16:creationId xmlns:a16="http://schemas.microsoft.com/office/drawing/2014/main" id="{91835A67-5D2E-FC44-BB53-FB8058661778}"/>
              </a:ext>
            </a:extLst>
          </p:cNvPr>
          <p:cNvSpPr>
            <a:spLocks noGrp="1"/>
          </p:cNvSpPr>
          <p:nvPr>
            <p:ph type="ftr" sz="quarter" idx="11"/>
          </p:nvPr>
        </p:nvSpPr>
        <p:spPr/>
        <p:txBody>
          <a:bodyPr/>
          <a:lstStyle/>
          <a:p>
            <a:r>
              <a:rPr lang="en-US" dirty="0"/>
              <a:t>E343 Spring 2022</a:t>
            </a:r>
          </a:p>
        </p:txBody>
      </p:sp>
      <p:sp>
        <p:nvSpPr>
          <p:cNvPr id="7" name="Slide Number Placeholder 6">
            <a:extLst>
              <a:ext uri="{FF2B5EF4-FFF2-40B4-BE49-F238E27FC236}">
                <a16:creationId xmlns:a16="http://schemas.microsoft.com/office/drawing/2014/main" id="{226F4661-8E7A-7C48-9CC0-A838008CD1A4}"/>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2630265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DD39-3764-7047-BCB9-770FEDDCD1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21E39D-BB75-FB41-925F-A50B2744A8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1E583B-D62D-1645-A1BC-D4A12DDD519D}"/>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04F87A39-B86F-534E-807E-A5E4120476B6}"/>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8771AB84-668F-8E45-BC51-010E075BD83C}"/>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4104013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DBB410-7282-D843-8749-7D34738E9B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6BF209-FBEA-7A40-98DB-0FCE66C95E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6BCAE-64D8-224F-B3DB-DE5B09841E01}"/>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7F779A90-1849-1F46-A0E6-3038D7FD9B73}"/>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EE05D28A-C0A6-DE4C-BC08-6399A68F6AA9}"/>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2185342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53"/>
        <p:cNvGrpSpPr/>
        <p:nvPr/>
      </p:nvGrpSpPr>
      <p:grpSpPr>
        <a:xfrm>
          <a:off x="0" y="0"/>
          <a:ext cx="0" cy="0"/>
          <a:chOff x="0" y="0"/>
          <a:chExt cx="0" cy="0"/>
        </a:xfrm>
      </p:grpSpPr>
      <p:sp>
        <p:nvSpPr>
          <p:cNvPr id="54" name="Google Shape;54;p32"/>
          <p:cNvSpPr txBox="1">
            <a:spLocks noGrp="1"/>
          </p:cNvSpPr>
          <p:nvPr>
            <p:ph type="title"/>
          </p:nvPr>
        </p:nvSpPr>
        <p:spPr>
          <a:xfrm>
            <a:off x="609600" y="215372"/>
            <a:ext cx="10972800" cy="109727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5" name="Google Shape;55;p32"/>
          <p:cNvSpPr txBox="1">
            <a:spLocks noGrp="1"/>
          </p:cNvSpPr>
          <p:nvPr>
            <p:ph type="body" idx="1"/>
          </p:nvPr>
        </p:nvSpPr>
        <p:spPr>
          <a:xfrm>
            <a:off x="609600" y="1600201"/>
            <a:ext cx="10972800" cy="2163763"/>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100000"/>
              </a:lnSpc>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100000"/>
              </a:lnSpc>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100000"/>
              </a:lnSpc>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100000"/>
              </a:lnSpc>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6" name="Google Shape;56;p32"/>
          <p:cNvSpPr txBox="1">
            <a:spLocks noGrp="1"/>
          </p:cNvSpPr>
          <p:nvPr>
            <p:ph type="body" idx="2"/>
          </p:nvPr>
        </p:nvSpPr>
        <p:spPr>
          <a:xfrm>
            <a:off x="609600" y="3962401"/>
            <a:ext cx="10972800" cy="2163763"/>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100000"/>
              </a:lnSpc>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100000"/>
              </a:lnSpc>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100000"/>
              </a:lnSpc>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100000"/>
              </a:lnSpc>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7" name="Google Shape;57;p32"/>
          <p:cNvSpPr txBox="1">
            <a:spLocks noGrp="1"/>
          </p:cNvSpPr>
          <p:nvPr>
            <p:ph type="ftr" idx="11"/>
          </p:nvPr>
        </p:nvSpPr>
        <p:spPr>
          <a:xfrm>
            <a:off x="125293" y="6172200"/>
            <a:ext cx="1146047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8" name="Google Shape;58;p32"/>
          <p:cNvSpPr txBox="1">
            <a:spLocks noGrp="1"/>
          </p:cNvSpPr>
          <p:nvPr>
            <p:ph type="dt" idx="10"/>
          </p:nvPr>
        </p:nvSpPr>
        <p:spPr>
          <a:xfrm>
            <a:off x="8447617" y="113072"/>
            <a:ext cx="28447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9" name="Google Shape;59;p32"/>
          <p:cNvSpPr txBox="1">
            <a:spLocks noGrp="1"/>
          </p:cNvSpPr>
          <p:nvPr>
            <p:ph type="sldNum" idx="12"/>
          </p:nvPr>
        </p:nvSpPr>
        <p:spPr>
          <a:xfrm>
            <a:off x="11292415" y="113072"/>
            <a:ext cx="735711"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185473549"/>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F86FDD-8B08-5041-AE7A-F91C4C602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81EFFB-5131-E642-A8A6-C08A774B3A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6652BB-E44C-C843-9865-ABB4201A83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3/28/2022</a:t>
            </a:r>
          </a:p>
        </p:txBody>
      </p:sp>
      <p:sp>
        <p:nvSpPr>
          <p:cNvPr id="5" name="Footer Placeholder 4">
            <a:extLst>
              <a:ext uri="{FF2B5EF4-FFF2-40B4-BE49-F238E27FC236}">
                <a16:creationId xmlns:a16="http://schemas.microsoft.com/office/drawing/2014/main" id="{F19E6CE6-A7F6-5647-8DC8-7F500F45E6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E343 Spring 2022</a:t>
            </a:r>
          </a:p>
        </p:txBody>
      </p:sp>
      <p:sp>
        <p:nvSpPr>
          <p:cNvPr id="6" name="Slide Number Placeholder 5">
            <a:extLst>
              <a:ext uri="{FF2B5EF4-FFF2-40B4-BE49-F238E27FC236}">
                <a16:creationId xmlns:a16="http://schemas.microsoft.com/office/drawing/2014/main" id="{B05A4FD1-3D51-7646-8EF1-AAA2BD5448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776D5-2F1F-AF4D-ADBD-1B3DDD23E66C}" type="slidenum">
              <a:rPr lang="en-US" smtClean="0"/>
              <a:t>‹#›</a:t>
            </a:fld>
            <a:endParaRPr lang="en-US"/>
          </a:p>
        </p:txBody>
      </p:sp>
    </p:spTree>
    <p:extLst>
      <p:ext uri="{BB962C8B-B14F-4D97-AF65-F5344CB8AC3E}">
        <p14:creationId xmlns:p14="http://schemas.microsoft.com/office/powerpoint/2010/main" val="32289863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jpg"/></Relationships>
</file>

<file path=ppt/slides/_rels/slide8.xml.rels><?xml version="1.0" encoding="UTF-8"?><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Relationships xmlns="http://schemas.openxmlformats.org/package/2006/relationships"><Relationship Id="rId3" Type="http://schemas.openxmlformats.org/officeDocument/2006/relationships/hyperlink" Target="https://iu.mediaspace.kaltura.com/media/t/1_w4f7teg1" TargetMode="Externa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2F767A1-1B98-CB53-B2CA-50D0D99963C4}"/>
              </a:ext>
            </a:extLst>
          </p:cNvPr>
          <p:cNvSpPr>
            <a:spLocks noGrp="1"/>
          </p:cNvSpPr>
          <p:nvPr>
            <p:ph type="ctrTitle"/>
          </p:nvPr>
        </p:nvSpPr>
        <p:spPr>
          <a:xfrm>
            <a:off x="3315031" y="1380754"/>
            <a:ext cx="5561938" cy="2513516"/>
          </a:xfrm>
        </p:spPr>
        <p:txBody>
          <a:bodyPr>
            <a:normAutofit/>
          </a:bodyPr>
          <a:lstStyle/>
          <a:p>
            <a:r>
              <a:rPr lang="en-US" dirty="0"/>
              <a:t>E343: Elem Math Methods</a:t>
            </a:r>
          </a:p>
        </p:txBody>
      </p:sp>
      <p:sp>
        <p:nvSpPr>
          <p:cNvPr id="3" name="Subtitle 2">
            <a:extLst>
              <a:ext uri="{FF2B5EF4-FFF2-40B4-BE49-F238E27FC236}">
                <a16:creationId xmlns:a16="http://schemas.microsoft.com/office/drawing/2014/main" id="{1E649EE5-311C-1A03-ED0F-433150488738}"/>
              </a:ext>
            </a:extLst>
          </p:cNvPr>
          <p:cNvSpPr>
            <a:spLocks noGrp="1"/>
          </p:cNvSpPr>
          <p:nvPr>
            <p:ph type="subTitle" idx="1"/>
          </p:nvPr>
        </p:nvSpPr>
        <p:spPr>
          <a:xfrm>
            <a:off x="3315031" y="4076802"/>
            <a:ext cx="5561938" cy="1534587"/>
          </a:xfrm>
        </p:spPr>
        <p:txBody>
          <a:bodyPr>
            <a:normAutofit/>
          </a:bodyPr>
          <a:lstStyle/>
          <a:p>
            <a:r>
              <a:rPr lang="en-US" sz="2600" dirty="0"/>
              <a:t>Week 12, Wednesday</a:t>
            </a:r>
          </a:p>
          <a:p>
            <a:endParaRPr lang="en-US" sz="2600" dirty="0"/>
          </a:p>
          <a:p>
            <a:r>
              <a:rPr lang="en-US" sz="2600" dirty="0"/>
              <a:t>Reading: No new</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8830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F8FE29-332F-0F00-CE39-78D609D79799}"/>
              </a:ext>
            </a:extLst>
          </p:cNvPr>
          <p:cNvSpPr>
            <a:spLocks noGrp="1"/>
          </p:cNvSpPr>
          <p:nvPr>
            <p:ph type="title"/>
          </p:nvPr>
        </p:nvSpPr>
        <p:spPr>
          <a:xfrm>
            <a:off x="686834" y="591344"/>
            <a:ext cx="3200400" cy="5585619"/>
          </a:xfrm>
        </p:spPr>
        <p:txBody>
          <a:bodyPr>
            <a:normAutofit/>
          </a:bodyPr>
          <a:lstStyle/>
          <a:p>
            <a:r>
              <a:rPr lang="en-US">
                <a:solidFill>
                  <a:srgbClr val="FFFFFF"/>
                </a:solidFill>
              </a:rPr>
              <a:t>Agenda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FAB6EBF-A18D-CC29-3176-B51CD1102E1E}"/>
              </a:ext>
            </a:extLst>
          </p:cNvPr>
          <p:cNvSpPr>
            <a:spLocks noGrp="1"/>
          </p:cNvSpPr>
          <p:nvPr>
            <p:ph idx="1"/>
          </p:nvPr>
        </p:nvSpPr>
        <p:spPr>
          <a:xfrm>
            <a:off x="4447308" y="591344"/>
            <a:ext cx="6906491" cy="5585619"/>
          </a:xfrm>
        </p:spPr>
        <p:txBody>
          <a:bodyPr anchor="ctr">
            <a:normAutofit/>
          </a:bodyPr>
          <a:lstStyle/>
          <a:p>
            <a:r>
              <a:rPr lang="en-US" sz="2800" dirty="0"/>
              <a:t>Continuing work on large multiplication</a:t>
            </a:r>
          </a:p>
          <a:p>
            <a:r>
              <a:rPr lang="en-US" dirty="0"/>
              <a:t>Unpacking the multiplication algorithm for large numbers</a:t>
            </a:r>
          </a:p>
          <a:p>
            <a:r>
              <a:rPr lang="en-US" sz="2800" dirty="0"/>
              <a:t>Starting on large division</a:t>
            </a:r>
          </a:p>
        </p:txBody>
      </p:sp>
    </p:spTree>
    <p:extLst>
      <p:ext uri="{BB962C8B-B14F-4D97-AF65-F5344CB8AC3E}">
        <p14:creationId xmlns:p14="http://schemas.microsoft.com/office/powerpoint/2010/main" val="632670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6">
          <a:extLst>
            <a:ext uri="{FF2B5EF4-FFF2-40B4-BE49-F238E27FC236}">
              <a16:creationId xmlns:a16="http://schemas.microsoft.com/office/drawing/2014/main" id="{186D1729-B669-6F32-F290-CE862546D783}"/>
            </a:ext>
          </a:extLst>
        </p:cNvPr>
        <p:cNvGrpSpPr/>
        <p:nvPr/>
      </p:nvGrpSpPr>
      <p:grpSpPr>
        <a:xfrm>
          <a:off x="0" y="0"/>
          <a:ext cx="0" cy="0"/>
          <a:chOff x="0" y="0"/>
          <a:chExt cx="0" cy="0"/>
        </a:xfrm>
      </p:grpSpPr>
      <p:sp>
        <p:nvSpPr>
          <p:cNvPr id="417" name="Google Shape;417;p4">
            <a:extLst>
              <a:ext uri="{FF2B5EF4-FFF2-40B4-BE49-F238E27FC236}">
                <a16:creationId xmlns:a16="http://schemas.microsoft.com/office/drawing/2014/main" id="{E8398074-4DC2-336A-3353-A343C91600CC}"/>
              </a:ext>
            </a:extLst>
          </p:cNvPr>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rmAutofit/>
          </a:bodyPr>
          <a:lstStyle/>
          <a:p>
            <a:pPr>
              <a:lnSpc>
                <a:spcPct val="90000"/>
              </a:lnSpc>
              <a:spcBef>
                <a:spcPct val="0"/>
              </a:spcBef>
            </a:pPr>
            <a:r>
              <a:rPr lang="en-US" sz="4400" b="0" kern="1200" dirty="0">
                <a:solidFill>
                  <a:schemeClr val="tx1"/>
                </a:solidFill>
                <a:latin typeface="+mj-lt"/>
                <a:ea typeface="+mj-ea"/>
                <a:cs typeface="+mj-cs"/>
              </a:rPr>
              <a:t>Warm Up with a Partner</a:t>
            </a:r>
          </a:p>
        </p:txBody>
      </p:sp>
      <p:sp>
        <p:nvSpPr>
          <p:cNvPr id="12" name="Rectangle 11">
            <a:extLst>
              <a:ext uri="{FF2B5EF4-FFF2-40B4-BE49-F238E27FC236}">
                <a16:creationId xmlns:a16="http://schemas.microsoft.com/office/drawing/2014/main" id="{C10CA16D-2380-090B-D94B-95886D0528C8}"/>
              </a:ext>
            </a:extLst>
          </p:cNvPr>
          <p:cNvSpPr/>
          <p:nvPr/>
        </p:nvSpPr>
        <p:spPr>
          <a:xfrm>
            <a:off x="7356143" y="1721922"/>
            <a:ext cx="4835858" cy="4980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427;p5">
            <a:extLst>
              <a:ext uri="{FF2B5EF4-FFF2-40B4-BE49-F238E27FC236}">
                <a16:creationId xmlns:a16="http://schemas.microsoft.com/office/drawing/2014/main" id="{7938C706-DB8C-682B-7153-39CECA452D03}"/>
              </a:ext>
            </a:extLst>
          </p:cNvPr>
          <p:cNvSpPr txBox="1">
            <a:spLocks noGrp="1"/>
          </p:cNvSpPr>
          <p:nvPr>
            <p:ph type="body" idx="1"/>
          </p:nvPr>
        </p:nvSpPr>
        <p:spPr>
          <a:xfrm>
            <a:off x="429767" y="2319579"/>
            <a:ext cx="8148545" cy="3073831"/>
          </a:xfrm>
          <a:prstGeom prst="rect">
            <a:avLst/>
          </a:prstGeom>
          <a:solidFill>
            <a:schemeClr val="bg1"/>
          </a:solidFill>
          <a:ln>
            <a:noFill/>
          </a:ln>
        </p:spPr>
        <p:txBody>
          <a:bodyPr spcFirstLastPara="1" vert="horz" wrap="square" lIns="91425" tIns="91425" rIns="91425" bIns="91425" rtlCol="0" anchor="t" anchorCtr="0">
            <a:noAutofit/>
          </a:bodyPr>
          <a:lstStyle/>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marL="0" indent="0">
              <a:spcBef>
                <a:spcPts val="0"/>
              </a:spcBef>
              <a:buSzPts val="2400"/>
              <a:buNone/>
            </a:pPr>
            <a:endParaRPr lang="en-US" sz="2600" dirty="0"/>
          </a:p>
        </p:txBody>
      </p:sp>
      <p:sp>
        <p:nvSpPr>
          <p:cNvPr id="7" name="Google Shape;427;p5">
            <a:extLst>
              <a:ext uri="{FF2B5EF4-FFF2-40B4-BE49-F238E27FC236}">
                <a16:creationId xmlns:a16="http://schemas.microsoft.com/office/drawing/2014/main" id="{48D27AF6-C0C6-2970-4E8F-6479BC09182F}"/>
              </a:ext>
            </a:extLst>
          </p:cNvPr>
          <p:cNvSpPr txBox="1">
            <a:spLocks/>
          </p:cNvSpPr>
          <p:nvPr/>
        </p:nvSpPr>
        <p:spPr>
          <a:xfrm>
            <a:off x="429766" y="1600200"/>
            <a:ext cx="10961488" cy="4980270"/>
          </a:xfrm>
          <a:prstGeom prst="rect">
            <a:avLst/>
          </a:prstGeom>
          <a:solidFill>
            <a:schemeClr val="bg1"/>
          </a:solidFill>
          <a:ln>
            <a:noFill/>
          </a:ln>
        </p:spPr>
        <p:txBody>
          <a:bodyPr spcFirstLastPara="1" vert="horz" wrap="square" lIns="91425" tIns="91425" rIns="91425" bIns="91425" rtlCol="0" anchor="t" anchorCtr="0">
            <a:noAutofit/>
          </a:bodyPr>
          <a:lstStyle>
            <a:lvl1pPr marL="457200" marR="0" lvl="0" indent="-330200" algn="l" defTabSz="914400" rtl="0" eaLnBrk="1" latinLnBrk="0" hangingPunct="1">
              <a:lnSpc>
                <a:spcPct val="100000"/>
              </a:lnSpc>
              <a:spcBef>
                <a:spcPts val="15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1pPr>
            <a:lvl2pPr marL="914400" marR="0" lvl="1"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2pPr>
            <a:lvl3pPr marL="1371600" marR="0" lvl="2" indent="-330200" algn="l" defTabSz="914400" rtl="0" eaLnBrk="1" latinLnBrk="0" hangingPunct="1">
              <a:lnSpc>
                <a:spcPct val="100000"/>
              </a:lnSpc>
              <a:spcBef>
                <a:spcPts val="600"/>
              </a:spcBef>
              <a:spcAft>
                <a:spcPts val="0"/>
              </a:spcAft>
              <a:buClr>
                <a:srgbClr val="007FA3"/>
              </a:buClr>
              <a:buSzPts val="1600"/>
              <a:buFont typeface="Noto Sans Symbols"/>
              <a:buChar char="▪"/>
              <a:defRPr sz="1600" b="0" i="0" u="none" strike="noStrike" kern="1200" cap="none">
                <a:solidFill>
                  <a:schemeClr val="dk1"/>
                </a:solidFill>
                <a:latin typeface="Arial"/>
                <a:ea typeface="Arial"/>
                <a:cs typeface="Arial"/>
                <a:sym typeface="Arial"/>
              </a:defRPr>
            </a:lvl3pPr>
            <a:lvl4pPr marL="1828800" marR="0" lvl="3"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4pPr>
            <a:lvl5pPr marL="2286000" marR="0" lvl="4"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5pPr>
            <a:lvl6pPr marL="2743200" marR="0" lvl="5"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6pPr>
            <a:lvl7pPr marL="3200400" marR="0" lvl="6"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7pPr>
            <a:lvl8pPr marL="3657600" marR="0" lvl="7"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8pPr>
            <a:lvl9pPr marL="4114800" marR="0" lvl="8"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9pPr>
          </a:lstStyle>
          <a:p>
            <a:pPr marL="0" indent="0">
              <a:spcBef>
                <a:spcPts val="0"/>
              </a:spcBef>
              <a:buSzPts val="2400"/>
              <a:buFont typeface="Arial"/>
              <a:buNone/>
            </a:pPr>
            <a:r>
              <a:rPr lang="en-US" sz="2600" dirty="0"/>
              <a:t>Solve 10 x 60 by counting by 60 ten times (Example: 60, 120,…).</a:t>
            </a:r>
          </a:p>
          <a:p>
            <a:pPr indent="-457200">
              <a:spcBef>
                <a:spcPts val="0"/>
              </a:spcBef>
              <a:buSzPts val="2400"/>
            </a:pPr>
            <a:endParaRPr lang="en-US" sz="2600" dirty="0"/>
          </a:p>
          <a:p>
            <a:pPr indent="-457200">
              <a:spcBef>
                <a:spcPts val="0"/>
              </a:spcBef>
              <a:buSzPts val="2400"/>
            </a:pPr>
            <a:r>
              <a:rPr lang="en-US" sz="2600" dirty="0"/>
              <a:t>One person count and the other person record the counts, then switch roles.</a:t>
            </a:r>
          </a:p>
          <a:p>
            <a:pPr indent="-457200">
              <a:spcBef>
                <a:spcPts val="0"/>
              </a:spcBef>
              <a:buSzPts val="2400"/>
            </a:pPr>
            <a:endParaRPr lang="en-US" sz="2600" dirty="0"/>
          </a:p>
          <a:p>
            <a:pPr indent="-457200">
              <a:spcBef>
                <a:spcPts val="0"/>
              </a:spcBef>
              <a:buSzPts val="2400"/>
            </a:pPr>
            <a:r>
              <a:rPr lang="en-US" sz="2600" dirty="0"/>
              <a:t xml:space="preserve">Once both people have counted see if your sequence of 60s agreed and determine what ten sixties is. </a:t>
            </a:r>
          </a:p>
          <a:p>
            <a:pPr indent="-457200">
              <a:spcBef>
                <a:spcPts val="0"/>
              </a:spcBef>
              <a:buSzPts val="2400"/>
            </a:pPr>
            <a:endParaRPr lang="en-US" sz="2600" dirty="0"/>
          </a:p>
          <a:p>
            <a:pPr indent="-457200">
              <a:spcBef>
                <a:spcPts val="0"/>
              </a:spcBef>
              <a:buSzPts val="2400"/>
            </a:pPr>
            <a:r>
              <a:rPr lang="en-US" sz="2600" dirty="0"/>
              <a:t xml:space="preserve">Use your answer to ten sixties to determine what thirty sixties would be.   </a:t>
            </a:r>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p:txBody>
      </p:sp>
      <p:sp>
        <p:nvSpPr>
          <p:cNvPr id="4" name="Google Shape;427;p5">
            <a:extLst>
              <a:ext uri="{FF2B5EF4-FFF2-40B4-BE49-F238E27FC236}">
                <a16:creationId xmlns:a16="http://schemas.microsoft.com/office/drawing/2014/main" id="{A24F9608-72CF-C911-79C0-FD5E7C44C128}"/>
              </a:ext>
            </a:extLst>
          </p:cNvPr>
          <p:cNvSpPr txBox="1">
            <a:spLocks/>
          </p:cNvSpPr>
          <p:nvPr/>
        </p:nvSpPr>
        <p:spPr>
          <a:xfrm>
            <a:off x="429766" y="1600201"/>
            <a:ext cx="10961488" cy="848531"/>
          </a:xfrm>
          <a:prstGeom prst="rect">
            <a:avLst/>
          </a:prstGeom>
          <a:solidFill>
            <a:schemeClr val="bg1"/>
          </a:solidFill>
          <a:ln>
            <a:noFill/>
          </a:ln>
        </p:spPr>
        <p:txBody>
          <a:bodyPr spcFirstLastPara="1" vert="horz" wrap="square" lIns="91425" tIns="91425" rIns="91425" bIns="91425" rtlCol="0" anchor="t" anchorCtr="0">
            <a:noAutofit/>
          </a:bodyPr>
          <a:lstStyle>
            <a:lvl1pPr marL="457200" marR="0" lvl="0" indent="-330200" algn="l" defTabSz="914400" rtl="0" eaLnBrk="1" latinLnBrk="0" hangingPunct="1">
              <a:lnSpc>
                <a:spcPct val="100000"/>
              </a:lnSpc>
              <a:spcBef>
                <a:spcPts val="15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1pPr>
            <a:lvl2pPr marL="914400" marR="0" lvl="1"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2pPr>
            <a:lvl3pPr marL="1371600" marR="0" lvl="2" indent="-330200" algn="l" defTabSz="914400" rtl="0" eaLnBrk="1" latinLnBrk="0" hangingPunct="1">
              <a:lnSpc>
                <a:spcPct val="100000"/>
              </a:lnSpc>
              <a:spcBef>
                <a:spcPts val="600"/>
              </a:spcBef>
              <a:spcAft>
                <a:spcPts val="0"/>
              </a:spcAft>
              <a:buClr>
                <a:srgbClr val="007FA3"/>
              </a:buClr>
              <a:buSzPts val="1600"/>
              <a:buFont typeface="Noto Sans Symbols"/>
              <a:buChar char="▪"/>
              <a:defRPr sz="1600" b="0" i="0" u="none" strike="noStrike" kern="1200" cap="none">
                <a:solidFill>
                  <a:schemeClr val="dk1"/>
                </a:solidFill>
                <a:latin typeface="Arial"/>
                <a:ea typeface="Arial"/>
                <a:cs typeface="Arial"/>
                <a:sym typeface="Arial"/>
              </a:defRPr>
            </a:lvl3pPr>
            <a:lvl4pPr marL="1828800" marR="0" lvl="3"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4pPr>
            <a:lvl5pPr marL="2286000" marR="0" lvl="4"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5pPr>
            <a:lvl6pPr marL="2743200" marR="0" lvl="5"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6pPr>
            <a:lvl7pPr marL="3200400" marR="0" lvl="6"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7pPr>
            <a:lvl8pPr marL="3657600" marR="0" lvl="7"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8pPr>
            <a:lvl9pPr marL="4114800" marR="0" lvl="8"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9pPr>
          </a:lstStyle>
          <a:p>
            <a:pPr marL="0" indent="0">
              <a:spcBef>
                <a:spcPts val="0"/>
              </a:spcBef>
              <a:buSzPts val="2400"/>
              <a:buFont typeface="Arial"/>
              <a:buNone/>
            </a:pPr>
            <a:r>
              <a:rPr lang="en-US" sz="2600" dirty="0"/>
              <a:t>Solve 10 x 60 by counting by 60 ten times (Example: 60, 120,…)</a:t>
            </a:r>
          </a:p>
        </p:txBody>
      </p:sp>
    </p:spTree>
    <p:extLst>
      <p:ext uri="{BB962C8B-B14F-4D97-AF65-F5344CB8AC3E}">
        <p14:creationId xmlns:p14="http://schemas.microsoft.com/office/powerpoint/2010/main" val="861282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16"/>
        <p:cNvGrpSpPr/>
        <p:nvPr/>
      </p:nvGrpSpPr>
      <p:grpSpPr>
        <a:xfrm>
          <a:off x="0" y="0"/>
          <a:ext cx="0" cy="0"/>
          <a:chOff x="0" y="0"/>
          <a:chExt cx="0" cy="0"/>
        </a:xfrm>
      </p:grpSpPr>
      <p:sp useBgFill="1">
        <p:nvSpPr>
          <p:cNvPr id="423" name="Rectangle 425">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Google Shape;417;p4"/>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rmAutofit fontScale="90000"/>
          </a:bodyPr>
          <a:lstStyle/>
          <a:p>
            <a:pPr>
              <a:lnSpc>
                <a:spcPct val="90000"/>
              </a:lnSpc>
              <a:spcBef>
                <a:spcPct val="0"/>
              </a:spcBef>
            </a:pPr>
            <a:r>
              <a:rPr lang="en-US" sz="4400" kern="1200" dirty="0">
                <a:solidFill>
                  <a:schemeClr val="tx1"/>
                </a:solidFill>
                <a:latin typeface="+mj-lt"/>
                <a:ea typeface="+mj-ea"/>
                <a:cs typeface="+mj-cs"/>
                <a:sym typeface="Times New Roman"/>
              </a:rPr>
              <a:t>Reasoning Strategy: Number Strings/Cluster Problems</a:t>
            </a:r>
            <a:endParaRPr lang="en-US" sz="4400" b="0" kern="1200" dirty="0">
              <a:solidFill>
                <a:schemeClr val="tx1"/>
              </a:solidFill>
              <a:latin typeface="+mj-lt"/>
              <a:ea typeface="+mj-ea"/>
              <a:cs typeface="+mj-cs"/>
            </a:endParaRPr>
          </a:p>
        </p:txBody>
      </p:sp>
      <p:sp>
        <p:nvSpPr>
          <p:cNvPr id="424" name="Rectangle 427">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425" name="Rectangle 429">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077415B-A80F-C65B-3278-6C80A7E99676}"/>
              </a:ext>
            </a:extLst>
          </p:cNvPr>
          <p:cNvSpPr/>
          <p:nvPr/>
        </p:nvSpPr>
        <p:spPr>
          <a:xfrm>
            <a:off x="7356143" y="1721922"/>
            <a:ext cx="4835858" cy="4980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427;p5">
            <a:extLst>
              <a:ext uri="{FF2B5EF4-FFF2-40B4-BE49-F238E27FC236}">
                <a16:creationId xmlns:a16="http://schemas.microsoft.com/office/drawing/2014/main" id="{2DB0C6F0-97FC-1580-9785-89B07F3FD669}"/>
              </a:ext>
            </a:extLst>
          </p:cNvPr>
          <p:cNvSpPr txBox="1">
            <a:spLocks noGrp="1"/>
          </p:cNvSpPr>
          <p:nvPr>
            <p:ph type="body" idx="1"/>
          </p:nvPr>
        </p:nvSpPr>
        <p:spPr>
          <a:xfrm>
            <a:off x="429767" y="2319579"/>
            <a:ext cx="8148545" cy="3073831"/>
          </a:xfrm>
          <a:prstGeom prst="rect">
            <a:avLst/>
          </a:prstGeom>
          <a:solidFill>
            <a:schemeClr val="bg1"/>
          </a:solidFill>
          <a:ln>
            <a:noFill/>
          </a:ln>
        </p:spPr>
        <p:txBody>
          <a:bodyPr spcFirstLastPara="1" vert="horz" wrap="square" lIns="91425" tIns="91425" rIns="91425" bIns="91425" rtlCol="0" anchor="t" anchorCtr="0">
            <a:noAutofit/>
          </a:bodyPr>
          <a:lstStyle/>
          <a:p>
            <a:pPr indent="-457200">
              <a:spcBef>
                <a:spcPts val="0"/>
              </a:spcBef>
              <a:buSzPts val="2400"/>
            </a:pPr>
            <a:r>
              <a:rPr lang="en-US" sz="2600" dirty="0"/>
              <a:t xml:space="preserve">How could you use these multiplication problems to find </a:t>
            </a:r>
            <a:r>
              <a:rPr lang="en-US" sz="2600" b="1" dirty="0"/>
              <a:t>34 x 50</a:t>
            </a:r>
            <a:r>
              <a:rPr lang="en-US" sz="2600" dirty="0"/>
              <a:t>?</a:t>
            </a:r>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r>
              <a:rPr lang="en-US" sz="2600" dirty="0"/>
              <a:t xml:space="preserve">Make a list of multiplication problems that could help you determine </a:t>
            </a:r>
            <a:r>
              <a:rPr lang="en-US" sz="2600" b="1" dirty="0"/>
              <a:t>86 x 42</a:t>
            </a:r>
            <a:r>
              <a:rPr lang="en-US" sz="2600" dirty="0"/>
              <a:t>?</a:t>
            </a:r>
          </a:p>
          <a:p>
            <a:pPr marL="0" indent="0">
              <a:spcBef>
                <a:spcPts val="0"/>
              </a:spcBef>
              <a:buSzPts val="2400"/>
              <a:buNone/>
            </a:pPr>
            <a:endParaRPr lang="en-US" sz="2600" dirty="0"/>
          </a:p>
        </p:txBody>
      </p:sp>
      <p:pic>
        <p:nvPicPr>
          <p:cNvPr id="3" name="Picture 2">
            <a:extLst>
              <a:ext uri="{FF2B5EF4-FFF2-40B4-BE49-F238E27FC236}">
                <a16:creationId xmlns:a16="http://schemas.microsoft.com/office/drawing/2014/main" id="{36C1E91C-412D-245B-A7C2-CAA06BA3DC1B}"/>
              </a:ext>
            </a:extLst>
          </p:cNvPr>
          <p:cNvPicPr>
            <a:picLocks noChangeAspect="1"/>
          </p:cNvPicPr>
          <p:nvPr/>
        </p:nvPicPr>
        <p:blipFill>
          <a:blip r:embed="rId3"/>
          <a:stretch>
            <a:fillRect/>
          </a:stretch>
        </p:blipFill>
        <p:spPr>
          <a:xfrm>
            <a:off x="8578312" y="2319579"/>
            <a:ext cx="1875295" cy="3030780"/>
          </a:xfrm>
          <a:prstGeom prst="rect">
            <a:avLst/>
          </a:prstGeom>
        </p:spPr>
      </p:pic>
      <p:sp>
        <p:nvSpPr>
          <p:cNvPr id="7" name="Google Shape;427;p5">
            <a:extLst>
              <a:ext uri="{FF2B5EF4-FFF2-40B4-BE49-F238E27FC236}">
                <a16:creationId xmlns:a16="http://schemas.microsoft.com/office/drawing/2014/main" id="{768B517F-045C-308B-9B93-E1B97699B7E1}"/>
              </a:ext>
            </a:extLst>
          </p:cNvPr>
          <p:cNvSpPr txBox="1">
            <a:spLocks/>
          </p:cNvSpPr>
          <p:nvPr/>
        </p:nvSpPr>
        <p:spPr>
          <a:xfrm>
            <a:off x="429766" y="1600201"/>
            <a:ext cx="10961488" cy="848531"/>
          </a:xfrm>
          <a:prstGeom prst="rect">
            <a:avLst/>
          </a:prstGeom>
          <a:solidFill>
            <a:schemeClr val="bg1"/>
          </a:solidFill>
          <a:ln>
            <a:noFill/>
          </a:ln>
        </p:spPr>
        <p:txBody>
          <a:bodyPr spcFirstLastPara="1" vert="horz" wrap="square" lIns="91425" tIns="91425" rIns="91425" bIns="91425" rtlCol="0" anchor="t" anchorCtr="0">
            <a:noAutofit/>
          </a:bodyPr>
          <a:lstStyle>
            <a:lvl1pPr marL="457200" marR="0" lvl="0" indent="-330200" algn="l" defTabSz="914400" rtl="0" eaLnBrk="1" latinLnBrk="0" hangingPunct="1">
              <a:lnSpc>
                <a:spcPct val="100000"/>
              </a:lnSpc>
              <a:spcBef>
                <a:spcPts val="15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1pPr>
            <a:lvl2pPr marL="914400" marR="0" lvl="1"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2pPr>
            <a:lvl3pPr marL="1371600" marR="0" lvl="2" indent="-330200" algn="l" defTabSz="914400" rtl="0" eaLnBrk="1" latinLnBrk="0" hangingPunct="1">
              <a:lnSpc>
                <a:spcPct val="100000"/>
              </a:lnSpc>
              <a:spcBef>
                <a:spcPts val="600"/>
              </a:spcBef>
              <a:spcAft>
                <a:spcPts val="0"/>
              </a:spcAft>
              <a:buClr>
                <a:srgbClr val="007FA3"/>
              </a:buClr>
              <a:buSzPts val="1600"/>
              <a:buFont typeface="Noto Sans Symbols"/>
              <a:buChar char="▪"/>
              <a:defRPr sz="1600" b="0" i="0" u="none" strike="noStrike" kern="1200" cap="none">
                <a:solidFill>
                  <a:schemeClr val="dk1"/>
                </a:solidFill>
                <a:latin typeface="Arial"/>
                <a:ea typeface="Arial"/>
                <a:cs typeface="Arial"/>
                <a:sym typeface="Arial"/>
              </a:defRPr>
            </a:lvl3pPr>
            <a:lvl4pPr marL="1828800" marR="0" lvl="3"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4pPr>
            <a:lvl5pPr marL="2286000" marR="0" lvl="4"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5pPr>
            <a:lvl6pPr marL="2743200" marR="0" lvl="5"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6pPr>
            <a:lvl7pPr marL="3200400" marR="0" lvl="6"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7pPr>
            <a:lvl8pPr marL="3657600" marR="0" lvl="7"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8pPr>
            <a:lvl9pPr marL="4114800" marR="0" lvl="8"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9pPr>
          </a:lstStyle>
          <a:p>
            <a:pPr marL="0" indent="0">
              <a:spcBef>
                <a:spcPts val="0"/>
              </a:spcBef>
              <a:buSzPts val="2400"/>
              <a:buFont typeface="Arial"/>
              <a:buNone/>
            </a:pPr>
            <a:r>
              <a:rPr lang="en-US" sz="2600" dirty="0"/>
              <a:t xml:space="preserve">Use known multiplication facts to help determine more complex products. </a:t>
            </a:r>
          </a:p>
          <a:p>
            <a:pPr marL="0" indent="0">
              <a:spcBef>
                <a:spcPts val="0"/>
              </a:spcBef>
              <a:buSzPts val="2400"/>
              <a:buFont typeface="Arial"/>
              <a:buNone/>
            </a:pPr>
            <a:endParaRPr lang="en-US" sz="2600" dirty="0"/>
          </a:p>
        </p:txBody>
      </p:sp>
    </p:spTree>
    <p:extLst>
      <p:ext uri="{BB962C8B-B14F-4D97-AF65-F5344CB8AC3E}">
        <p14:creationId xmlns:p14="http://schemas.microsoft.com/office/powerpoint/2010/main" val="1348845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16"/>
        <p:cNvGrpSpPr/>
        <p:nvPr/>
      </p:nvGrpSpPr>
      <p:grpSpPr>
        <a:xfrm>
          <a:off x="0" y="0"/>
          <a:ext cx="0" cy="0"/>
          <a:chOff x="0" y="0"/>
          <a:chExt cx="0" cy="0"/>
        </a:xfrm>
      </p:grpSpPr>
      <p:sp useBgFill="1">
        <p:nvSpPr>
          <p:cNvPr id="423" name="Rectangle 425">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Google Shape;417;p4"/>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rmAutofit/>
          </a:bodyPr>
          <a:lstStyle/>
          <a:p>
            <a:pPr>
              <a:lnSpc>
                <a:spcPct val="90000"/>
              </a:lnSpc>
              <a:spcBef>
                <a:spcPct val="0"/>
              </a:spcBef>
            </a:pPr>
            <a:r>
              <a:rPr lang="en-US" sz="4400" b="0" kern="1200" dirty="0">
                <a:solidFill>
                  <a:schemeClr val="tx1"/>
                </a:solidFill>
                <a:latin typeface="+mj-lt"/>
                <a:ea typeface="+mj-ea"/>
                <a:cs typeface="+mj-cs"/>
              </a:rPr>
              <a:t>Now You Try…</a:t>
            </a:r>
          </a:p>
        </p:txBody>
      </p:sp>
      <p:sp>
        <p:nvSpPr>
          <p:cNvPr id="424" name="Rectangle 427">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425" name="Rectangle 429">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1B261450-158C-934D-7E43-E9F497A60758}"/>
              </a:ext>
            </a:extLst>
          </p:cNvPr>
          <p:cNvSpPr/>
          <p:nvPr/>
        </p:nvSpPr>
        <p:spPr>
          <a:xfrm>
            <a:off x="7363967" y="1517904"/>
            <a:ext cx="4828033" cy="518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white box  Description automatically generated">
            <a:extLst>
              <a:ext uri="{FF2B5EF4-FFF2-40B4-BE49-F238E27FC236}">
                <a16:creationId xmlns:a16="http://schemas.microsoft.com/office/drawing/2014/main" id="{F542712D-099F-E52B-4B1F-A30A893FAAD0}"/>
              </a:ext>
            </a:extLst>
          </p:cNvPr>
          <p:cNvPicPr>
            <a:picLocks noChangeAspect="1"/>
          </p:cNvPicPr>
          <p:nvPr/>
        </p:nvPicPr>
        <p:blipFill>
          <a:blip r:embed="rId3"/>
          <a:stretch>
            <a:fillRect/>
          </a:stretch>
        </p:blipFill>
        <p:spPr>
          <a:xfrm>
            <a:off x="1079550" y="1486017"/>
            <a:ext cx="10032899" cy="4992370"/>
          </a:xfrm>
          <a:prstGeom prst="rect">
            <a:avLst/>
          </a:prstGeom>
        </p:spPr>
      </p:pic>
    </p:spTree>
    <p:extLst>
      <p:ext uri="{BB962C8B-B14F-4D97-AF65-F5344CB8AC3E}">
        <p14:creationId xmlns:p14="http://schemas.microsoft.com/office/powerpoint/2010/main" val="1448847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6">
          <a:extLst>
            <a:ext uri="{FF2B5EF4-FFF2-40B4-BE49-F238E27FC236}">
              <a16:creationId xmlns:a16="http://schemas.microsoft.com/office/drawing/2014/main" id="{D87A96EF-EEE0-7BA9-3507-016CACAC0360}"/>
            </a:ext>
          </a:extLst>
        </p:cNvPr>
        <p:cNvGrpSpPr/>
        <p:nvPr/>
      </p:nvGrpSpPr>
      <p:grpSpPr>
        <a:xfrm>
          <a:off x="0" y="0"/>
          <a:ext cx="0" cy="0"/>
          <a:chOff x="0" y="0"/>
          <a:chExt cx="0" cy="0"/>
        </a:xfrm>
      </p:grpSpPr>
      <p:sp>
        <p:nvSpPr>
          <p:cNvPr id="417" name="Google Shape;417;p4">
            <a:extLst>
              <a:ext uri="{FF2B5EF4-FFF2-40B4-BE49-F238E27FC236}">
                <a16:creationId xmlns:a16="http://schemas.microsoft.com/office/drawing/2014/main" id="{DC2DB771-92FC-B361-4E5A-8D5B84E2A383}"/>
              </a:ext>
            </a:extLst>
          </p:cNvPr>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rmAutofit/>
          </a:bodyPr>
          <a:lstStyle/>
          <a:p>
            <a:pPr>
              <a:lnSpc>
                <a:spcPct val="90000"/>
              </a:lnSpc>
              <a:spcBef>
                <a:spcPct val="0"/>
              </a:spcBef>
            </a:pPr>
            <a:r>
              <a:rPr lang="en-US" sz="4400" b="0" kern="1200" dirty="0">
                <a:solidFill>
                  <a:schemeClr val="tx1"/>
                </a:solidFill>
                <a:latin typeface="+mj-lt"/>
                <a:ea typeface="+mj-ea"/>
                <a:cs typeface="+mj-cs"/>
              </a:rPr>
              <a:t>Standard Algorithms for Multiplication (1 of 3)</a:t>
            </a:r>
          </a:p>
        </p:txBody>
      </p:sp>
      <p:sp>
        <p:nvSpPr>
          <p:cNvPr id="8" name="Rectangle 7">
            <a:extLst>
              <a:ext uri="{FF2B5EF4-FFF2-40B4-BE49-F238E27FC236}">
                <a16:creationId xmlns:a16="http://schemas.microsoft.com/office/drawing/2014/main" id="{8E6AD954-D62D-7103-7D55-3CF9FF864249}"/>
              </a:ext>
            </a:extLst>
          </p:cNvPr>
          <p:cNvSpPr/>
          <p:nvPr/>
        </p:nvSpPr>
        <p:spPr>
          <a:xfrm>
            <a:off x="6030468" y="1520514"/>
            <a:ext cx="4828033" cy="518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2" name="Google Shape;449;p8">
            <a:extLst>
              <a:ext uri="{FF2B5EF4-FFF2-40B4-BE49-F238E27FC236}">
                <a16:creationId xmlns:a16="http://schemas.microsoft.com/office/drawing/2014/main" id="{FB947871-56FA-672E-FC8C-26BF33087FFD}"/>
              </a:ext>
            </a:extLst>
          </p:cNvPr>
          <p:cNvSpPr txBox="1">
            <a:spLocks noGrp="1"/>
          </p:cNvSpPr>
          <p:nvPr>
            <p:ph type="body" idx="1"/>
          </p:nvPr>
        </p:nvSpPr>
        <p:spPr>
          <a:xfrm>
            <a:off x="6005564" y="1922422"/>
            <a:ext cx="5625604" cy="3223913"/>
          </a:xfrm>
          <a:prstGeom prst="rect">
            <a:avLst/>
          </a:prstGeom>
          <a:noFill/>
          <a:ln>
            <a:noFill/>
          </a:ln>
        </p:spPr>
        <p:txBody>
          <a:bodyPr spcFirstLastPara="1" vert="horz" wrap="square" lIns="91425" tIns="91425" rIns="91425" bIns="91425" rtlCol="0" anchor="t" anchorCtr="0">
            <a:noAutofit/>
          </a:bodyPr>
          <a:lstStyle/>
          <a:p>
            <a:pPr marL="0" indent="0">
              <a:spcBef>
                <a:spcPts val="0"/>
              </a:spcBef>
              <a:buSzPts val="2200"/>
              <a:buNone/>
            </a:pPr>
            <a:r>
              <a:rPr lang="en-US" sz="2600" dirty="0">
                <a:latin typeface="Arial"/>
                <a:ea typeface="Arial"/>
                <a:cs typeface="Arial"/>
                <a:sym typeface="Arial"/>
              </a:rPr>
              <a:t>Begin with models: Build from equal groups types and base ten blocks, and develop these into connected arrays.</a:t>
            </a:r>
          </a:p>
          <a:p>
            <a:pPr marL="0" indent="0">
              <a:spcBef>
                <a:spcPts val="0"/>
              </a:spcBef>
              <a:buSzPts val="2200"/>
              <a:buNone/>
            </a:pPr>
            <a:endParaRPr sz="2600" dirty="0"/>
          </a:p>
        </p:txBody>
      </p:sp>
      <p:sp>
        <p:nvSpPr>
          <p:cNvPr id="9" name="TextBox 8">
            <a:extLst>
              <a:ext uri="{FF2B5EF4-FFF2-40B4-BE49-F238E27FC236}">
                <a16:creationId xmlns:a16="http://schemas.microsoft.com/office/drawing/2014/main" id="{BA092AF0-4A54-E415-04BE-17969A8C01B7}"/>
              </a:ext>
            </a:extLst>
          </p:cNvPr>
          <p:cNvSpPr txBox="1"/>
          <p:nvPr/>
        </p:nvSpPr>
        <p:spPr>
          <a:xfrm>
            <a:off x="429768" y="1919812"/>
            <a:ext cx="5600700" cy="1692771"/>
          </a:xfrm>
          <a:prstGeom prst="rect">
            <a:avLst/>
          </a:prstGeom>
          <a:noFill/>
        </p:spPr>
        <p:txBody>
          <a:bodyPr wrap="square">
            <a:spAutoFit/>
          </a:bodyPr>
          <a:lstStyle/>
          <a:p>
            <a:r>
              <a:rPr lang="en-US" sz="2600" dirty="0"/>
              <a:t>Example: 13 x 7</a:t>
            </a:r>
          </a:p>
          <a:p>
            <a:pPr algn="ctr"/>
            <a:endParaRPr lang="en-US" sz="1800" dirty="0">
              <a:solidFill>
                <a:schemeClr val="tx1"/>
              </a:solidFill>
            </a:endParaRPr>
          </a:p>
          <a:p>
            <a:r>
              <a:rPr lang="en-US" sz="2600" dirty="0">
                <a:latin typeface="Arial"/>
                <a:ea typeface="Arial"/>
                <a:cs typeface="Arial"/>
                <a:sym typeface="Arial"/>
              </a:rPr>
              <a:t>P. 31 Unit 3 Packet</a:t>
            </a:r>
            <a:endParaRPr lang="en-US" sz="2600" dirty="0">
              <a:solidFill>
                <a:schemeClr val="tx1"/>
              </a:solidFill>
            </a:endParaRPr>
          </a:p>
          <a:p>
            <a:pPr algn="ctr"/>
            <a:endParaRPr lang="en-US" sz="3200" dirty="0"/>
          </a:p>
        </p:txBody>
      </p:sp>
    </p:spTree>
    <p:extLst>
      <p:ext uri="{BB962C8B-B14F-4D97-AF65-F5344CB8AC3E}">
        <p14:creationId xmlns:p14="http://schemas.microsoft.com/office/powerpoint/2010/main" val="962801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16"/>
        <p:cNvGrpSpPr/>
        <p:nvPr/>
      </p:nvGrpSpPr>
      <p:grpSpPr>
        <a:xfrm>
          <a:off x="0" y="0"/>
          <a:ext cx="0" cy="0"/>
          <a:chOff x="0" y="0"/>
          <a:chExt cx="0" cy="0"/>
        </a:xfrm>
      </p:grpSpPr>
      <p:sp useBgFill="1">
        <p:nvSpPr>
          <p:cNvPr id="423" name="Rectangle 425">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Google Shape;417;p4"/>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rmAutofit/>
          </a:bodyPr>
          <a:lstStyle/>
          <a:p>
            <a:pPr>
              <a:lnSpc>
                <a:spcPct val="90000"/>
              </a:lnSpc>
              <a:spcBef>
                <a:spcPct val="0"/>
              </a:spcBef>
            </a:pPr>
            <a:r>
              <a:rPr lang="en-US" sz="4400" b="0" kern="1200" dirty="0">
                <a:solidFill>
                  <a:schemeClr val="tx1"/>
                </a:solidFill>
                <a:latin typeface="+mj-lt"/>
                <a:ea typeface="+mj-ea"/>
                <a:cs typeface="+mj-cs"/>
              </a:rPr>
              <a:t>Standard Algorithms for Multiplication (2 of 3)</a:t>
            </a:r>
          </a:p>
        </p:txBody>
      </p:sp>
      <p:sp>
        <p:nvSpPr>
          <p:cNvPr id="424" name="Rectangle 427">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425" name="Rectangle 429">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1B261450-158C-934D-7E43-E9F497A60758}"/>
              </a:ext>
            </a:extLst>
          </p:cNvPr>
          <p:cNvSpPr/>
          <p:nvPr/>
        </p:nvSpPr>
        <p:spPr>
          <a:xfrm>
            <a:off x="7363967" y="1517904"/>
            <a:ext cx="4828033" cy="518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449;p8">
            <a:extLst>
              <a:ext uri="{FF2B5EF4-FFF2-40B4-BE49-F238E27FC236}">
                <a16:creationId xmlns:a16="http://schemas.microsoft.com/office/drawing/2014/main" id="{82FC5BD3-A25E-7590-ED5D-FB4A2728FA21}"/>
              </a:ext>
            </a:extLst>
          </p:cNvPr>
          <p:cNvSpPr txBox="1">
            <a:spLocks noGrp="1"/>
          </p:cNvSpPr>
          <p:nvPr>
            <p:ph type="body" idx="1"/>
          </p:nvPr>
        </p:nvSpPr>
        <p:spPr>
          <a:xfrm>
            <a:off x="560832" y="1517904"/>
            <a:ext cx="5625604" cy="1313822"/>
          </a:xfrm>
          <a:prstGeom prst="rect">
            <a:avLst/>
          </a:prstGeom>
          <a:noFill/>
          <a:ln>
            <a:noFill/>
          </a:ln>
        </p:spPr>
        <p:txBody>
          <a:bodyPr spcFirstLastPara="1" vert="horz" wrap="square" lIns="91425" tIns="91425" rIns="91425" bIns="91425" rtlCol="0" anchor="t" anchorCtr="0">
            <a:noAutofit/>
          </a:bodyPr>
          <a:lstStyle/>
          <a:p>
            <a:pPr marL="0" indent="0">
              <a:spcBef>
                <a:spcPts val="0"/>
              </a:spcBef>
              <a:buSzPts val="2200"/>
              <a:buNone/>
            </a:pPr>
            <a:r>
              <a:rPr lang="en-US" sz="2600" dirty="0">
                <a:latin typeface="Arial"/>
                <a:ea typeface="Arial"/>
                <a:cs typeface="Arial"/>
                <a:sym typeface="Arial"/>
              </a:rPr>
              <a:t>Begin with models</a:t>
            </a:r>
            <a:endParaRPr sz="2600" dirty="0"/>
          </a:p>
          <a:p>
            <a:pPr marL="0" indent="0">
              <a:buSzPts val="2200"/>
              <a:buNone/>
            </a:pPr>
            <a:r>
              <a:rPr lang="en-US" sz="2600" dirty="0">
                <a:latin typeface="Arial"/>
                <a:ea typeface="Arial"/>
                <a:cs typeface="Arial"/>
                <a:sym typeface="Arial"/>
              </a:rPr>
              <a:t>Area Models: connected and open</a:t>
            </a:r>
            <a:endParaRPr sz="2600" dirty="0">
              <a:latin typeface="Arial"/>
              <a:ea typeface="Arial"/>
              <a:cs typeface="Arial"/>
              <a:sym typeface="Arial"/>
            </a:endParaRPr>
          </a:p>
        </p:txBody>
      </p:sp>
      <p:sp>
        <p:nvSpPr>
          <p:cNvPr id="3" name="Google Shape;451;p8">
            <a:extLst>
              <a:ext uri="{FF2B5EF4-FFF2-40B4-BE49-F238E27FC236}">
                <a16:creationId xmlns:a16="http://schemas.microsoft.com/office/drawing/2014/main" id="{F71DB35D-44B9-07B2-39EB-EEC80552BF9C}"/>
              </a:ext>
            </a:extLst>
          </p:cNvPr>
          <p:cNvSpPr txBox="1">
            <a:spLocks noGrp="1"/>
          </p:cNvSpPr>
          <p:nvPr>
            <p:ph type="body" idx="2"/>
          </p:nvPr>
        </p:nvSpPr>
        <p:spPr>
          <a:xfrm>
            <a:off x="720782" y="5066787"/>
            <a:ext cx="5101201" cy="919336"/>
          </a:xfrm>
          <a:prstGeom prst="rect">
            <a:avLst/>
          </a:prstGeom>
          <a:noFill/>
          <a:ln>
            <a:noFill/>
          </a:ln>
        </p:spPr>
        <p:txBody>
          <a:bodyPr spcFirstLastPara="1" vert="horz" wrap="square" lIns="91425" tIns="91425" rIns="91425" bIns="91425" rtlCol="0" anchor="t" anchorCtr="0">
            <a:noAutofit/>
          </a:bodyPr>
          <a:lstStyle/>
          <a:p>
            <a:pPr marL="0" indent="0">
              <a:spcBef>
                <a:spcPts val="0"/>
              </a:spcBef>
              <a:buSzPts val="2200"/>
              <a:buNone/>
            </a:pPr>
            <a:r>
              <a:rPr lang="en-US" sz="2200" dirty="0">
                <a:latin typeface="Arial"/>
                <a:ea typeface="Arial"/>
                <a:cs typeface="Arial"/>
                <a:sym typeface="Arial"/>
              </a:rPr>
              <a:t>Notice the base-ten language</a:t>
            </a:r>
            <a:endParaRPr sz="2200" dirty="0">
              <a:latin typeface="Arial"/>
              <a:ea typeface="Arial"/>
              <a:cs typeface="Arial"/>
              <a:sym typeface="Arial"/>
            </a:endParaRPr>
          </a:p>
          <a:p>
            <a:pPr marL="0" indent="0">
              <a:buSzPts val="2200"/>
              <a:buNone/>
            </a:pPr>
            <a:r>
              <a:rPr lang="en-US" sz="2200" dirty="0">
                <a:latin typeface="Arial"/>
                <a:ea typeface="Arial"/>
                <a:cs typeface="Arial"/>
                <a:sym typeface="Arial"/>
              </a:rPr>
              <a:t>Each section is a partial product</a:t>
            </a:r>
            <a:endParaRPr sz="2200" dirty="0">
              <a:latin typeface="Arial"/>
              <a:ea typeface="Arial"/>
              <a:cs typeface="Arial"/>
              <a:sym typeface="Arial"/>
            </a:endParaRPr>
          </a:p>
        </p:txBody>
      </p:sp>
      <p:sp>
        <p:nvSpPr>
          <p:cNvPr id="4" name="Google Shape;453;p8">
            <a:extLst>
              <a:ext uri="{FF2B5EF4-FFF2-40B4-BE49-F238E27FC236}">
                <a16:creationId xmlns:a16="http://schemas.microsoft.com/office/drawing/2014/main" id="{B75240D8-01AB-1743-992F-B969FC8EFBDF}"/>
              </a:ext>
            </a:extLst>
          </p:cNvPr>
          <p:cNvSpPr txBox="1">
            <a:spLocks/>
          </p:cNvSpPr>
          <p:nvPr/>
        </p:nvSpPr>
        <p:spPr>
          <a:xfrm>
            <a:off x="6747268" y="5164238"/>
            <a:ext cx="4828033" cy="1282262"/>
          </a:xfrm>
          <a:prstGeom prst="rect">
            <a:avLst/>
          </a:prstGeom>
          <a:noFill/>
          <a:ln>
            <a:noFill/>
          </a:ln>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200" dirty="0">
                <a:latin typeface="Arial"/>
                <a:ea typeface="Arial"/>
                <a:cs typeface="Arial"/>
                <a:sym typeface="Arial"/>
              </a:rPr>
              <a:t>Figure out the size of each sub-rectangle (</a:t>
            </a:r>
            <a:r>
              <a:rPr lang="en-US" sz="2200" b="1" dirty="0">
                <a:latin typeface="Arial"/>
                <a:ea typeface="Arial"/>
                <a:cs typeface="Arial"/>
                <a:sym typeface="Arial"/>
              </a:rPr>
              <a:t>partial products</a:t>
            </a:r>
            <a:r>
              <a:rPr lang="en-US" sz="2200" dirty="0">
                <a:latin typeface="Arial"/>
                <a:ea typeface="Arial"/>
                <a:cs typeface="Arial"/>
                <a:sym typeface="Arial"/>
              </a:rPr>
              <a:t>) and combine to find the whole</a:t>
            </a:r>
          </a:p>
        </p:txBody>
      </p:sp>
      <p:pic>
        <p:nvPicPr>
          <p:cNvPr id="6" name="Google Shape;450;p8" descr="A model of 2 digit multiplication with base 10 materials. A long rectangle is covered in base 10 materials. The length is 47, 4 tens and 7 ones, the height is 6 ones. The rectangle has 5 parts, divided vertically. Each of the 5 parts have 6 parts, divided horizontally. 4 of the 5 parts are equal. 6 times 40 = 240, or 6 ones times 4 tens = 24 tens, or 240. The fifth part is divided into 7 parts vertically, so that this part is a 7 by 6 grid. 6 ones times 7 ones = 42 ones.">
            <a:extLst>
              <a:ext uri="{FF2B5EF4-FFF2-40B4-BE49-F238E27FC236}">
                <a16:creationId xmlns:a16="http://schemas.microsoft.com/office/drawing/2014/main" id="{E99F5D62-99EC-03A3-8378-CE27EAE0063B}"/>
              </a:ext>
            </a:extLst>
          </p:cNvPr>
          <p:cNvPicPr preferRelativeResize="0"/>
          <p:nvPr/>
        </p:nvPicPr>
        <p:blipFill rotWithShape="1">
          <a:blip r:embed="rId3">
            <a:alphaModFix/>
          </a:blip>
          <a:srcRect/>
          <a:stretch/>
        </p:blipFill>
        <p:spPr>
          <a:xfrm>
            <a:off x="676033" y="3048945"/>
            <a:ext cx="3988587" cy="1637071"/>
          </a:xfrm>
          <a:prstGeom prst="rect">
            <a:avLst/>
          </a:prstGeom>
          <a:noFill/>
          <a:ln>
            <a:noFill/>
          </a:ln>
        </p:spPr>
      </p:pic>
      <p:pic>
        <p:nvPicPr>
          <p:cNvPr id="7" name="Google Shape;452;p8" descr="An area model of ones, tens, and hundreds places. A rectangle a base of 47 centimeters and a height of 36 centimeters. It is divided into 4 parts, hundreds, tens, tens, and ones. From the top right and moving clockwise, hundreds is the biggest part, tens, ones is the smallest part, tens. The first tens part has a height of 30, part of the 36 total. The ones part has a height of 6, and length of 7, part of the total 47. The second tens part has a length of 40, part of the total 47.">
            <a:extLst>
              <a:ext uri="{FF2B5EF4-FFF2-40B4-BE49-F238E27FC236}">
                <a16:creationId xmlns:a16="http://schemas.microsoft.com/office/drawing/2014/main" id="{F5F9075C-31D7-B326-97A6-D4C97A76C501}"/>
              </a:ext>
            </a:extLst>
          </p:cNvPr>
          <p:cNvPicPr preferRelativeResize="0"/>
          <p:nvPr/>
        </p:nvPicPr>
        <p:blipFill rotWithShape="1">
          <a:blip r:embed="rId4">
            <a:alphaModFix/>
          </a:blip>
          <a:srcRect/>
          <a:stretch/>
        </p:blipFill>
        <p:spPr>
          <a:xfrm>
            <a:off x="6747268" y="1632673"/>
            <a:ext cx="3858491" cy="3131127"/>
          </a:xfrm>
          <a:prstGeom prst="rect">
            <a:avLst/>
          </a:prstGeom>
          <a:noFill/>
          <a:ln>
            <a:noFill/>
          </a:ln>
        </p:spPr>
      </p:pic>
    </p:spTree>
    <p:extLst>
      <p:ext uri="{BB962C8B-B14F-4D97-AF65-F5344CB8AC3E}">
        <p14:creationId xmlns:p14="http://schemas.microsoft.com/office/powerpoint/2010/main" val="4205219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16"/>
        <p:cNvGrpSpPr/>
        <p:nvPr/>
      </p:nvGrpSpPr>
      <p:grpSpPr>
        <a:xfrm>
          <a:off x="0" y="0"/>
          <a:ext cx="0" cy="0"/>
          <a:chOff x="0" y="0"/>
          <a:chExt cx="0" cy="0"/>
        </a:xfrm>
      </p:grpSpPr>
      <p:sp useBgFill="1">
        <p:nvSpPr>
          <p:cNvPr id="423" name="Rectangle 425">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Google Shape;417;p4"/>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rmAutofit/>
          </a:bodyPr>
          <a:lstStyle/>
          <a:p>
            <a:pPr>
              <a:lnSpc>
                <a:spcPct val="90000"/>
              </a:lnSpc>
              <a:spcBef>
                <a:spcPct val="0"/>
              </a:spcBef>
            </a:pPr>
            <a:r>
              <a:rPr lang="en-US" sz="4400" b="0" kern="1200" dirty="0">
                <a:solidFill>
                  <a:schemeClr val="tx1"/>
                </a:solidFill>
                <a:latin typeface="+mj-lt"/>
                <a:ea typeface="+mj-ea"/>
                <a:cs typeface="+mj-cs"/>
              </a:rPr>
              <a:t>Standard Algorithms for Multiplication (3 of 3)</a:t>
            </a:r>
          </a:p>
        </p:txBody>
      </p:sp>
      <p:sp>
        <p:nvSpPr>
          <p:cNvPr id="424" name="Rectangle 427">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425" name="Rectangle 429">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1B261450-158C-934D-7E43-E9F497A60758}"/>
              </a:ext>
            </a:extLst>
          </p:cNvPr>
          <p:cNvSpPr/>
          <p:nvPr/>
        </p:nvSpPr>
        <p:spPr>
          <a:xfrm>
            <a:off x="7363967" y="1517904"/>
            <a:ext cx="4828033" cy="518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459;p9">
            <a:extLst>
              <a:ext uri="{FF2B5EF4-FFF2-40B4-BE49-F238E27FC236}">
                <a16:creationId xmlns:a16="http://schemas.microsoft.com/office/drawing/2014/main" id="{AC231066-15C8-DFB7-96C2-5C391CDD9D15}"/>
              </a:ext>
            </a:extLst>
          </p:cNvPr>
          <p:cNvSpPr txBox="1">
            <a:spLocks/>
          </p:cNvSpPr>
          <p:nvPr/>
        </p:nvSpPr>
        <p:spPr>
          <a:xfrm>
            <a:off x="562033" y="1516833"/>
            <a:ext cx="2796181" cy="4710165"/>
          </a:xfrm>
          <a:prstGeom prst="rect">
            <a:avLst/>
          </a:prstGeom>
          <a:noFill/>
          <a:ln>
            <a:noFill/>
          </a:ln>
        </p:spPr>
        <p:txBody>
          <a:bodyPr spcFirstLastPara="1" vert="horz" wrap="square" lIns="91425" tIns="91425" rIns="91425" bIns="91425" rtlCol="0" anchor="t" anchorCtr="0">
            <a:noAutofit/>
          </a:bodyPr>
          <a:lstStyle>
            <a:lvl1pPr marL="457200" marR="0" lvl="0" indent="-330200" algn="l" defTabSz="914400" rtl="0" eaLnBrk="1" latinLnBrk="0" hangingPunct="1">
              <a:lnSpc>
                <a:spcPct val="100000"/>
              </a:lnSpc>
              <a:spcBef>
                <a:spcPts val="15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1pPr>
            <a:lvl2pPr marL="914400" marR="0" lvl="1"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2pPr>
            <a:lvl3pPr marL="1371600" marR="0" lvl="2" indent="-330200" algn="l" defTabSz="914400" rtl="0" eaLnBrk="1" latinLnBrk="0" hangingPunct="1">
              <a:lnSpc>
                <a:spcPct val="100000"/>
              </a:lnSpc>
              <a:spcBef>
                <a:spcPts val="600"/>
              </a:spcBef>
              <a:spcAft>
                <a:spcPts val="0"/>
              </a:spcAft>
              <a:buClr>
                <a:srgbClr val="007FA3"/>
              </a:buClr>
              <a:buSzPts val="1600"/>
              <a:buFont typeface="Noto Sans Symbols"/>
              <a:buChar char="▪"/>
              <a:defRPr sz="1600" b="0" i="0" u="none" strike="noStrike" kern="1200" cap="none">
                <a:solidFill>
                  <a:schemeClr val="dk1"/>
                </a:solidFill>
                <a:latin typeface="Arial"/>
                <a:ea typeface="Arial"/>
                <a:cs typeface="Arial"/>
                <a:sym typeface="Arial"/>
              </a:defRPr>
            </a:lvl3pPr>
            <a:lvl4pPr marL="1828800" marR="0" lvl="3"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4pPr>
            <a:lvl5pPr marL="2286000" marR="0" lvl="4"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5pPr>
            <a:lvl6pPr marL="2743200" marR="0" lvl="5"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6pPr>
            <a:lvl7pPr marL="3200400" marR="0" lvl="6"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7pPr>
            <a:lvl8pPr marL="3657600" marR="0" lvl="7"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8pPr>
            <a:lvl9pPr marL="4114800" marR="0" lvl="8"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9pPr>
          </a:lstStyle>
          <a:p>
            <a:pPr marL="0" indent="0">
              <a:spcBef>
                <a:spcPts val="0"/>
              </a:spcBef>
              <a:buSzPts val="2400"/>
              <a:buFont typeface="Arial"/>
              <a:buNone/>
            </a:pPr>
            <a:r>
              <a:rPr lang="en-US" sz="2600" b="1" dirty="0"/>
              <a:t>Open Array:</a:t>
            </a:r>
          </a:p>
          <a:p>
            <a:pPr marL="0" indent="0">
              <a:spcBef>
                <a:spcPts val="0"/>
              </a:spcBef>
              <a:buSzPts val="2400"/>
              <a:buFont typeface="Arial"/>
              <a:buNone/>
            </a:pPr>
            <a:endParaRPr lang="en-US" sz="2600" b="1" dirty="0"/>
          </a:p>
          <a:p>
            <a:pPr marL="0" indent="0">
              <a:spcBef>
                <a:spcPts val="0"/>
              </a:spcBef>
              <a:buSzPts val="2400"/>
              <a:buFont typeface="Arial"/>
              <a:buNone/>
            </a:pPr>
            <a:r>
              <a:rPr lang="en-US" sz="2600" dirty="0"/>
              <a:t>A semi-concrete representation of the area model</a:t>
            </a:r>
          </a:p>
        </p:txBody>
      </p:sp>
      <p:pic>
        <p:nvPicPr>
          <p:cNvPr id="11" name="Google Shape;460;p9" descr="3 sets of arrays of a multi digit multiplication problem. Array 1. There are 2 rows and 2 columns, all squares are empty. Array 2. From bottom down the rows are, 70, and 2. From left to right the columns are, 30, and 6. All squares are empty. Array 3. Row 1, 70. 30, 2,100. 6, 420. Row 2, 2. 30, 60. 6, 12. Long addition, 2,100 + 420 + 60 + 12 = 2,592.">
            <a:extLst>
              <a:ext uri="{FF2B5EF4-FFF2-40B4-BE49-F238E27FC236}">
                <a16:creationId xmlns:a16="http://schemas.microsoft.com/office/drawing/2014/main" id="{417E2B34-888D-CB46-942D-1B3056B1A2F7}"/>
              </a:ext>
            </a:extLst>
          </p:cNvPr>
          <p:cNvPicPr preferRelativeResize="0"/>
          <p:nvPr/>
        </p:nvPicPr>
        <p:blipFill rotWithShape="1">
          <a:blip r:embed="rId3">
            <a:alphaModFix/>
          </a:blip>
          <a:srcRect/>
          <a:stretch/>
        </p:blipFill>
        <p:spPr>
          <a:xfrm>
            <a:off x="8464454" y="1517904"/>
            <a:ext cx="3297778" cy="5184288"/>
          </a:xfrm>
          <a:prstGeom prst="rect">
            <a:avLst/>
          </a:prstGeom>
          <a:noFill/>
          <a:ln>
            <a:noFill/>
          </a:ln>
        </p:spPr>
      </p:pic>
      <p:sp>
        <p:nvSpPr>
          <p:cNvPr id="14" name="Google Shape;459;p9">
            <a:extLst>
              <a:ext uri="{FF2B5EF4-FFF2-40B4-BE49-F238E27FC236}">
                <a16:creationId xmlns:a16="http://schemas.microsoft.com/office/drawing/2014/main" id="{4033EB89-434E-D6DF-6229-CF8921E0553A}"/>
              </a:ext>
            </a:extLst>
          </p:cNvPr>
          <p:cNvSpPr txBox="1">
            <a:spLocks/>
          </p:cNvSpPr>
          <p:nvPr/>
        </p:nvSpPr>
        <p:spPr>
          <a:xfrm>
            <a:off x="3949603" y="1721922"/>
            <a:ext cx="4514850" cy="4710165"/>
          </a:xfrm>
          <a:prstGeom prst="rect">
            <a:avLst/>
          </a:prstGeom>
          <a:noFill/>
          <a:ln>
            <a:noFill/>
          </a:ln>
        </p:spPr>
        <p:txBody>
          <a:bodyPr spcFirstLastPara="1" vert="horz" wrap="square" lIns="91425" tIns="91425" rIns="91425" bIns="91425" rtlCol="0" anchor="t" anchorCtr="0">
            <a:noAutofit/>
          </a:bodyPr>
          <a:lstStyle>
            <a:lvl1pPr marL="457200" marR="0" lvl="0" indent="-330200" algn="l" defTabSz="914400" rtl="0" eaLnBrk="1" latinLnBrk="0" hangingPunct="1">
              <a:lnSpc>
                <a:spcPct val="100000"/>
              </a:lnSpc>
              <a:spcBef>
                <a:spcPts val="15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1pPr>
            <a:lvl2pPr marL="914400" marR="0" lvl="1"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2pPr>
            <a:lvl3pPr marL="1371600" marR="0" lvl="2" indent="-330200" algn="l" defTabSz="914400" rtl="0" eaLnBrk="1" latinLnBrk="0" hangingPunct="1">
              <a:lnSpc>
                <a:spcPct val="100000"/>
              </a:lnSpc>
              <a:spcBef>
                <a:spcPts val="600"/>
              </a:spcBef>
              <a:spcAft>
                <a:spcPts val="0"/>
              </a:spcAft>
              <a:buClr>
                <a:srgbClr val="007FA3"/>
              </a:buClr>
              <a:buSzPts val="1600"/>
              <a:buFont typeface="Noto Sans Symbols"/>
              <a:buChar char="▪"/>
              <a:defRPr sz="1600" b="0" i="0" u="none" strike="noStrike" kern="1200" cap="none">
                <a:solidFill>
                  <a:schemeClr val="dk1"/>
                </a:solidFill>
                <a:latin typeface="Arial"/>
                <a:ea typeface="Arial"/>
                <a:cs typeface="Arial"/>
                <a:sym typeface="Arial"/>
              </a:defRPr>
            </a:lvl3pPr>
            <a:lvl4pPr marL="1828800" marR="0" lvl="3"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4pPr>
            <a:lvl5pPr marL="2286000" marR="0" lvl="4"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5pPr>
            <a:lvl6pPr marL="2743200" marR="0" lvl="5"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6pPr>
            <a:lvl7pPr marL="3200400" marR="0" lvl="6"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7pPr>
            <a:lvl8pPr marL="3657600" marR="0" lvl="7"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8pPr>
            <a:lvl9pPr marL="4114800" marR="0" lvl="8"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9pPr>
          </a:lstStyle>
          <a:p>
            <a:pPr marL="0" indent="0">
              <a:buSzPts val="2400"/>
              <a:buFont typeface="Arial"/>
              <a:buNone/>
            </a:pPr>
            <a:r>
              <a:rPr lang="en-US" sz="2400" dirty="0"/>
              <a:t>Blank rectangle (not to scale)</a:t>
            </a:r>
          </a:p>
          <a:p>
            <a:pPr marL="0" indent="0">
              <a:buSzPts val="2400"/>
              <a:buFont typeface="Arial"/>
              <a:buNone/>
            </a:pPr>
            <a:endParaRPr lang="en-US" sz="1000" dirty="0"/>
          </a:p>
          <a:p>
            <a:pPr marL="0" indent="0">
              <a:buSzPts val="2400"/>
              <a:buFont typeface="Arial"/>
              <a:buNone/>
            </a:pPr>
            <a:r>
              <a:rPr lang="en-US" sz="2400" dirty="0"/>
              <a:t>Mark off the subdivisions based on the digits in the factors</a:t>
            </a:r>
          </a:p>
          <a:p>
            <a:pPr marL="0" indent="0">
              <a:buSzPts val="2400"/>
              <a:buFont typeface="Arial"/>
              <a:buNone/>
            </a:pPr>
            <a:endParaRPr lang="en-US" sz="1000" dirty="0"/>
          </a:p>
          <a:p>
            <a:pPr marL="0" indent="0">
              <a:buSzPts val="2400"/>
              <a:buFont typeface="Arial"/>
              <a:buNone/>
            </a:pPr>
            <a:r>
              <a:rPr lang="en-US" sz="2400" dirty="0"/>
              <a:t>Record partial products inside each subdivision.</a:t>
            </a:r>
          </a:p>
          <a:p>
            <a:pPr marL="0" indent="0">
              <a:buSzPts val="2400"/>
              <a:buFont typeface="Arial"/>
              <a:buNone/>
            </a:pPr>
            <a:endParaRPr lang="en-US" sz="1000" dirty="0"/>
          </a:p>
          <a:p>
            <a:pPr marL="0" indent="0">
              <a:buSzPts val="2400"/>
              <a:buFont typeface="Arial"/>
              <a:buNone/>
            </a:pPr>
            <a:r>
              <a:rPr lang="en-US" sz="2400" dirty="0"/>
              <a:t>Find the sum of partial products</a:t>
            </a:r>
          </a:p>
        </p:txBody>
      </p:sp>
      <p:cxnSp>
        <p:nvCxnSpPr>
          <p:cNvPr id="16" name="Straight Connector 15">
            <a:extLst>
              <a:ext uri="{FF2B5EF4-FFF2-40B4-BE49-F238E27FC236}">
                <a16:creationId xmlns:a16="http://schemas.microsoft.com/office/drawing/2014/main" id="{6283BD66-76B4-A935-23EA-AFA3CDBEBB32}"/>
              </a:ext>
            </a:extLst>
          </p:cNvPr>
          <p:cNvCxnSpPr/>
          <p:nvPr/>
        </p:nvCxnSpPr>
        <p:spPr>
          <a:xfrm>
            <a:off x="3492708" y="1721922"/>
            <a:ext cx="0" cy="4537620"/>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22231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16"/>
        <p:cNvGrpSpPr/>
        <p:nvPr/>
      </p:nvGrpSpPr>
      <p:grpSpPr>
        <a:xfrm>
          <a:off x="0" y="0"/>
          <a:ext cx="0" cy="0"/>
          <a:chOff x="0" y="0"/>
          <a:chExt cx="0" cy="0"/>
        </a:xfrm>
      </p:grpSpPr>
      <p:sp useBgFill="1">
        <p:nvSpPr>
          <p:cNvPr id="423" name="Rectangle 425">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Google Shape;417;p4"/>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Autofit/>
          </a:bodyPr>
          <a:lstStyle/>
          <a:p>
            <a:pPr>
              <a:lnSpc>
                <a:spcPct val="90000"/>
              </a:lnSpc>
              <a:spcBef>
                <a:spcPct val="0"/>
              </a:spcBef>
            </a:pPr>
            <a:r>
              <a:rPr lang="en-US" sz="4400" b="0" kern="1200" dirty="0">
                <a:solidFill>
                  <a:schemeClr val="tx1"/>
                </a:solidFill>
                <a:latin typeface="+mj-lt"/>
                <a:ea typeface="+mj-ea"/>
                <a:cs typeface="+mj-cs"/>
              </a:rPr>
              <a:t>Connecting Multiplication of Multidigit Numbers: Concrete and Abstract</a:t>
            </a:r>
          </a:p>
        </p:txBody>
      </p:sp>
      <p:sp>
        <p:nvSpPr>
          <p:cNvPr id="424" name="Rectangle 427">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425" name="Rectangle 429">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1B261450-158C-934D-7E43-E9F497A60758}"/>
              </a:ext>
            </a:extLst>
          </p:cNvPr>
          <p:cNvSpPr/>
          <p:nvPr/>
        </p:nvSpPr>
        <p:spPr>
          <a:xfrm>
            <a:off x="7363967" y="1517904"/>
            <a:ext cx="4828033" cy="518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66;p10" descr="A model of multiplication. This model has 4 parts. A rectangle with base 10 materials, written format of standard algorithm, reasoning, and a possible alternative. Part 1, rectangle. The rectangle is 36 by 47. 36 has 4 parts. 3 parts are equal, with a combined length of 30, tens. 1 part is a length of 6 ones. 47 has 5 parts. 4 parts are equal, with a combined length of 40, tens. 1 part is a length of 7 ones. This makes 1 part of the rectangle a grid of 6 ones by 7 ones, another part a rectangle of 3 tens by 7 ones, another part a rectangle of 6 ones by 4 tens, and a rectangle of 3 tens by 4 tens. Part 2, written format. This part has 2 formats. Each format writes the problem in long multiplication, with columns that align the ones, tens, hundreds, and thousands places. Format 1. Tens and ones, 47 times 36, = 42. Reasoning, 42 ones results from the rectangle of 6 ones by 7 ones, or 6 ones times 7 ones = 42 ones. 42 plus, hundreds and tens, 24, ones, blank. Reasoning, 24 tens results from the rectangle of 6 ones by 4 tens, or 6 ones times 4 tens = 24 tens. 24 tens + 21 tens, or in written format in the hundreds and tens columns, 24 + 21. Reasoning, 21 tens results from the rectangle of 3 tens by 7 ones, or 3 tens times 7 ones = 21 tens. 21 tens + 12 hundreds, or in written format in the thousands, hundreds, and tens columns, 21 tens + 12 hundreds. Reasoning, 12 hundreds results from the rectangle of 3 tens by 4 tens, or 3 tens times 4 tens = 12 hundreds. Total written format, 47 ones times 36 ones = 42 ones. 42 ones times 24 tens + 21 tens + 12 hundreds, = 1,692. The 1 in 1,692 and 12 hundreds are the only digits in the thousands column. Written format 2, 47 times 36, = 282. A 4 hovers above the 4 in 47, and is crossed out. A 2 in the hundreds column is above the multiplication problem. With the first number starting in the hundreds column, and the second number starting in the thousands column, 282 + 141, = 1,692. A possible alternative, in long multiplication. 47 times 36, = 1,200 + 210 + 240 + 42, = 1,692. ">
            <a:extLst>
              <a:ext uri="{FF2B5EF4-FFF2-40B4-BE49-F238E27FC236}">
                <a16:creationId xmlns:a16="http://schemas.microsoft.com/office/drawing/2014/main" id="{37D7B178-7E0F-9BF9-E7F3-7F88F63C684B}"/>
              </a:ext>
            </a:extLst>
          </p:cNvPr>
          <p:cNvPicPr preferRelativeResize="0"/>
          <p:nvPr/>
        </p:nvPicPr>
        <p:blipFill rotWithShape="1">
          <a:blip r:embed="rId3">
            <a:alphaModFix/>
          </a:blip>
          <a:srcRect l="1193" r="1192"/>
          <a:stretch/>
        </p:blipFill>
        <p:spPr>
          <a:xfrm>
            <a:off x="1951594" y="1794538"/>
            <a:ext cx="8288812" cy="5040460"/>
          </a:xfrm>
          <a:prstGeom prst="rect">
            <a:avLst/>
          </a:prstGeom>
          <a:noFill/>
          <a:ln>
            <a:noFill/>
          </a:ln>
        </p:spPr>
      </p:pic>
    </p:spTree>
    <p:extLst>
      <p:ext uri="{BB962C8B-B14F-4D97-AF65-F5344CB8AC3E}">
        <p14:creationId xmlns:p14="http://schemas.microsoft.com/office/powerpoint/2010/main" val="2921221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DF99605D-9BAD-AFE2-0612-CCBC70A1576E}"/>
                  </a:ext>
                </a:extLst>
              </p:cNvPr>
              <p:cNvSpPr>
                <a:spLocks noGrp="1"/>
              </p:cNvSpPr>
              <p:nvPr>
                <p:ph type="title"/>
              </p:nvPr>
            </p:nvSpPr>
            <p:spPr>
              <a:xfrm>
                <a:off x="640080" y="325369"/>
                <a:ext cx="4368602" cy="1956841"/>
              </a:xfrm>
            </p:spPr>
            <p:txBody>
              <a:bodyPr anchor="b">
                <a:norm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47 </m:t>
                      </m:r>
                      <m:r>
                        <a:rPr lang="en-US" sz="5400" b="0" i="1" smtClean="0">
                          <a:latin typeface="Cambria Math" panose="02040503050406030204" pitchFamily="18" charset="0"/>
                          <a:ea typeface="Cambria Math" panose="02040503050406030204" pitchFamily="18" charset="0"/>
                        </a:rPr>
                        <m:t>× 36</m:t>
                      </m:r>
                    </m:oMath>
                  </m:oMathPara>
                </a14:m>
                <a:endParaRPr lang="en-US" sz="5400" dirty="0"/>
              </a:p>
            </p:txBody>
          </p:sp>
        </mc:Choice>
        <mc:Fallback xmlns="">
          <p:sp>
            <p:nvSpPr>
              <p:cNvPr id="5" name="Title 4">
                <a:extLst>
                  <a:ext uri="{FF2B5EF4-FFF2-40B4-BE49-F238E27FC236}">
                    <a16:creationId xmlns:a16="http://schemas.microsoft.com/office/drawing/2014/main" id="{DF99605D-9BAD-AFE2-0612-CCBC70A1576E}"/>
                  </a:ext>
                </a:extLst>
              </p:cNvPr>
              <p:cNvSpPr>
                <a:spLocks noGrp="1" noRot="1" noChangeAspect="1" noMove="1" noResize="1" noEditPoints="1" noAdjustHandles="1" noChangeArrowheads="1" noChangeShapeType="1" noTextEdit="1"/>
              </p:cNvSpPr>
              <p:nvPr>
                <p:ph type="title"/>
              </p:nvPr>
            </p:nvSpPr>
            <p:spPr>
              <a:xfrm>
                <a:off x="640080" y="325369"/>
                <a:ext cx="4368602" cy="1956841"/>
              </a:xfrm>
              <a:blipFill>
                <a:blip r:embed="rId2"/>
                <a:stretch>
                  <a:fillRect b="-14194"/>
                </a:stretch>
              </a:blipFill>
            </p:spPr>
            <p:txBody>
              <a:bodyPr/>
              <a:lstStyle/>
              <a:p>
                <a:r>
                  <a:rPr lang="en-US">
                    <a:noFill/>
                  </a:rPr>
                  <a:t> </a:t>
                </a:r>
              </a:p>
            </p:txBody>
          </p:sp>
        </mc:Fallback>
      </mc:AlternateContent>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7D430A6-8277-4689-BAD4-BEB14CBD1A86}"/>
              </a:ext>
            </a:extLst>
          </p:cNvPr>
          <p:cNvSpPr>
            <a:spLocks noGrp="1"/>
          </p:cNvSpPr>
          <p:nvPr>
            <p:ph idx="1"/>
          </p:nvPr>
        </p:nvSpPr>
        <p:spPr>
          <a:xfrm>
            <a:off x="640080" y="2872899"/>
            <a:ext cx="4243589" cy="3320668"/>
          </a:xfrm>
        </p:spPr>
        <p:txBody>
          <a:bodyPr vert="horz" lIns="91440" tIns="45720" rIns="91440" bIns="45720" rtlCol="0">
            <a:normAutofit/>
          </a:bodyPr>
          <a:lstStyle/>
          <a:p>
            <a:pPr marL="0" indent="0">
              <a:buNone/>
            </a:pPr>
            <a:r>
              <a:rPr lang="en-US" sz="2200" cap="all" dirty="0">
                <a:hlinkClick r:id="rId3"/>
              </a:rPr>
              <a:t>Video link</a:t>
            </a:r>
            <a:endParaRPr lang="en-US" sz="2200" cap="all" dirty="0"/>
          </a:p>
        </p:txBody>
      </p:sp>
      <p:pic>
        <p:nvPicPr>
          <p:cNvPr id="7" name="Picture 6" descr="A child sitting on a couch  Description automatically generated">
            <a:extLst>
              <a:ext uri="{FF2B5EF4-FFF2-40B4-BE49-F238E27FC236}">
                <a16:creationId xmlns:a16="http://schemas.microsoft.com/office/drawing/2014/main" id="{75BBD12F-6532-2B05-F071-7937EE46A030}"/>
              </a:ext>
            </a:extLst>
          </p:cNvPr>
          <p:cNvPicPr>
            <a:picLocks noChangeAspect="1"/>
          </p:cNvPicPr>
          <p:nvPr/>
        </p:nvPicPr>
        <p:blipFill rotWithShape="1">
          <a:blip r:embed="rId4"/>
          <a:srcRect r="23518"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909834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6">
          <a:extLst>
            <a:ext uri="{FF2B5EF4-FFF2-40B4-BE49-F238E27FC236}">
              <a16:creationId xmlns:a16="http://schemas.microsoft.com/office/drawing/2014/main" id="{F5570762-2C8E-05DB-3BB5-E5DC60C59139}"/>
            </a:ext>
          </a:extLst>
        </p:cNvPr>
        <p:cNvGrpSpPr/>
        <p:nvPr/>
      </p:nvGrpSpPr>
      <p:grpSpPr>
        <a:xfrm>
          <a:off x="0" y="0"/>
          <a:ext cx="0" cy="0"/>
          <a:chOff x="0" y="0"/>
          <a:chExt cx="0" cy="0"/>
        </a:xfrm>
      </p:grpSpPr>
      <p:sp>
        <p:nvSpPr>
          <p:cNvPr id="417" name="Google Shape;417;p4">
            <a:extLst>
              <a:ext uri="{FF2B5EF4-FFF2-40B4-BE49-F238E27FC236}">
                <a16:creationId xmlns:a16="http://schemas.microsoft.com/office/drawing/2014/main" id="{B18C3BF3-37BA-695D-2697-E1DBE4CB3514}"/>
              </a:ext>
            </a:extLst>
          </p:cNvPr>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rmAutofit/>
          </a:bodyPr>
          <a:lstStyle/>
          <a:p>
            <a:pPr>
              <a:lnSpc>
                <a:spcPct val="90000"/>
              </a:lnSpc>
              <a:spcBef>
                <a:spcPct val="0"/>
              </a:spcBef>
            </a:pPr>
            <a:r>
              <a:rPr lang="en-US" sz="4400" b="0" kern="1200" dirty="0">
                <a:solidFill>
                  <a:schemeClr val="tx1"/>
                </a:solidFill>
                <a:latin typeface="+mj-lt"/>
                <a:ea typeface="+mj-ea"/>
                <a:cs typeface="+mj-cs"/>
              </a:rPr>
              <a:t xml:space="preserve">Starting with Large Division, Unit 3 packet p. 38 </a:t>
            </a:r>
          </a:p>
        </p:txBody>
      </p:sp>
      <p:sp>
        <p:nvSpPr>
          <p:cNvPr id="12" name="Rectangle 11">
            <a:extLst>
              <a:ext uri="{FF2B5EF4-FFF2-40B4-BE49-F238E27FC236}">
                <a16:creationId xmlns:a16="http://schemas.microsoft.com/office/drawing/2014/main" id="{5D430DFD-69AF-734E-FEBE-6409817A0211}"/>
              </a:ext>
            </a:extLst>
          </p:cNvPr>
          <p:cNvSpPr/>
          <p:nvPr/>
        </p:nvSpPr>
        <p:spPr>
          <a:xfrm>
            <a:off x="7356143" y="1721922"/>
            <a:ext cx="4835858" cy="4980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427;p5">
            <a:extLst>
              <a:ext uri="{FF2B5EF4-FFF2-40B4-BE49-F238E27FC236}">
                <a16:creationId xmlns:a16="http://schemas.microsoft.com/office/drawing/2014/main" id="{F29A1FA3-AB21-0BB0-1829-8A7AD39372EA}"/>
              </a:ext>
            </a:extLst>
          </p:cNvPr>
          <p:cNvSpPr txBox="1">
            <a:spLocks noGrp="1"/>
          </p:cNvSpPr>
          <p:nvPr>
            <p:ph type="body" idx="1"/>
          </p:nvPr>
        </p:nvSpPr>
        <p:spPr>
          <a:xfrm>
            <a:off x="429767" y="2319579"/>
            <a:ext cx="8148545" cy="3073831"/>
          </a:xfrm>
          <a:prstGeom prst="rect">
            <a:avLst/>
          </a:prstGeom>
          <a:solidFill>
            <a:schemeClr val="bg1"/>
          </a:solidFill>
          <a:ln>
            <a:noFill/>
          </a:ln>
        </p:spPr>
        <p:txBody>
          <a:bodyPr spcFirstLastPara="1" vert="horz" wrap="square" lIns="91425" tIns="91425" rIns="91425" bIns="91425" rtlCol="0" anchor="t" anchorCtr="0">
            <a:noAutofit/>
          </a:bodyPr>
          <a:lstStyle/>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marL="0" indent="0">
              <a:spcBef>
                <a:spcPts val="0"/>
              </a:spcBef>
              <a:buSzPts val="2400"/>
              <a:buNone/>
            </a:pPr>
            <a:endParaRPr lang="en-US" sz="2600" dirty="0"/>
          </a:p>
        </p:txBody>
      </p:sp>
      <p:sp>
        <p:nvSpPr>
          <p:cNvPr id="7" name="Google Shape;427;p5">
            <a:extLst>
              <a:ext uri="{FF2B5EF4-FFF2-40B4-BE49-F238E27FC236}">
                <a16:creationId xmlns:a16="http://schemas.microsoft.com/office/drawing/2014/main" id="{B05D9CAF-9BE1-BE43-1512-51ACAD29FC7D}"/>
              </a:ext>
            </a:extLst>
          </p:cNvPr>
          <p:cNvSpPr txBox="1">
            <a:spLocks/>
          </p:cNvSpPr>
          <p:nvPr/>
        </p:nvSpPr>
        <p:spPr>
          <a:xfrm>
            <a:off x="429766" y="1600200"/>
            <a:ext cx="10961488" cy="4980270"/>
          </a:xfrm>
          <a:prstGeom prst="rect">
            <a:avLst/>
          </a:prstGeom>
          <a:solidFill>
            <a:schemeClr val="bg1"/>
          </a:solidFill>
          <a:ln>
            <a:noFill/>
          </a:ln>
        </p:spPr>
        <p:txBody>
          <a:bodyPr spcFirstLastPara="1" vert="horz" wrap="square" lIns="91425" tIns="91425" rIns="91425" bIns="91425" rtlCol="0" anchor="t" anchorCtr="0">
            <a:noAutofit/>
          </a:bodyPr>
          <a:lstStyle>
            <a:lvl1pPr marL="457200" marR="0" lvl="0" indent="-330200" algn="l" defTabSz="914400" rtl="0" eaLnBrk="1" latinLnBrk="0" hangingPunct="1">
              <a:lnSpc>
                <a:spcPct val="100000"/>
              </a:lnSpc>
              <a:spcBef>
                <a:spcPts val="15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1pPr>
            <a:lvl2pPr marL="914400" marR="0" lvl="1"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2pPr>
            <a:lvl3pPr marL="1371600" marR="0" lvl="2" indent="-330200" algn="l" defTabSz="914400" rtl="0" eaLnBrk="1" latinLnBrk="0" hangingPunct="1">
              <a:lnSpc>
                <a:spcPct val="100000"/>
              </a:lnSpc>
              <a:spcBef>
                <a:spcPts val="600"/>
              </a:spcBef>
              <a:spcAft>
                <a:spcPts val="0"/>
              </a:spcAft>
              <a:buClr>
                <a:srgbClr val="007FA3"/>
              </a:buClr>
              <a:buSzPts val="1600"/>
              <a:buFont typeface="Noto Sans Symbols"/>
              <a:buChar char="▪"/>
              <a:defRPr sz="1600" b="0" i="0" u="none" strike="noStrike" kern="1200" cap="none">
                <a:solidFill>
                  <a:schemeClr val="dk1"/>
                </a:solidFill>
                <a:latin typeface="Arial"/>
                <a:ea typeface="Arial"/>
                <a:cs typeface="Arial"/>
                <a:sym typeface="Arial"/>
              </a:defRPr>
            </a:lvl3pPr>
            <a:lvl4pPr marL="1828800" marR="0" lvl="3"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4pPr>
            <a:lvl5pPr marL="2286000" marR="0" lvl="4"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5pPr>
            <a:lvl6pPr marL="2743200" marR="0" lvl="5"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6pPr>
            <a:lvl7pPr marL="3200400" marR="0" lvl="6"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7pPr>
            <a:lvl8pPr marL="3657600" marR="0" lvl="7"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8pPr>
            <a:lvl9pPr marL="4114800" marR="0" lvl="8"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9pPr>
          </a:lstStyle>
          <a:p>
            <a:pPr indent="-457200">
              <a:spcBef>
                <a:spcPts val="0"/>
              </a:spcBef>
              <a:buSzPts val="2400"/>
            </a:pPr>
            <a:r>
              <a:rPr lang="en-US" sz="2600" dirty="0"/>
              <a:t xml:space="preserve">Sharing </a:t>
            </a:r>
          </a:p>
          <a:p>
            <a:pPr lvl="1" indent="-457200">
              <a:spcBef>
                <a:spcPts val="0"/>
              </a:spcBef>
              <a:buSzPts val="2400"/>
            </a:pPr>
            <a:r>
              <a:rPr lang="en-US" sz="2600" dirty="0"/>
              <a:t>You don’t know the group size. You do know the number of groups.</a:t>
            </a:r>
          </a:p>
          <a:p>
            <a:pPr lvl="1" indent="-457200">
              <a:spcBef>
                <a:spcPts val="0"/>
              </a:spcBef>
              <a:buSzPts val="2400"/>
            </a:pPr>
            <a:r>
              <a:rPr lang="en-US" sz="2600" dirty="0"/>
              <a:t>Works well to model with base ten blocks</a:t>
            </a:r>
          </a:p>
          <a:p>
            <a:pPr lvl="1" indent="-457200">
              <a:spcBef>
                <a:spcPts val="0"/>
              </a:spcBef>
              <a:buSzPts val="2400"/>
            </a:pPr>
            <a:r>
              <a:rPr lang="en-US" sz="2600" dirty="0"/>
              <a:t>Use models first and then have students record</a:t>
            </a:r>
          </a:p>
          <a:p>
            <a:pPr lvl="1" indent="-457200">
              <a:spcBef>
                <a:spcPts val="0"/>
              </a:spcBef>
              <a:buSzPts val="2400"/>
            </a:pPr>
            <a:endParaRPr lang="en-US" sz="2600" dirty="0"/>
          </a:p>
          <a:p>
            <a:pPr indent="-457200">
              <a:spcBef>
                <a:spcPts val="0"/>
              </a:spcBef>
              <a:buSzPts val="2400"/>
            </a:pPr>
            <a:r>
              <a:rPr lang="en-US" sz="2600" dirty="0"/>
              <a:t>Measurement</a:t>
            </a:r>
          </a:p>
          <a:p>
            <a:pPr lvl="1" indent="-457200">
              <a:spcBef>
                <a:spcPts val="0"/>
              </a:spcBef>
              <a:buSzPts val="2400"/>
            </a:pPr>
            <a:r>
              <a:rPr lang="en-US" sz="2600" dirty="0"/>
              <a:t xml:space="preserve">You don’t know the number of groups. You do know the group size. </a:t>
            </a:r>
          </a:p>
          <a:p>
            <a:pPr lvl="1" indent="-457200">
              <a:spcBef>
                <a:spcPts val="0"/>
              </a:spcBef>
              <a:buSzPts val="2400"/>
            </a:pPr>
            <a:r>
              <a:rPr lang="en-US" sz="2600" dirty="0"/>
              <a:t>Works well to model with open arrays</a:t>
            </a:r>
          </a:p>
          <a:p>
            <a:pPr lvl="1" indent="-457200">
              <a:spcBef>
                <a:spcPts val="0"/>
              </a:spcBef>
              <a:buSzPts val="2400"/>
            </a:pPr>
            <a:r>
              <a:rPr lang="en-US" sz="2600" dirty="0"/>
              <a:t xml:space="preserve">Use models first and then have students record </a:t>
            </a:r>
          </a:p>
          <a:p>
            <a:pPr lvl="1"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p:txBody>
      </p:sp>
    </p:spTree>
    <p:extLst>
      <p:ext uri="{BB962C8B-B14F-4D97-AF65-F5344CB8AC3E}">
        <p14:creationId xmlns:p14="http://schemas.microsoft.com/office/powerpoint/2010/main" val="3681298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6">
          <a:extLst>
            <a:ext uri="{FF2B5EF4-FFF2-40B4-BE49-F238E27FC236}">
              <a16:creationId xmlns:a16="http://schemas.microsoft.com/office/drawing/2014/main" id="{45B60A80-C628-CE4A-C6F0-31CBA063FD04}"/>
            </a:ext>
          </a:extLst>
        </p:cNvPr>
        <p:cNvGrpSpPr/>
        <p:nvPr/>
      </p:nvGrpSpPr>
      <p:grpSpPr>
        <a:xfrm>
          <a:off x="0" y="0"/>
          <a:ext cx="0" cy="0"/>
          <a:chOff x="0" y="0"/>
          <a:chExt cx="0" cy="0"/>
        </a:xfrm>
      </p:grpSpPr>
      <p:sp>
        <p:nvSpPr>
          <p:cNvPr id="417" name="Google Shape;417;p4">
            <a:extLst>
              <a:ext uri="{FF2B5EF4-FFF2-40B4-BE49-F238E27FC236}">
                <a16:creationId xmlns:a16="http://schemas.microsoft.com/office/drawing/2014/main" id="{595D44F1-F603-1AD0-AA9E-9EF60F9A4529}"/>
              </a:ext>
            </a:extLst>
          </p:cNvPr>
          <p:cNvSpPr txBox="1">
            <a:spLocks noGrp="1"/>
          </p:cNvSpPr>
          <p:nvPr>
            <p:ph type="title"/>
          </p:nvPr>
        </p:nvSpPr>
        <p:spPr>
          <a:xfrm>
            <a:off x="429768" y="411480"/>
            <a:ext cx="11201400" cy="1106424"/>
          </a:xfrm>
          <a:prstGeom prst="rect">
            <a:avLst/>
          </a:prstGeom>
        </p:spPr>
        <p:txBody>
          <a:bodyPr spcFirstLastPara="1" vert="horz" lIns="91440" tIns="45720" rIns="91440" bIns="45720" rtlCol="0" anchor="ctr" anchorCtr="0">
            <a:normAutofit/>
          </a:bodyPr>
          <a:lstStyle/>
          <a:p>
            <a:pPr>
              <a:lnSpc>
                <a:spcPct val="90000"/>
              </a:lnSpc>
              <a:spcBef>
                <a:spcPct val="0"/>
              </a:spcBef>
            </a:pPr>
            <a:r>
              <a:rPr lang="en-US" sz="4400" b="0" kern="1200" dirty="0">
                <a:solidFill>
                  <a:schemeClr val="tx1"/>
                </a:solidFill>
                <a:latin typeface="+mj-lt"/>
                <a:ea typeface="+mj-ea"/>
                <a:cs typeface="+mj-cs"/>
              </a:rPr>
              <a:t xml:space="preserve">Starting with Large Division, Unit 3 packet p. 38 </a:t>
            </a:r>
          </a:p>
        </p:txBody>
      </p:sp>
      <p:sp>
        <p:nvSpPr>
          <p:cNvPr id="12" name="Rectangle 11">
            <a:extLst>
              <a:ext uri="{FF2B5EF4-FFF2-40B4-BE49-F238E27FC236}">
                <a16:creationId xmlns:a16="http://schemas.microsoft.com/office/drawing/2014/main" id="{1D340A0E-B027-4692-0312-11E2FE8D1DDB}"/>
              </a:ext>
            </a:extLst>
          </p:cNvPr>
          <p:cNvSpPr/>
          <p:nvPr/>
        </p:nvSpPr>
        <p:spPr>
          <a:xfrm>
            <a:off x="7356143" y="1721922"/>
            <a:ext cx="4835858" cy="4980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427;p5">
            <a:extLst>
              <a:ext uri="{FF2B5EF4-FFF2-40B4-BE49-F238E27FC236}">
                <a16:creationId xmlns:a16="http://schemas.microsoft.com/office/drawing/2014/main" id="{61BBD30F-6C45-F6AE-1388-7DAE4CB372FF}"/>
              </a:ext>
            </a:extLst>
          </p:cNvPr>
          <p:cNvSpPr txBox="1">
            <a:spLocks noGrp="1"/>
          </p:cNvSpPr>
          <p:nvPr>
            <p:ph type="body" idx="1"/>
          </p:nvPr>
        </p:nvSpPr>
        <p:spPr>
          <a:xfrm>
            <a:off x="429767" y="2319579"/>
            <a:ext cx="8148545" cy="3073831"/>
          </a:xfrm>
          <a:prstGeom prst="rect">
            <a:avLst/>
          </a:prstGeom>
          <a:solidFill>
            <a:schemeClr val="bg1"/>
          </a:solidFill>
          <a:ln>
            <a:noFill/>
          </a:ln>
        </p:spPr>
        <p:txBody>
          <a:bodyPr spcFirstLastPara="1" vert="horz" wrap="square" lIns="91425" tIns="91425" rIns="91425" bIns="91425" rtlCol="0" anchor="t" anchorCtr="0">
            <a:noAutofit/>
          </a:bodyPr>
          <a:lstStyle/>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a:p>
            <a:pPr marL="0" indent="0">
              <a:spcBef>
                <a:spcPts val="0"/>
              </a:spcBef>
              <a:buSzPts val="2400"/>
              <a:buNone/>
            </a:pPr>
            <a:endParaRPr lang="en-US" sz="2600" dirty="0"/>
          </a:p>
        </p:txBody>
      </p:sp>
      <p:sp>
        <p:nvSpPr>
          <p:cNvPr id="7" name="Google Shape;427;p5">
            <a:extLst>
              <a:ext uri="{FF2B5EF4-FFF2-40B4-BE49-F238E27FC236}">
                <a16:creationId xmlns:a16="http://schemas.microsoft.com/office/drawing/2014/main" id="{169817F0-CF81-572D-A3BE-7298208E828E}"/>
              </a:ext>
            </a:extLst>
          </p:cNvPr>
          <p:cNvSpPr txBox="1">
            <a:spLocks/>
          </p:cNvSpPr>
          <p:nvPr/>
        </p:nvSpPr>
        <p:spPr>
          <a:xfrm>
            <a:off x="429766" y="1600200"/>
            <a:ext cx="10961488" cy="4980270"/>
          </a:xfrm>
          <a:prstGeom prst="rect">
            <a:avLst/>
          </a:prstGeom>
          <a:solidFill>
            <a:schemeClr val="bg1"/>
          </a:solidFill>
          <a:ln>
            <a:noFill/>
          </a:ln>
        </p:spPr>
        <p:txBody>
          <a:bodyPr spcFirstLastPara="1" vert="horz" wrap="square" lIns="91425" tIns="91425" rIns="91425" bIns="91425" rtlCol="0" anchor="t" anchorCtr="0">
            <a:noAutofit/>
          </a:bodyPr>
          <a:lstStyle>
            <a:lvl1pPr marL="457200" marR="0" lvl="0" indent="-330200" algn="l" defTabSz="914400" rtl="0" eaLnBrk="1" latinLnBrk="0" hangingPunct="1">
              <a:lnSpc>
                <a:spcPct val="100000"/>
              </a:lnSpc>
              <a:spcBef>
                <a:spcPts val="15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1pPr>
            <a:lvl2pPr marL="914400" marR="0" lvl="1"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2pPr>
            <a:lvl3pPr marL="1371600" marR="0" lvl="2" indent="-330200" algn="l" defTabSz="914400" rtl="0" eaLnBrk="1" latinLnBrk="0" hangingPunct="1">
              <a:lnSpc>
                <a:spcPct val="100000"/>
              </a:lnSpc>
              <a:spcBef>
                <a:spcPts val="600"/>
              </a:spcBef>
              <a:spcAft>
                <a:spcPts val="0"/>
              </a:spcAft>
              <a:buClr>
                <a:srgbClr val="007FA3"/>
              </a:buClr>
              <a:buSzPts val="1600"/>
              <a:buFont typeface="Noto Sans Symbols"/>
              <a:buChar char="▪"/>
              <a:defRPr sz="1600" b="0" i="0" u="none" strike="noStrike" kern="1200" cap="none">
                <a:solidFill>
                  <a:schemeClr val="dk1"/>
                </a:solidFill>
                <a:latin typeface="Arial"/>
                <a:ea typeface="Arial"/>
                <a:cs typeface="Arial"/>
                <a:sym typeface="Arial"/>
              </a:defRPr>
            </a:lvl3pPr>
            <a:lvl4pPr marL="1828800" marR="0" lvl="3"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4pPr>
            <a:lvl5pPr marL="2286000" marR="0" lvl="4" indent="-330200" algn="l" defTabSz="914400" rtl="0" eaLnBrk="1" latinLnBrk="0" hangingPunct="1">
              <a:lnSpc>
                <a:spcPct val="100000"/>
              </a:lnSpc>
              <a:spcBef>
                <a:spcPts val="600"/>
              </a:spcBef>
              <a:spcAft>
                <a:spcPts val="0"/>
              </a:spcAft>
              <a:buClr>
                <a:srgbClr val="007FA3"/>
              </a:buClr>
              <a:buSzPts val="1600"/>
              <a:buFont typeface="Arial"/>
              <a:buChar char="•"/>
              <a:defRPr sz="1600" b="0" i="0" u="none" strike="noStrike" kern="1200" cap="none">
                <a:solidFill>
                  <a:schemeClr val="dk1"/>
                </a:solidFill>
                <a:latin typeface="Arial"/>
                <a:ea typeface="Arial"/>
                <a:cs typeface="Arial"/>
                <a:sym typeface="Arial"/>
              </a:defRPr>
            </a:lvl5pPr>
            <a:lvl6pPr marL="2743200" marR="0" lvl="5"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6pPr>
            <a:lvl7pPr marL="3200400" marR="0" lvl="6"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7pPr>
            <a:lvl8pPr marL="3657600" marR="0" lvl="7"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8pPr>
            <a:lvl9pPr marL="4114800" marR="0" lvl="8" indent="-317500" algn="l" defTabSz="914400" rtl="0" eaLnBrk="1" latinLnBrk="0" hangingPunct="1">
              <a:lnSpc>
                <a:spcPct val="100000"/>
              </a:lnSpc>
              <a:spcBef>
                <a:spcPts val="300"/>
              </a:spcBef>
              <a:spcAft>
                <a:spcPts val="0"/>
              </a:spcAft>
              <a:buClr>
                <a:srgbClr val="007FA3"/>
              </a:buClr>
              <a:buSzPts val="1400"/>
              <a:buFont typeface="Arial"/>
              <a:buChar char="•"/>
              <a:defRPr sz="1400" b="0" i="0" u="none" strike="noStrike" kern="1200" cap="none">
                <a:solidFill>
                  <a:schemeClr val="dk1"/>
                </a:solidFill>
                <a:latin typeface="Arial"/>
                <a:ea typeface="Arial"/>
                <a:cs typeface="Arial"/>
                <a:sym typeface="Arial"/>
              </a:defRPr>
            </a:lvl9pPr>
          </a:lstStyle>
          <a:p>
            <a:pPr marL="0" indent="0">
              <a:spcBef>
                <a:spcPts val="0"/>
              </a:spcBef>
              <a:buSzPts val="2400"/>
              <a:buNone/>
            </a:pPr>
            <a:endParaRPr lang="en-US" sz="2600" dirty="0"/>
          </a:p>
          <a:p>
            <a:pPr indent="-457200">
              <a:spcBef>
                <a:spcPts val="0"/>
              </a:spcBef>
              <a:buSzPts val="2400"/>
            </a:pPr>
            <a:endParaRPr lang="en-US" sz="2600" dirty="0"/>
          </a:p>
          <a:p>
            <a:pPr indent="-457200">
              <a:spcBef>
                <a:spcPts val="0"/>
              </a:spcBef>
              <a:buSzPts val="2400"/>
            </a:pPr>
            <a:endParaRPr lang="en-US" sz="2600" dirty="0"/>
          </a:p>
          <a:p>
            <a:pPr indent="-457200">
              <a:spcBef>
                <a:spcPts val="0"/>
              </a:spcBef>
              <a:buSzPts val="2400"/>
            </a:pPr>
            <a:endParaRPr lang="en-US" sz="2600" dirty="0"/>
          </a:p>
        </p:txBody>
      </p:sp>
      <p:pic>
        <p:nvPicPr>
          <p:cNvPr id="6" name="Picture 5" descr="A white paper with black text  AI-generated content may be incorrect.">
            <a:extLst>
              <a:ext uri="{FF2B5EF4-FFF2-40B4-BE49-F238E27FC236}">
                <a16:creationId xmlns:a16="http://schemas.microsoft.com/office/drawing/2014/main" id="{4B263454-E7FF-F91F-0E93-006D7A3E52D2}"/>
              </a:ext>
            </a:extLst>
          </p:cNvPr>
          <p:cNvPicPr>
            <a:picLocks noChangeAspect="1"/>
          </p:cNvPicPr>
          <p:nvPr/>
        </p:nvPicPr>
        <p:blipFill>
          <a:blip r:embed="rId3"/>
          <a:stretch>
            <a:fillRect/>
          </a:stretch>
        </p:blipFill>
        <p:spPr>
          <a:xfrm>
            <a:off x="1619794" y="1600200"/>
            <a:ext cx="9499251" cy="3073831"/>
          </a:xfrm>
          <a:prstGeom prst="rect">
            <a:avLst/>
          </a:prstGeom>
        </p:spPr>
      </p:pic>
    </p:spTree>
    <p:extLst>
      <p:ext uri="{BB962C8B-B14F-4D97-AF65-F5344CB8AC3E}">
        <p14:creationId xmlns:p14="http://schemas.microsoft.com/office/powerpoint/2010/main" val="1722593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F8FE29-332F-0F00-CE39-78D609D79799}"/>
              </a:ext>
            </a:extLst>
          </p:cNvPr>
          <p:cNvSpPr>
            <a:spLocks noGrp="1"/>
          </p:cNvSpPr>
          <p:nvPr>
            <p:ph type="title"/>
          </p:nvPr>
        </p:nvSpPr>
        <p:spPr>
          <a:xfrm>
            <a:off x="686834" y="591344"/>
            <a:ext cx="3200400" cy="5585619"/>
          </a:xfrm>
        </p:spPr>
        <p:txBody>
          <a:bodyPr>
            <a:normAutofit/>
          </a:bodyPr>
          <a:lstStyle/>
          <a:p>
            <a:r>
              <a:rPr lang="en-US" dirty="0">
                <a:solidFill>
                  <a:srgbClr val="FFFFFF"/>
                </a:solidFill>
              </a:rPr>
              <a:t>Until Next Time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FAB6EBF-A18D-CC29-3176-B51CD1102E1E}"/>
              </a:ext>
            </a:extLst>
          </p:cNvPr>
          <p:cNvSpPr>
            <a:spLocks noGrp="1"/>
          </p:cNvSpPr>
          <p:nvPr>
            <p:ph idx="1"/>
          </p:nvPr>
        </p:nvSpPr>
        <p:spPr>
          <a:xfrm>
            <a:off x="4447308" y="591344"/>
            <a:ext cx="5406376" cy="5585619"/>
          </a:xfrm>
        </p:spPr>
        <p:txBody>
          <a:bodyPr anchor="ctr">
            <a:normAutofit/>
          </a:bodyPr>
          <a:lstStyle/>
          <a:p>
            <a:r>
              <a:rPr lang="en-US" sz="3600" dirty="0"/>
              <a:t>No new reading</a:t>
            </a:r>
          </a:p>
          <a:p>
            <a:r>
              <a:rPr lang="en-US" sz="3600" dirty="0"/>
              <a:t xml:space="preserve">If you haven’t read </a:t>
            </a:r>
            <a:r>
              <a:rPr lang="en-US" sz="3600" dirty="0" err="1"/>
              <a:t>VdW</a:t>
            </a:r>
            <a:r>
              <a:rPr lang="en-US" sz="3600" dirty="0"/>
              <a:t xml:space="preserve"> Division strategies</a:t>
            </a:r>
          </a:p>
          <a:p>
            <a:r>
              <a:rPr lang="en-US" sz="3600" dirty="0"/>
              <a:t>Lesson 3 analysis due Sunday</a:t>
            </a:r>
          </a:p>
        </p:txBody>
      </p:sp>
    </p:spTree>
    <p:extLst>
      <p:ext uri="{BB962C8B-B14F-4D97-AF65-F5344CB8AC3E}">
        <p14:creationId xmlns:p14="http://schemas.microsoft.com/office/powerpoint/2010/main" val="605423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11589</TotalTime>
  <Words>421</Words>
  <Application>Microsoft Macintosh PowerPoint</Application>
  <PresentationFormat>Widescreen</PresentationFormat>
  <Paragraphs>83</Paragraphs>
  <Slides>13</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Cambria Math</vt:lpstr>
      <vt:lpstr>Noto Sans Symbols</vt:lpstr>
      <vt:lpstr>Times New Roman</vt:lpstr>
      <vt:lpstr>Office Theme</vt:lpstr>
      <vt:lpstr>E343: Elem Math Methods</vt:lpstr>
      <vt:lpstr>Agenda</vt:lpstr>
      <vt:lpstr>Warm Up with a Partner</vt:lpstr>
      <vt:lpstr>Reasoning Strategy: Number Strings/Cluster Problems</vt:lpstr>
      <vt:lpstr>Now You Try…</vt:lpstr>
      <vt:lpstr>Standard Algorithms for Multiplication (1 of 3)</vt:lpstr>
      <vt:lpstr>Standard Algorithms for Multiplication (2 of 3)</vt:lpstr>
      <vt:lpstr>Standard Algorithms for Multiplication (3 of 3)</vt:lpstr>
      <vt:lpstr>Connecting Multiplication of Multidigit Numbers: Concrete and Abstract</vt:lpstr>
      <vt:lpstr>47 × 36</vt:lpstr>
      <vt:lpstr>Starting with Large Division, Unit 3 packet p. 38 </vt:lpstr>
      <vt:lpstr>Starting with Large Division, Unit 3 packet p. 38 </vt:lpstr>
      <vt:lpstr>Until Next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Higher and Lower Cognitive Demand Tasks</dc:title>
  <dc:creator>Microsoft Office User</dc:creator>
  <cp:lastModifiedBy>Tillema, Erik</cp:lastModifiedBy>
  <cp:revision>42</cp:revision>
  <dcterms:created xsi:type="dcterms:W3CDTF">2019-03-05T07:42:18Z</dcterms:created>
  <dcterms:modified xsi:type="dcterms:W3CDTF">2025-11-12T16:43:23Z</dcterms:modified>
</cp:coreProperties>
</file>