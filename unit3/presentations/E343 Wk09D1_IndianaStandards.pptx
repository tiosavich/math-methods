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9" r:id="rId1"/>
  </p:sldMasterIdLst>
  <p:notesMasterIdLst>
    <p:notesMasterId r:id="rId19"/>
  </p:notesMasterIdLst>
  <p:sldIdLst>
    <p:sldId id="257" r:id="rId2"/>
    <p:sldId id="256" r:id="rId3"/>
    <p:sldId id="258" r:id="rId4"/>
    <p:sldId id="331" r:id="rId5"/>
    <p:sldId id="344" r:id="rId6"/>
    <p:sldId id="339" r:id="rId7"/>
    <p:sldId id="340" r:id="rId8"/>
    <p:sldId id="341" r:id="rId9"/>
    <p:sldId id="347" r:id="rId10"/>
    <p:sldId id="333" r:id="rId11"/>
    <p:sldId id="342" r:id="rId12"/>
    <p:sldId id="345" r:id="rId13"/>
    <p:sldId id="346" r:id="rId14"/>
    <p:sldId id="338" r:id="rId15"/>
    <p:sldId id="259" r:id="rId16"/>
    <p:sldId id="260" r:id="rId17"/>
    <p:sldId id="33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973" autoAdjust="0"/>
  </p:normalViewPr>
  <p:slideViewPr>
    <p:cSldViewPr snapToGrid="0">
      <p:cViewPr varScale="1">
        <p:scale>
          <a:sx n="115" d="100"/>
          <a:sy n="115" d="100"/>
        </p:scale>
        <p:origin x="896" y="19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_rels/drawing1.xml.rels><?xml version="1.0" encoding="UTF-8"?><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1BB2F5-DE6E-4D89-9F89-C03ED095F7ED}" type="doc">
      <dgm:prSet loTypeId="urn:microsoft.com/office/officeart/2018/2/layout/IconVerticalSolidList" loCatId="icon" qsTypeId="urn:microsoft.com/office/officeart/2005/8/quickstyle/simple1" qsCatId="simple" csTypeId="urn:microsoft.com/office/officeart/2005/8/colors/accent1_2" csCatId="accent1" phldr="1"/>
      <dgm:spPr/>
      <dgm:t xml:space="preserve">
        <a:bodyPr/>
        <a:lstStyle/>
        <a:p>
          <a:endParaRPr lang="en-US"/>
        </a:p>
      </dgm:t>
    </dgm:pt>
    <dgm:pt modelId="{72A57FE0-F88F-455A-BDA9-6396A54003AA}">
      <dgm:prSet/>
      <dgm:spPr/>
      <dgm:t xml:space="preserve">
        <a:bodyPr/>
        <a:lstStyle/>
        <a:p>
          <a:pPr>
            <a:lnSpc>
              <a:spcPct val="100000"/>
            </a:lnSpc>
          </a:pPr>
          <a:r>
            <a:rPr lang="en-US" dirty="0"/>
            <a:t>Indiana State Standards Activity</a:t>
          </a:r>
        </a:p>
      </dgm:t>
    </dgm:pt>
    <dgm:pt modelId="{97D494F8-6542-4B5D-9CBA-1EB9906BA7F1}" type="parTrans" cxnId="{A3BA6A63-C41D-4A06-B35E-CDD6B659159F}">
      <dgm:prSet/>
      <dgm:spPr/>
      <dgm:t xml:space="preserve">
        <a:bodyPr/>
        <a:lstStyle/>
        <a:p>
          <a:endParaRPr lang="en-US"/>
        </a:p>
      </dgm:t>
    </dgm:pt>
    <dgm:pt modelId="{583CB03C-C112-41F7-9DC0-E0E7B0DA739D}" type="sibTrans" cxnId="{A3BA6A63-C41D-4A06-B35E-CDD6B659159F}">
      <dgm:prSet/>
      <dgm:spPr/>
      <dgm:t xml:space="preserve">
        <a:bodyPr/>
        <a:lstStyle/>
        <a:p>
          <a:endParaRPr lang="en-US"/>
        </a:p>
      </dgm:t>
    </dgm:pt>
    <dgm:pt modelId="{E3D7AE14-FAF1-F946-8A60-839287F9BF84}">
      <dgm:prSet/>
      <dgm:spPr/>
      <dgm:t xml:space="preserve">
        <a:bodyPr/>
        <a:lstStyle/>
        <a:p>
          <a:pPr>
            <a:lnSpc>
              <a:spcPct val="100000"/>
            </a:lnSpc>
          </a:pPr>
          <a:r>
            <a:rPr lang="en-US" dirty="0"/>
            <a:t>What are standards? Curriculum? Practices?</a:t>
          </a:r>
        </a:p>
      </dgm:t>
    </dgm:pt>
    <dgm:pt modelId="{68645BE6-1A9A-BF4C-BE0B-60F4791297C5}" type="parTrans" cxnId="{32E2EABD-7107-734E-B0F9-FD71DD279FAD}">
      <dgm:prSet/>
      <dgm:spPr/>
      <dgm:t xml:space="preserve">
        <a:bodyPr/>
        <a:lstStyle/>
        <a:p>
          <a:endParaRPr lang="en-US"/>
        </a:p>
      </dgm:t>
    </dgm:pt>
    <dgm:pt modelId="{F7512F50-5EFB-D841-B46D-021F1286A10A}" type="sibTrans" cxnId="{32E2EABD-7107-734E-B0F9-FD71DD279FAD}">
      <dgm:prSet/>
      <dgm:spPr/>
      <dgm:t xml:space="preserve">
        <a:bodyPr/>
        <a:lstStyle/>
        <a:p>
          <a:endParaRPr lang="en-US"/>
        </a:p>
      </dgm:t>
    </dgm:pt>
    <dgm:pt modelId="{C9B1C1F7-3F0D-430B-8571-D990FA33952C}" type="pres">
      <dgm:prSet presAssocID="{A41BB2F5-DE6E-4D89-9F89-C03ED095F7ED}" presName="root" presStyleCnt="0">
        <dgm:presLayoutVars>
          <dgm:dir/>
          <dgm:resizeHandles val="exact"/>
        </dgm:presLayoutVars>
      </dgm:prSet>
      <dgm:spPr/>
    </dgm:pt>
    <dgm:pt modelId="{C54FCBB7-DCEB-C94F-BE92-9C3631C9AA9E}" type="pres">
      <dgm:prSet presAssocID="{E3D7AE14-FAF1-F946-8A60-839287F9BF84}" presName="compNode" presStyleCnt="0"/>
      <dgm:spPr/>
    </dgm:pt>
    <dgm:pt modelId="{5EE3382D-2C22-624E-B713-75CE6E7A7089}" type="pres">
      <dgm:prSet presAssocID="{E3D7AE14-FAF1-F946-8A60-839287F9BF84}" presName="bgRect" presStyleLbl="bgShp" presStyleIdx="0" presStyleCnt="2"/>
      <dgm:spPr/>
    </dgm:pt>
    <dgm:pt modelId="{CD524E40-9B95-DD43-9AF2-7FFEB5A71FA9}" type="pres">
      <dgm:prSet presAssocID="{E3D7AE14-FAF1-F946-8A60-839287F9BF84}" presName="iconRect" presStyleLbl="node1" presStyleIdx="0" presStyleCnt="2"/>
      <dgm:spPr/>
    </dgm:pt>
    <dgm:pt modelId="{58BEC773-5349-6541-89A9-211E2DE0916F}" type="pres">
      <dgm:prSet presAssocID="{E3D7AE14-FAF1-F946-8A60-839287F9BF84}" presName="spaceRect" presStyleCnt="0"/>
      <dgm:spPr/>
    </dgm:pt>
    <dgm:pt modelId="{B81D4DB2-8035-7F46-999A-70657D8B8900}" type="pres">
      <dgm:prSet presAssocID="{E3D7AE14-FAF1-F946-8A60-839287F9BF84}" presName="parTx" presStyleLbl="revTx" presStyleIdx="0" presStyleCnt="2">
        <dgm:presLayoutVars>
          <dgm:chMax val="0"/>
          <dgm:chPref val="0"/>
        </dgm:presLayoutVars>
      </dgm:prSet>
      <dgm:spPr/>
    </dgm:pt>
    <dgm:pt modelId="{BAA38CD6-F8CD-7C47-902D-AAC378311ADA}" type="pres">
      <dgm:prSet presAssocID="{F7512F50-5EFB-D841-B46D-021F1286A10A}" presName="sibTrans" presStyleCnt="0"/>
      <dgm:spPr/>
    </dgm:pt>
    <dgm:pt modelId="{90C7244F-AD24-4362-901A-AC6FFAC23A67}" type="pres">
      <dgm:prSet presAssocID="{72A57FE0-F88F-455A-BDA9-6396A54003AA}" presName="compNode" presStyleCnt="0"/>
      <dgm:spPr/>
    </dgm:pt>
    <dgm:pt modelId="{9E734884-7E93-41C1-969B-6DE29219D906}" type="pres">
      <dgm:prSet presAssocID="{72A57FE0-F88F-455A-BDA9-6396A54003AA}" presName="bgRect" presStyleLbl="bgShp" presStyleIdx="1" presStyleCnt="2"/>
      <dgm:spPr/>
    </dgm:pt>
    <dgm:pt modelId="{5B10DC3F-A5E2-498E-A992-E24590AC4E27}" type="pres">
      <dgm:prSet presAssocID="{72A57FE0-F88F-455A-BDA9-6396A54003AA}" presName="iconRect" presStyleLbl="node1" presStyleIdx="1"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assroom"/>
        </a:ext>
      </dgm:extLst>
    </dgm:pt>
    <dgm:pt modelId="{4F8A7717-8FEC-4958-8BBD-D8FCE6482EDF}" type="pres">
      <dgm:prSet presAssocID="{72A57FE0-F88F-455A-BDA9-6396A54003AA}" presName="spaceRect" presStyleCnt="0"/>
      <dgm:spPr/>
    </dgm:pt>
    <dgm:pt modelId="{E1F2D83B-F410-47F4-B21F-BD70E08F496E}" type="pres">
      <dgm:prSet presAssocID="{72A57FE0-F88F-455A-BDA9-6396A54003AA}" presName="parTx" presStyleLbl="revTx" presStyleIdx="1" presStyleCnt="2">
        <dgm:presLayoutVars>
          <dgm:chMax val="0"/>
          <dgm:chPref val="0"/>
        </dgm:presLayoutVars>
      </dgm:prSet>
      <dgm:spPr/>
    </dgm:pt>
  </dgm:ptLst>
  <dgm:cxnLst>
    <dgm:cxn modelId="{914AD653-F657-3C45-A90D-5B4EC07A4AA5}" type="presOf" srcId="{72A57FE0-F88F-455A-BDA9-6396A54003AA}" destId="{E1F2D83B-F410-47F4-B21F-BD70E08F496E}" srcOrd="0" destOrd="0" presId="urn:microsoft.com/office/officeart/2018/2/layout/IconVerticalSolidList"/>
    <dgm:cxn modelId="{A3BA6A63-C41D-4A06-B35E-CDD6B659159F}" srcId="{A41BB2F5-DE6E-4D89-9F89-C03ED095F7ED}" destId="{72A57FE0-F88F-455A-BDA9-6396A54003AA}" srcOrd="1" destOrd="0" parTransId="{97D494F8-6542-4B5D-9CBA-1EB9906BA7F1}" sibTransId="{583CB03C-C112-41F7-9DC0-E0E7B0DA739D}"/>
    <dgm:cxn modelId="{47B8E1B6-CA16-425B-8BB9-52544AA25928}" type="presOf" srcId="{A41BB2F5-DE6E-4D89-9F89-C03ED095F7ED}" destId="{C9B1C1F7-3F0D-430B-8571-D990FA33952C}" srcOrd="0" destOrd="0" presId="urn:microsoft.com/office/officeart/2018/2/layout/IconVerticalSolidList"/>
    <dgm:cxn modelId="{32E2EABD-7107-734E-B0F9-FD71DD279FAD}" srcId="{A41BB2F5-DE6E-4D89-9F89-C03ED095F7ED}" destId="{E3D7AE14-FAF1-F946-8A60-839287F9BF84}" srcOrd="0" destOrd="0" parTransId="{68645BE6-1A9A-BF4C-BE0B-60F4791297C5}" sibTransId="{F7512F50-5EFB-D841-B46D-021F1286A10A}"/>
    <dgm:cxn modelId="{50ABE9DA-8261-3A47-AE6A-10E14BEECC9D}" type="presOf" srcId="{E3D7AE14-FAF1-F946-8A60-839287F9BF84}" destId="{B81D4DB2-8035-7F46-999A-70657D8B8900}" srcOrd="0" destOrd="0" presId="urn:microsoft.com/office/officeart/2018/2/layout/IconVerticalSolidList"/>
    <dgm:cxn modelId="{1269ADDD-3A9D-254B-80D2-19C77E4D3437}" type="presParOf" srcId="{C9B1C1F7-3F0D-430B-8571-D990FA33952C}" destId="{C54FCBB7-DCEB-C94F-BE92-9C3631C9AA9E}" srcOrd="0" destOrd="0" presId="urn:microsoft.com/office/officeart/2018/2/layout/IconVerticalSolidList"/>
    <dgm:cxn modelId="{8B4FE15C-7260-4846-B025-B3CB830817C0}" type="presParOf" srcId="{C54FCBB7-DCEB-C94F-BE92-9C3631C9AA9E}" destId="{5EE3382D-2C22-624E-B713-75CE6E7A7089}" srcOrd="0" destOrd="0" presId="urn:microsoft.com/office/officeart/2018/2/layout/IconVerticalSolidList"/>
    <dgm:cxn modelId="{083317A6-D6F3-0244-9061-27BE1E46F013}" type="presParOf" srcId="{C54FCBB7-DCEB-C94F-BE92-9C3631C9AA9E}" destId="{CD524E40-9B95-DD43-9AF2-7FFEB5A71FA9}" srcOrd="1" destOrd="0" presId="urn:microsoft.com/office/officeart/2018/2/layout/IconVerticalSolidList"/>
    <dgm:cxn modelId="{23F2A742-D134-E74B-8733-1D49EEA313D3}" type="presParOf" srcId="{C54FCBB7-DCEB-C94F-BE92-9C3631C9AA9E}" destId="{58BEC773-5349-6541-89A9-211E2DE0916F}" srcOrd="2" destOrd="0" presId="urn:microsoft.com/office/officeart/2018/2/layout/IconVerticalSolidList"/>
    <dgm:cxn modelId="{A71A9906-9EC3-544A-8BF8-A4FF5F751C5F}" type="presParOf" srcId="{C54FCBB7-DCEB-C94F-BE92-9C3631C9AA9E}" destId="{B81D4DB2-8035-7F46-999A-70657D8B8900}" srcOrd="3" destOrd="0" presId="urn:microsoft.com/office/officeart/2018/2/layout/IconVerticalSolidList"/>
    <dgm:cxn modelId="{9BC41CCA-3231-2C44-857C-C22DA136E303}" type="presParOf" srcId="{C9B1C1F7-3F0D-430B-8571-D990FA33952C}" destId="{BAA38CD6-F8CD-7C47-902D-AAC378311ADA}" srcOrd="1" destOrd="0" presId="urn:microsoft.com/office/officeart/2018/2/layout/IconVerticalSolidList"/>
    <dgm:cxn modelId="{EA1328B7-3F7F-1F46-A570-BF2C25800900}" type="presParOf" srcId="{C9B1C1F7-3F0D-430B-8571-D990FA33952C}" destId="{90C7244F-AD24-4362-901A-AC6FFAC23A67}" srcOrd="2" destOrd="0" presId="urn:microsoft.com/office/officeart/2018/2/layout/IconVerticalSolidList"/>
    <dgm:cxn modelId="{32CB874B-9FC3-8E4E-A381-4CF5094BA947}" type="presParOf" srcId="{90C7244F-AD24-4362-901A-AC6FFAC23A67}" destId="{9E734884-7E93-41C1-969B-6DE29219D906}" srcOrd="0" destOrd="0" presId="urn:microsoft.com/office/officeart/2018/2/layout/IconVerticalSolidList"/>
    <dgm:cxn modelId="{12BBCAF8-CD2D-DC42-BEDC-8CA071B695FD}" type="presParOf" srcId="{90C7244F-AD24-4362-901A-AC6FFAC23A67}" destId="{5B10DC3F-A5E2-498E-A992-E24590AC4E27}" srcOrd="1" destOrd="0" presId="urn:microsoft.com/office/officeart/2018/2/layout/IconVerticalSolidList"/>
    <dgm:cxn modelId="{552E0914-6E36-AB49-BC7F-A918BA4BF448}" type="presParOf" srcId="{90C7244F-AD24-4362-901A-AC6FFAC23A67}" destId="{4F8A7717-8FEC-4958-8BBD-D8FCE6482EDF}" srcOrd="2" destOrd="0" presId="urn:microsoft.com/office/officeart/2018/2/layout/IconVerticalSolidList"/>
    <dgm:cxn modelId="{E6A1BC27-8B3B-F941-860B-9095E35D258B}" type="presParOf" srcId="{90C7244F-AD24-4362-901A-AC6FFAC23A67}" destId="{E1F2D83B-F410-47F4-B21F-BD70E08F496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C51020-E170-4F3B-8BC2-EE193431BFEB}" type="doc">
      <dgm:prSet loTypeId="urn:microsoft.com/office/officeart/2018/2/layout/IconVerticalSolidList" loCatId="icon" qsTypeId="urn:microsoft.com/office/officeart/2005/8/quickstyle/simple1" qsCatId="simple" csTypeId="urn:microsoft.com/office/officeart/2005/8/colors/accent1_2" csCatId="accent1" phldr="1"/>
      <dgm:spPr/>
      <dgm:t xml:space="preserve">
        <a:bodyPr/>
        <a:lstStyle/>
        <a:p>
          <a:endParaRPr lang="en-US"/>
        </a:p>
      </dgm:t>
    </dgm:pt>
    <dgm:pt modelId="{108E32CB-7614-436A-87A1-1061E3F1E8D8}" type="pres">
      <dgm:prSet presAssocID="{69C51020-E170-4F3B-8BC2-EE193431BFEB}" presName="root" presStyleCnt="0">
        <dgm:presLayoutVars>
          <dgm:dir/>
          <dgm:resizeHandles val="exact"/>
        </dgm:presLayoutVars>
      </dgm:prSet>
      <dgm:spPr/>
    </dgm:pt>
  </dgm:ptLst>
  <dgm:cxnLst>
    <dgm:cxn modelId="{61FCA9AF-D42C-4F63-B7BF-FF17241BB262}" type="presOf" srcId="{69C51020-E170-4F3B-8BC2-EE193431BFEB}" destId="{108E32CB-7614-436A-87A1-1061E3F1E8D8}" srcOrd="0"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4B9137-A197-4C69-915B-A6EDB6EF7EB8}" type="doc">
      <dgm:prSet loTypeId="urn:microsoft.com/office/officeart/2005/8/layout/vList2" loCatId="list" qsTypeId="urn:microsoft.com/office/officeart/2005/8/quickstyle/simple2" qsCatId="simple" csTypeId="urn:microsoft.com/office/officeart/2005/8/colors/colorful2" csCatId="colorful" phldr="1"/>
      <dgm:spPr/>
      <dgm:t xml:space="preserve">
        <a:bodyPr/>
        <a:lstStyle/>
        <a:p>
          <a:endParaRPr lang="en-US"/>
        </a:p>
      </dgm:t>
    </dgm:pt>
    <dgm:pt modelId="{727BB092-D946-49DE-A8A5-81E4BA4CBD32}">
      <dgm:prSet/>
      <dgm:spPr/>
      <dgm:t xml:space="preserve">
        <a:bodyPr/>
        <a:lstStyle/>
        <a:p>
          <a:r>
            <a:rPr lang="en-US" dirty="0"/>
            <a:t xml:space="preserve">Learned Differences in Standards, Curriculum, Practices </a:t>
          </a:r>
        </a:p>
      </dgm:t>
    </dgm:pt>
    <dgm:pt modelId="{B2B08C0A-C70D-48C1-A082-CB7B44B88567}" type="parTrans" cxnId="{D6E5862E-045A-4DB1-B5A7-9CEEC23D2A98}">
      <dgm:prSet/>
      <dgm:spPr/>
      <dgm:t xml:space="preserve">
        <a:bodyPr/>
        <a:lstStyle/>
        <a:p>
          <a:endParaRPr lang="en-US"/>
        </a:p>
      </dgm:t>
    </dgm:pt>
    <dgm:pt modelId="{98D3C63D-C9CB-4963-A5B2-D643105430E0}" type="sibTrans" cxnId="{D6E5862E-045A-4DB1-B5A7-9CEEC23D2A98}">
      <dgm:prSet/>
      <dgm:spPr/>
      <dgm:t xml:space="preserve">
        <a:bodyPr/>
        <a:lstStyle/>
        <a:p>
          <a:endParaRPr lang="en-US"/>
        </a:p>
      </dgm:t>
    </dgm:pt>
    <dgm:pt modelId="{FF5F6CA0-5971-403D-9083-692D60F77554}">
      <dgm:prSet/>
      <dgm:spPr/>
      <dgm:t xml:space="preserve">
        <a:bodyPr/>
        <a:lstStyle/>
        <a:p>
          <a:r>
            <a:rPr lang="en-US" dirty="0"/>
            <a:t>Vertical Articulation of Indiana State Standards</a:t>
          </a:r>
        </a:p>
      </dgm:t>
    </dgm:pt>
    <dgm:pt modelId="{72226E9F-7123-4B50-BEE4-E248B25F56A3}" type="parTrans" cxnId="{EB894C31-CD38-47F3-B472-965ADF3854B6}">
      <dgm:prSet/>
      <dgm:spPr/>
      <dgm:t xml:space="preserve">
        <a:bodyPr/>
        <a:lstStyle/>
        <a:p>
          <a:endParaRPr lang="en-US"/>
        </a:p>
      </dgm:t>
    </dgm:pt>
    <dgm:pt modelId="{8D805981-B49C-4C4C-B63E-428FFD3C9C88}" type="sibTrans" cxnId="{EB894C31-CD38-47F3-B472-965ADF3854B6}">
      <dgm:prSet/>
      <dgm:spPr/>
      <dgm:t xml:space="preserve">
        <a:bodyPr/>
        <a:lstStyle/>
        <a:p>
          <a:endParaRPr lang="en-US"/>
        </a:p>
      </dgm:t>
    </dgm:pt>
    <dgm:pt modelId="{BF6354A8-E54B-4746-BC52-BD94E6F1FADA}" type="pres">
      <dgm:prSet presAssocID="{7B4B9137-A197-4C69-915B-A6EDB6EF7EB8}" presName="linear" presStyleCnt="0">
        <dgm:presLayoutVars>
          <dgm:animLvl val="lvl"/>
          <dgm:resizeHandles val="exact"/>
        </dgm:presLayoutVars>
      </dgm:prSet>
      <dgm:spPr/>
    </dgm:pt>
    <dgm:pt modelId="{0622A878-4B94-45E7-A06E-4AA910B0D05D}" type="pres">
      <dgm:prSet presAssocID="{727BB092-D946-49DE-A8A5-81E4BA4CBD32}" presName="parentText" presStyleLbl="node1" presStyleIdx="0" presStyleCnt="2">
        <dgm:presLayoutVars>
          <dgm:chMax val="0"/>
          <dgm:bulletEnabled val="1"/>
        </dgm:presLayoutVars>
      </dgm:prSet>
      <dgm:spPr/>
    </dgm:pt>
    <dgm:pt modelId="{2B770AA5-1C1F-46E0-8D7E-01E91EA5DB71}" type="pres">
      <dgm:prSet presAssocID="{98D3C63D-C9CB-4963-A5B2-D643105430E0}" presName="spacer" presStyleCnt="0"/>
      <dgm:spPr/>
    </dgm:pt>
    <dgm:pt modelId="{84B46705-EDB0-4FCE-BE90-9636A2B92FE0}" type="pres">
      <dgm:prSet presAssocID="{FF5F6CA0-5971-403D-9083-692D60F77554}" presName="parentText" presStyleLbl="node1" presStyleIdx="1" presStyleCnt="2">
        <dgm:presLayoutVars>
          <dgm:chMax val="0"/>
          <dgm:bulletEnabled val="1"/>
        </dgm:presLayoutVars>
      </dgm:prSet>
      <dgm:spPr/>
    </dgm:pt>
  </dgm:ptLst>
  <dgm:cxnLst>
    <dgm:cxn modelId="{D6E5862E-045A-4DB1-B5A7-9CEEC23D2A98}" srcId="{7B4B9137-A197-4C69-915B-A6EDB6EF7EB8}" destId="{727BB092-D946-49DE-A8A5-81E4BA4CBD32}" srcOrd="0" destOrd="0" parTransId="{B2B08C0A-C70D-48C1-A082-CB7B44B88567}" sibTransId="{98D3C63D-C9CB-4963-A5B2-D643105430E0}"/>
    <dgm:cxn modelId="{EB894C31-CD38-47F3-B472-965ADF3854B6}" srcId="{7B4B9137-A197-4C69-915B-A6EDB6EF7EB8}" destId="{FF5F6CA0-5971-403D-9083-692D60F77554}" srcOrd="1" destOrd="0" parTransId="{72226E9F-7123-4B50-BEE4-E248B25F56A3}" sibTransId="{8D805981-B49C-4C4C-B63E-428FFD3C9C88}"/>
    <dgm:cxn modelId="{BEE5B33B-E235-4ACE-ABF9-BCCDB9A405A8}" type="presOf" srcId="{FF5F6CA0-5971-403D-9083-692D60F77554}" destId="{84B46705-EDB0-4FCE-BE90-9636A2B92FE0}" srcOrd="0" destOrd="0" presId="urn:microsoft.com/office/officeart/2005/8/layout/vList2"/>
    <dgm:cxn modelId="{2545336C-17B7-4D5F-A9EB-467444A16A0F}" type="presOf" srcId="{7B4B9137-A197-4C69-915B-A6EDB6EF7EB8}" destId="{BF6354A8-E54B-4746-BC52-BD94E6F1FADA}" srcOrd="0" destOrd="0" presId="urn:microsoft.com/office/officeart/2005/8/layout/vList2"/>
    <dgm:cxn modelId="{9E02D577-BC9B-4B91-B557-E250836EF6E3}" type="presOf" srcId="{727BB092-D946-49DE-A8A5-81E4BA4CBD32}" destId="{0622A878-4B94-45E7-A06E-4AA910B0D05D}" srcOrd="0" destOrd="0" presId="urn:microsoft.com/office/officeart/2005/8/layout/vList2"/>
    <dgm:cxn modelId="{1317E166-1E59-4F9C-A561-8757182D8332}" type="presParOf" srcId="{BF6354A8-E54B-4746-BC52-BD94E6F1FADA}" destId="{0622A878-4B94-45E7-A06E-4AA910B0D05D}" srcOrd="0" destOrd="0" presId="urn:microsoft.com/office/officeart/2005/8/layout/vList2"/>
    <dgm:cxn modelId="{BA655330-E3C8-42B0-9537-D27009FC170A}" type="presParOf" srcId="{BF6354A8-E54B-4746-BC52-BD94E6F1FADA}" destId="{2B770AA5-1C1F-46E0-8D7E-01E91EA5DB71}" srcOrd="1" destOrd="0" presId="urn:microsoft.com/office/officeart/2005/8/layout/vList2"/>
    <dgm:cxn modelId="{2959C1C0-CBFE-4BB7-8F63-9682A4A17C34}" type="presParOf" srcId="{BF6354A8-E54B-4746-BC52-BD94E6F1FADA}" destId="{84B46705-EDB0-4FCE-BE90-9636A2B92FE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3A8828-D201-45FC-9FCE-4A9A2BEEFF83}" type="doc">
      <dgm:prSet loTypeId="urn:microsoft.com/office/officeart/2005/8/layout/matrix3" loCatId="matrix" qsTypeId="urn:microsoft.com/office/officeart/2005/8/quickstyle/simple2" qsCatId="simple" csTypeId="urn:microsoft.com/office/officeart/2005/8/colors/accent1_2" csCatId="accent1" phldr="1"/>
      <dgm:spPr/>
      <dgm:t xml:space="preserve">
        <a:bodyPr/>
        <a:lstStyle/>
        <a:p>
          <a:endParaRPr lang="en-US"/>
        </a:p>
      </dgm:t>
    </dgm:pt>
    <dgm:pt modelId="{C7A98834-CCF9-4891-B4DD-E6E6ED9B3087}">
      <dgm:prSet/>
      <dgm:spPr/>
      <dgm:t xml:space="preserve">
        <a:bodyPr/>
        <a:lstStyle/>
        <a:p>
          <a:r>
            <a:rPr lang="en-US" dirty="0" err="1"/>
            <a:t>VdW</a:t>
          </a:r>
          <a:r>
            <a:rPr lang="en-US" dirty="0"/>
            <a:t xml:space="preserve"> Reading</a:t>
          </a:r>
        </a:p>
      </dgm:t>
    </dgm:pt>
    <dgm:pt modelId="{9352DBDC-01B7-4205-93DD-65AAA498CCE4}" type="parTrans" cxnId="{802401B0-4AEE-4103-A016-74AFC6E56FA5}">
      <dgm:prSet/>
      <dgm:spPr/>
      <dgm:t xml:space="preserve">
        <a:bodyPr/>
        <a:lstStyle/>
        <a:p>
          <a:endParaRPr lang="en-US"/>
        </a:p>
      </dgm:t>
    </dgm:pt>
    <dgm:pt modelId="{A9D852A4-B31D-49BF-BAD4-505E4BD1B7E7}" type="sibTrans" cxnId="{802401B0-4AEE-4103-A016-74AFC6E56FA5}">
      <dgm:prSet/>
      <dgm:spPr/>
      <dgm:t xml:space="preserve">
        <a:bodyPr/>
        <a:lstStyle/>
        <a:p>
          <a:endParaRPr lang="en-US"/>
        </a:p>
      </dgm:t>
    </dgm:pt>
    <dgm:pt modelId="{570019D5-8CA8-4067-A069-09075D45D01A}">
      <dgm:prSet/>
      <dgm:spPr/>
      <dgm:t xml:space="preserve">
        <a:bodyPr/>
        <a:lstStyle/>
        <a:p>
          <a:r>
            <a:rPr lang="en-US" dirty="0"/>
            <a:t>Lesson</a:t>
          </a:r>
          <a:r>
            <a:rPr lang="en-US" baseline="0" dirty="0"/>
            <a:t xml:space="preserve"> Plan due</a:t>
          </a:r>
        </a:p>
        <a:p>
          <a:r>
            <a:rPr lang="en-US" baseline="0" dirty="0"/>
            <a:t>soon</a:t>
          </a:r>
          <a:endParaRPr lang="en-US" dirty="0"/>
        </a:p>
      </dgm:t>
    </dgm:pt>
    <dgm:pt modelId="{502853D4-6250-45A1-8E13-77CA73EA9168}" type="parTrans" cxnId="{7447F802-DE68-4945-BF7D-2CE2E2F5EF63}">
      <dgm:prSet/>
      <dgm:spPr/>
      <dgm:t xml:space="preserve">
        <a:bodyPr/>
        <a:lstStyle/>
        <a:p>
          <a:endParaRPr lang="en-US"/>
        </a:p>
      </dgm:t>
    </dgm:pt>
    <dgm:pt modelId="{8426AFAF-18B4-476D-8FB6-0682B1E592C5}" type="sibTrans" cxnId="{7447F802-DE68-4945-BF7D-2CE2E2F5EF63}">
      <dgm:prSet/>
      <dgm:spPr/>
      <dgm:t xml:space="preserve">
        <a:bodyPr/>
        <a:lstStyle/>
        <a:p>
          <a:endParaRPr lang="en-US"/>
        </a:p>
      </dgm:t>
    </dgm:pt>
    <dgm:pt modelId="{969DB148-1DC8-4334-B920-FCA306EB68A3}">
      <dgm:prSet/>
      <dgm:spPr/>
      <dgm:t xml:space="preserve">
        <a:bodyPr/>
        <a:lstStyle/>
        <a:p>
          <a:r>
            <a:rPr lang="en-US" dirty="0"/>
            <a:t xml:space="preserve">Don’t forget the weekly check-in. You’ll need to upload a picture of your in-class work today. </a:t>
          </a:r>
        </a:p>
      </dgm:t>
    </dgm:pt>
    <dgm:pt modelId="{07505CE0-A970-4C17-92A9-861517248079}" type="parTrans" cxnId="{765F0333-CC2A-4564-95B3-D29EB4E00200}">
      <dgm:prSet/>
      <dgm:spPr/>
      <dgm:t xml:space="preserve">
        <a:bodyPr/>
        <a:lstStyle/>
        <a:p>
          <a:endParaRPr lang="en-US"/>
        </a:p>
      </dgm:t>
    </dgm:pt>
    <dgm:pt modelId="{ED5E62B0-4299-4F57-A004-29839E97DAEC}" type="sibTrans" cxnId="{765F0333-CC2A-4564-95B3-D29EB4E00200}">
      <dgm:prSet/>
      <dgm:spPr/>
      <dgm:t xml:space="preserve">
        <a:bodyPr/>
        <a:lstStyle/>
        <a:p>
          <a:endParaRPr lang="en-US"/>
        </a:p>
      </dgm:t>
    </dgm:pt>
    <dgm:pt modelId="{E5BF1CB5-E60A-45DD-8E25-454D7900D553}">
      <dgm:prSet/>
      <dgm:spPr/>
      <dgm:t xml:space="preserve">
        <a:bodyPr/>
        <a:lstStyle/>
        <a:p>
          <a:endParaRPr lang="en-US" dirty="0"/>
        </a:p>
      </dgm:t>
    </dgm:pt>
    <dgm:pt modelId="{92A0F14B-9DE0-4F2D-B91D-1B600D405098}" type="sibTrans" cxnId="{6AA5E84E-3CEF-4402-B61F-2193A67B4F28}">
      <dgm:prSet/>
      <dgm:spPr/>
      <dgm:t xml:space="preserve">
        <a:bodyPr/>
        <a:lstStyle/>
        <a:p>
          <a:endParaRPr lang="en-US"/>
        </a:p>
      </dgm:t>
    </dgm:pt>
    <dgm:pt modelId="{399A14BB-16A9-4888-B67F-7BE572A5FAB5}" type="parTrans" cxnId="{6AA5E84E-3CEF-4402-B61F-2193A67B4F28}">
      <dgm:prSet/>
      <dgm:spPr/>
      <dgm:t xml:space="preserve">
        <a:bodyPr/>
        <a:lstStyle/>
        <a:p>
          <a:endParaRPr lang="en-US"/>
        </a:p>
      </dgm:t>
    </dgm:pt>
    <dgm:pt modelId="{8C30FBF0-0DB4-4DE2-AA69-0002EFFA3E17}" type="pres">
      <dgm:prSet presAssocID="{CC3A8828-D201-45FC-9FCE-4A9A2BEEFF83}" presName="matrix" presStyleCnt="0">
        <dgm:presLayoutVars>
          <dgm:chMax val="1"/>
          <dgm:dir/>
          <dgm:resizeHandles val="exact"/>
        </dgm:presLayoutVars>
      </dgm:prSet>
      <dgm:spPr/>
    </dgm:pt>
    <dgm:pt modelId="{29EFBDD3-1B5A-4ACC-AFC5-2C3B73259C5C}" type="pres">
      <dgm:prSet presAssocID="{CC3A8828-D201-45FC-9FCE-4A9A2BEEFF83}" presName="diamond" presStyleLbl="bgShp" presStyleIdx="0" presStyleCnt="1"/>
      <dgm:spPr/>
    </dgm:pt>
    <dgm:pt modelId="{E82A9E94-B67B-4170-A962-DD5D7D60580C}" type="pres">
      <dgm:prSet presAssocID="{CC3A8828-D201-45FC-9FCE-4A9A2BEEFF83}" presName="quad1" presStyleLbl="node1" presStyleIdx="0" presStyleCnt="4">
        <dgm:presLayoutVars>
          <dgm:chMax val="0"/>
          <dgm:chPref val="0"/>
          <dgm:bulletEnabled val="1"/>
        </dgm:presLayoutVars>
      </dgm:prSet>
      <dgm:spPr/>
    </dgm:pt>
    <dgm:pt modelId="{E80FA80F-0CAD-4D4C-B6B2-1630A6FC49A1}" type="pres">
      <dgm:prSet presAssocID="{CC3A8828-D201-45FC-9FCE-4A9A2BEEFF83}" presName="quad2" presStyleLbl="node1" presStyleIdx="1" presStyleCnt="4" custLinFactY="3846" custLinFactNeighborX="-55752" custLinFactNeighborY="100000">
        <dgm:presLayoutVars>
          <dgm:chMax val="0"/>
          <dgm:chPref val="0"/>
          <dgm:bulletEnabled val="1"/>
        </dgm:presLayoutVars>
      </dgm:prSet>
      <dgm:spPr/>
    </dgm:pt>
    <dgm:pt modelId="{B928FC6D-6E90-41FF-8E70-D9B2EE97BEBA}" type="pres">
      <dgm:prSet presAssocID="{CC3A8828-D201-45FC-9FCE-4A9A2BEEFF83}" presName="quad3" presStyleLbl="node1" presStyleIdx="2" presStyleCnt="4" custFlipVert="1" custFlipHor="1" custScaleX="2489" custScaleY="8365" custLinFactX="-13528" custLinFactY="9396" custLinFactNeighborX="-100000" custLinFactNeighborY="100000">
        <dgm:presLayoutVars>
          <dgm:chMax val="0"/>
          <dgm:chPref val="0"/>
          <dgm:bulletEnabled val="1"/>
        </dgm:presLayoutVars>
      </dgm:prSet>
      <dgm:spPr/>
    </dgm:pt>
    <dgm:pt modelId="{5A6200DA-9426-4429-8127-8E782EE6889D}" type="pres">
      <dgm:prSet presAssocID="{CC3A8828-D201-45FC-9FCE-4A9A2BEEFF83}" presName="quad4" presStyleLbl="node1" presStyleIdx="3" presStyleCnt="4" custLinFactY="-5528" custLinFactNeighborX="-3364" custLinFactNeighborY="-100000">
        <dgm:presLayoutVars>
          <dgm:chMax val="0"/>
          <dgm:chPref val="0"/>
          <dgm:bulletEnabled val="1"/>
        </dgm:presLayoutVars>
      </dgm:prSet>
      <dgm:spPr/>
    </dgm:pt>
  </dgm:ptLst>
  <dgm:cxnLst>
    <dgm:cxn modelId="{7447F802-DE68-4945-BF7D-2CE2E2F5EF63}" srcId="{CC3A8828-D201-45FC-9FCE-4A9A2BEEFF83}" destId="{570019D5-8CA8-4067-A069-09075D45D01A}" srcOrd="1" destOrd="0" parTransId="{502853D4-6250-45A1-8E13-77CA73EA9168}" sibTransId="{8426AFAF-18B4-476D-8FB6-0682B1E592C5}"/>
    <dgm:cxn modelId="{765F0333-CC2A-4564-95B3-D29EB4E00200}" srcId="{CC3A8828-D201-45FC-9FCE-4A9A2BEEFF83}" destId="{969DB148-1DC8-4334-B920-FCA306EB68A3}" srcOrd="3" destOrd="0" parTransId="{07505CE0-A970-4C17-92A9-861517248079}" sibTransId="{ED5E62B0-4299-4F57-A004-29839E97DAEC}"/>
    <dgm:cxn modelId="{102EA94E-441E-4B6A-83BC-07060363F0D6}" type="presOf" srcId="{969DB148-1DC8-4334-B920-FCA306EB68A3}" destId="{5A6200DA-9426-4429-8127-8E782EE6889D}" srcOrd="0" destOrd="0" presId="urn:microsoft.com/office/officeart/2005/8/layout/matrix3"/>
    <dgm:cxn modelId="{6AA5E84E-3CEF-4402-B61F-2193A67B4F28}" srcId="{CC3A8828-D201-45FC-9FCE-4A9A2BEEFF83}" destId="{E5BF1CB5-E60A-45DD-8E25-454D7900D553}" srcOrd="2" destOrd="0" parTransId="{399A14BB-16A9-4888-B67F-7BE572A5FAB5}" sibTransId="{92A0F14B-9DE0-4F2D-B91D-1B600D405098}"/>
    <dgm:cxn modelId="{521B4E53-475C-423D-A26E-E03F4516CD08}" type="presOf" srcId="{E5BF1CB5-E60A-45DD-8E25-454D7900D553}" destId="{B928FC6D-6E90-41FF-8E70-D9B2EE97BEBA}" srcOrd="0" destOrd="0" presId="urn:microsoft.com/office/officeart/2005/8/layout/matrix3"/>
    <dgm:cxn modelId="{6238A958-E61D-4720-8506-E925916873A5}" type="presOf" srcId="{C7A98834-CCF9-4891-B4DD-E6E6ED9B3087}" destId="{E82A9E94-B67B-4170-A962-DD5D7D60580C}" srcOrd="0" destOrd="0" presId="urn:microsoft.com/office/officeart/2005/8/layout/matrix3"/>
    <dgm:cxn modelId="{31C5C676-B49C-41EB-9F3F-3C8E6E7A30F9}" type="presOf" srcId="{CC3A8828-D201-45FC-9FCE-4A9A2BEEFF83}" destId="{8C30FBF0-0DB4-4DE2-AA69-0002EFFA3E17}" srcOrd="0" destOrd="0" presId="urn:microsoft.com/office/officeart/2005/8/layout/matrix3"/>
    <dgm:cxn modelId="{802401B0-4AEE-4103-A016-74AFC6E56FA5}" srcId="{CC3A8828-D201-45FC-9FCE-4A9A2BEEFF83}" destId="{C7A98834-CCF9-4891-B4DD-E6E6ED9B3087}" srcOrd="0" destOrd="0" parTransId="{9352DBDC-01B7-4205-93DD-65AAA498CCE4}" sibTransId="{A9D852A4-B31D-49BF-BAD4-505E4BD1B7E7}"/>
    <dgm:cxn modelId="{E01B91E7-6A38-4B4F-A415-5A2705EFC911}" type="presOf" srcId="{570019D5-8CA8-4067-A069-09075D45D01A}" destId="{E80FA80F-0CAD-4D4C-B6B2-1630A6FC49A1}" srcOrd="0" destOrd="0" presId="urn:microsoft.com/office/officeart/2005/8/layout/matrix3"/>
    <dgm:cxn modelId="{382AC582-312A-41F6-B464-691BA63387C9}" type="presParOf" srcId="{8C30FBF0-0DB4-4DE2-AA69-0002EFFA3E17}" destId="{29EFBDD3-1B5A-4ACC-AFC5-2C3B73259C5C}" srcOrd="0" destOrd="0" presId="urn:microsoft.com/office/officeart/2005/8/layout/matrix3"/>
    <dgm:cxn modelId="{22697E34-7E8D-413C-B136-D34E9D22D95A}" type="presParOf" srcId="{8C30FBF0-0DB4-4DE2-AA69-0002EFFA3E17}" destId="{E82A9E94-B67B-4170-A962-DD5D7D60580C}" srcOrd="1" destOrd="0" presId="urn:microsoft.com/office/officeart/2005/8/layout/matrix3"/>
    <dgm:cxn modelId="{689050F3-FBB1-44E6-9D43-3E67D55E0B1E}" type="presParOf" srcId="{8C30FBF0-0DB4-4DE2-AA69-0002EFFA3E17}" destId="{E80FA80F-0CAD-4D4C-B6B2-1630A6FC49A1}" srcOrd="2" destOrd="0" presId="urn:microsoft.com/office/officeart/2005/8/layout/matrix3"/>
    <dgm:cxn modelId="{50CCCF95-66F0-4AC6-8A63-47EDE5BBCED8}" type="presParOf" srcId="{8C30FBF0-0DB4-4DE2-AA69-0002EFFA3E17}" destId="{B928FC6D-6E90-41FF-8E70-D9B2EE97BEBA}" srcOrd="3" destOrd="0" presId="urn:microsoft.com/office/officeart/2005/8/layout/matrix3"/>
    <dgm:cxn modelId="{013EAF8A-025C-4567-A28B-977EAE76558A}" type="presParOf" srcId="{8C30FBF0-0DB4-4DE2-AA69-0002EFFA3E17}" destId="{5A6200DA-9426-4429-8127-8E782EE6889D}"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3382D-2C22-624E-B713-75CE6E7A7089}">
      <dsp:nvSpPr>
        <dsp:cNvPr id="0" name=""/>
        <dsp:cNvSpPr/>
      </dsp:nvSpPr>
      <dsp:spPr>
        <a:xfrm>
          <a:off x="0" y="751453"/>
          <a:ext cx="6108179" cy="13872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524E40-9B95-DD43-9AF2-7FFEB5A71FA9}">
      <dsp:nvSpPr>
        <dsp:cNvPr id="0" name=""/>
        <dsp:cNvSpPr/>
      </dsp:nvSpPr>
      <dsp:spPr>
        <a:xfrm>
          <a:off x="419657" y="1063595"/>
          <a:ext cx="763013" cy="763013"/>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1D4DB2-8035-7F46-999A-70657D8B8900}">
      <dsp:nvSpPr>
        <dsp:cNvPr id="0" name=""/>
        <dsp:cNvSpPr/>
      </dsp:nvSpPr>
      <dsp:spPr>
        <a:xfrm>
          <a:off x="1602329" y="751453"/>
          <a:ext cx="4505849" cy="1387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22" tIns="146822" rIns="146822" bIns="146822" numCol="1" spcCol="1270" anchor="ctr" anchorCtr="0">
          <a:noAutofit/>
        </a:bodyPr>
        <a:lstStyle/>
        <a:p>
          <a:pPr marL="0" lvl="0" indent="0" algn="l" defTabSz="1111250">
            <a:lnSpc>
              <a:spcPct val="100000"/>
            </a:lnSpc>
            <a:spcBef>
              <a:spcPct val="0"/>
            </a:spcBef>
            <a:spcAft>
              <a:spcPct val="35000"/>
            </a:spcAft>
            <a:buNone/>
          </a:pPr>
          <a:r>
            <a:rPr lang="en-US" sz="2500" kern="1200" dirty="0"/>
            <a:t>What are standards? Curriculum? Practices?</a:t>
          </a:r>
        </a:p>
      </dsp:txBody>
      <dsp:txXfrm>
        <a:off x="1602329" y="751453"/>
        <a:ext cx="4505849" cy="1387298"/>
      </dsp:txXfrm>
    </dsp:sp>
    <dsp:sp modelId="{9E734884-7E93-41C1-969B-6DE29219D906}">
      <dsp:nvSpPr>
        <dsp:cNvPr id="0" name=""/>
        <dsp:cNvSpPr/>
      </dsp:nvSpPr>
      <dsp:spPr>
        <a:xfrm>
          <a:off x="0" y="2485575"/>
          <a:ext cx="6108179" cy="13872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10DC3F-A5E2-498E-A992-E24590AC4E27}">
      <dsp:nvSpPr>
        <dsp:cNvPr id="0" name=""/>
        <dsp:cNvSpPr/>
      </dsp:nvSpPr>
      <dsp:spPr>
        <a:xfrm>
          <a:off x="419657" y="2797717"/>
          <a:ext cx="763013" cy="7630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F2D83B-F410-47F4-B21F-BD70E08F496E}">
      <dsp:nvSpPr>
        <dsp:cNvPr id="0" name=""/>
        <dsp:cNvSpPr/>
      </dsp:nvSpPr>
      <dsp:spPr>
        <a:xfrm>
          <a:off x="1602329" y="2485575"/>
          <a:ext cx="4505849" cy="1387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22" tIns="146822" rIns="146822" bIns="146822" numCol="1" spcCol="1270" anchor="ctr" anchorCtr="0">
          <a:noAutofit/>
        </a:bodyPr>
        <a:lstStyle/>
        <a:p>
          <a:pPr marL="0" lvl="0" indent="0" algn="l" defTabSz="1111250">
            <a:lnSpc>
              <a:spcPct val="100000"/>
            </a:lnSpc>
            <a:spcBef>
              <a:spcPct val="0"/>
            </a:spcBef>
            <a:spcAft>
              <a:spcPct val="35000"/>
            </a:spcAft>
            <a:buNone/>
          </a:pPr>
          <a:r>
            <a:rPr lang="en-US" sz="2500" kern="1200" dirty="0"/>
            <a:t>Indiana State Standards Activity</a:t>
          </a:r>
        </a:p>
      </dsp:txBody>
      <dsp:txXfrm>
        <a:off x="1602329" y="2485575"/>
        <a:ext cx="4505849" cy="13872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2A878-4B94-45E7-A06E-4AA910B0D05D}">
      <dsp:nvSpPr>
        <dsp:cNvPr id="0" name=""/>
        <dsp:cNvSpPr/>
      </dsp:nvSpPr>
      <dsp:spPr>
        <a:xfrm>
          <a:off x="0" y="28695"/>
          <a:ext cx="7012370" cy="2263950"/>
        </a:xfrm>
        <a:prstGeom prst="roundRect">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 xml:space="preserve">Learned Differences in Standards, Curriculum, Practices </a:t>
          </a:r>
        </a:p>
      </dsp:txBody>
      <dsp:txXfrm>
        <a:off x="110517" y="139212"/>
        <a:ext cx="6791336" cy="2042916"/>
      </dsp:txXfrm>
    </dsp:sp>
    <dsp:sp modelId="{84B46705-EDB0-4FCE-BE90-9636A2B92FE0}">
      <dsp:nvSpPr>
        <dsp:cNvPr id="0" name=""/>
        <dsp:cNvSpPr/>
      </dsp:nvSpPr>
      <dsp:spPr>
        <a:xfrm>
          <a:off x="0" y="2416485"/>
          <a:ext cx="7012370" cy="2263950"/>
        </a:xfrm>
        <a:prstGeom prst="roundRect">
          <a:avLst/>
        </a:prstGeom>
        <a:solidFill>
          <a:schemeClr val="accent2">
            <a:hueOff val="1191735"/>
            <a:satOff val="6913"/>
            <a:lumOff val="6864"/>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Vertical Articulation of Indiana State Standards</a:t>
          </a:r>
        </a:p>
      </dsp:txBody>
      <dsp:txXfrm>
        <a:off x="110517" y="2527002"/>
        <a:ext cx="6791336" cy="20429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EFBDD3-1B5A-4ACC-AFC5-2C3B73259C5C}">
      <dsp:nvSpPr>
        <dsp:cNvPr id="0" name=""/>
        <dsp:cNvSpPr/>
      </dsp:nvSpPr>
      <dsp:spPr>
        <a:xfrm>
          <a:off x="1151619" y="0"/>
          <a:ext cx="4709131" cy="4709131"/>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2A9E94-B67B-4170-A962-DD5D7D60580C}">
      <dsp:nvSpPr>
        <dsp:cNvPr id="0" name=""/>
        <dsp:cNvSpPr/>
      </dsp:nvSpPr>
      <dsp:spPr>
        <a:xfrm>
          <a:off x="1598986" y="447367"/>
          <a:ext cx="1836561" cy="1836561"/>
        </a:xfrm>
        <a:prstGeom prst="roundRect">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err="1"/>
            <a:t>VdW</a:t>
          </a:r>
          <a:r>
            <a:rPr lang="en-US" sz="1800" kern="1200" dirty="0"/>
            <a:t xml:space="preserve"> Reading</a:t>
          </a:r>
        </a:p>
      </dsp:txBody>
      <dsp:txXfrm>
        <a:off x="1688640" y="537021"/>
        <a:ext cx="1657253" cy="1657253"/>
      </dsp:txXfrm>
    </dsp:sp>
    <dsp:sp modelId="{E80FA80F-0CAD-4D4C-B6B2-1630A6FC49A1}">
      <dsp:nvSpPr>
        <dsp:cNvPr id="0" name=""/>
        <dsp:cNvSpPr/>
      </dsp:nvSpPr>
      <dsp:spPr>
        <a:xfrm>
          <a:off x="2552902" y="2354562"/>
          <a:ext cx="1836561" cy="1836561"/>
        </a:xfrm>
        <a:prstGeom prst="roundRect">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Lesson</a:t>
          </a:r>
          <a:r>
            <a:rPr lang="en-US" sz="1800" kern="1200" baseline="0" dirty="0"/>
            <a:t xml:space="preserve"> Plan due</a:t>
          </a:r>
        </a:p>
        <a:p>
          <a:pPr marL="0" lvl="0" indent="0" algn="ctr" defTabSz="800100">
            <a:lnSpc>
              <a:spcPct val="90000"/>
            </a:lnSpc>
            <a:spcBef>
              <a:spcPct val="0"/>
            </a:spcBef>
            <a:spcAft>
              <a:spcPct val="35000"/>
            </a:spcAft>
            <a:buNone/>
          </a:pPr>
          <a:r>
            <a:rPr lang="en-US" sz="1800" kern="1200" baseline="0" dirty="0"/>
            <a:t>soon</a:t>
          </a:r>
          <a:endParaRPr lang="en-US" sz="1800" kern="1200" dirty="0"/>
        </a:p>
      </dsp:txBody>
      <dsp:txXfrm>
        <a:off x="2642556" y="2444216"/>
        <a:ext cx="1657253" cy="1657253"/>
      </dsp:txXfrm>
    </dsp:sp>
    <dsp:sp modelId="{B928FC6D-6E90-41FF-8E70-D9B2EE97BEBA}">
      <dsp:nvSpPr>
        <dsp:cNvPr id="0" name=""/>
        <dsp:cNvSpPr/>
      </dsp:nvSpPr>
      <dsp:spPr>
        <a:xfrm flipH="1" flipV="1">
          <a:off x="409400" y="4555502"/>
          <a:ext cx="45712" cy="153628"/>
        </a:xfrm>
        <a:prstGeom prst="roundRect">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endParaRPr lang="en-US" sz="700" kern="1200" dirty="0"/>
        </a:p>
      </dsp:txBody>
      <dsp:txXfrm rot="10800000">
        <a:off x="411631" y="4557733"/>
        <a:ext cx="41250" cy="149166"/>
      </dsp:txXfrm>
    </dsp:sp>
    <dsp:sp modelId="{5A6200DA-9426-4429-8127-8E782EE6889D}">
      <dsp:nvSpPr>
        <dsp:cNvPr id="0" name=""/>
        <dsp:cNvSpPr/>
      </dsp:nvSpPr>
      <dsp:spPr>
        <a:xfrm>
          <a:off x="3515040" y="487116"/>
          <a:ext cx="1836561" cy="1836561"/>
        </a:xfrm>
        <a:prstGeom prst="roundRect">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 xml:space="preserve">Don’t forget the weekly check-in. You’ll need to upload a picture of your in-class work today. </a:t>
          </a:r>
        </a:p>
      </dsp:txBody>
      <dsp:txXfrm>
        <a:off x="3604694" y="576770"/>
        <a:ext cx="1657253" cy="165725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9D219E-9280-463C-BFEF-30E2A260FE5F}"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B7524E-7BBA-4452-BC8B-976857786FC0}" type="slidenum">
              <a:rPr lang="en-US" smtClean="0"/>
              <a:t>‹#›</a:t>
            </a:fld>
            <a:endParaRPr lang="en-US"/>
          </a:p>
        </p:txBody>
      </p:sp>
    </p:spTree>
    <p:extLst>
      <p:ext uri="{BB962C8B-B14F-4D97-AF65-F5344CB8AC3E}">
        <p14:creationId xmlns:p14="http://schemas.microsoft.com/office/powerpoint/2010/main" val="3225494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Sign-in and seating slide. Have students sign in and find seats as they arrive.</a:t>
            </a:r>
          </a:p>
        </p:txBody>
      </p:sp>
    </p:spTree>
  </p:cSld>
  <p:clrMapOvr>
    <a:masterClrMapping/>
  </p:clrMapOvr>
</p:notesSlide>
</file>

<file path=ppt/notesSlides/notesSlide2.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Title: Indiana Academic Standards for K-2 Mathematics - Week 9, Day 1. Set the context for this lesson on understanding state standards.</a:t>
            </a:r>
          </a:p>
        </p:txBody>
      </p:sp>
    </p:spTree>
  </p:cSld>
  <p:clrMapOvr>
    <a:masterClrMapping/>
  </p:clrMapOvr>
</p:notesSlide>
</file>

<file path=ppt/notesSlides/notesSlide3.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Agenda for today. Give students a quick overview of the flow for the class period.</a:t>
            </a:r>
          </a:p>
        </p:txBody>
      </p:sp>
    </p:spTree>
  </p:cSld>
  <p:clrMapOvr>
    <a:masterClrMapping/>
  </p:clrMapOvr>
</p:notesSlide>
</file>

<file path=ppt/notesSlides/notesSlide4.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What are Standards? Standards help educators understand grade-level expectations. They describe what students should know and be able to do at each grade level. Key points: Standards are benchmarks for learning, not curriculum, and they provide consistency across schools/districts. Ref: Van de Walle Chapter 9 discusses the importance of clear learning targets.</a:t>
            </a:r>
          </a:p>
        </p:txBody>
      </p:sp>
    </p:spTree>
  </p:cSld>
  <p:clrMapOvr>
    <a:masterClrMapping/>
  </p:clrMapOvr>
</p:notesSlide>
</file>

<file path=ppt/notesSlides/notesSlide5.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What Aren't Standards? Clarity on this is important. Standards are NOT curriculum (curriculum is HOW you teach), NOT specific lesson plans, and NOT textbooks. Standards are WHAT students should learn; curriculum/instruction is how teachers help them get there.</a:t>
            </a:r>
          </a:p>
        </p:txBody>
      </p:sp>
    </p:spTree>
  </p:cSld>
  <p:clrMapOvr>
    <a:masterClrMapping/>
  </p:clrMapOvr>
</p:notesSlide>
</file>

<file path=ppt/notesSlides/notesSlide6.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Two Kinds of Standards. Content Standards are WHAT students learn (number, geometry, measurement, etc.). Practice Standards are HOW students engage in mathematics (reasoning, problem-solving, communication). Both are essential for complete mathematics education.</a:t>
            </a:r>
          </a:p>
        </p:txBody>
      </p:sp>
    </p:spTree>
  </p:cSld>
  <p:clrMapOvr>
    <a:masterClrMapping/>
  </p:clrMapOvr>
</p:notesSlide>
</file>

<file path=ppt/notesSlides/notesSlide7.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Content Strands for K-2. Main areas of mathematical content include Number Sense and Operations, Computation and Algebraic Thinking, Geometry and Spatial Reasoning, Measurement, and Data Analysis and Probability. We will explore standards from several of these strands in our activities today.</a:t>
            </a:r>
          </a:p>
        </p:txBody>
      </p:sp>
    </p:spTree>
  </p:cSld>
  <p:clrMapOvr>
    <a:masterClrMapping/>
  </p:clrMapOvr>
</p:notesSlide>
</file>

<file path=ppt/notesSlides/notesSlide8.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Vertical Articulation. This means examining how standards progress across grade levels. When you read K standards, you should see connections to 1st grade, and 1st to 2nd. This helps us understand the progression of learning and plan coherent instruction. Ref: Van de Walle emphasizes the importance of understanding progressions of learning.</a:t>
            </a:r>
          </a:p>
        </p:txBody>
      </p:sp>
    </p:spTree>
  </p:cSld>
  <p:clrMapOvr>
    <a:masterClrMapping/>
  </p:clrMapOvr>
</p:notesSlide>
</file>

<file path=ppt/notesSlides/notesSlide9.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Logistics for Activities. Pass out paper for students to record their observations during the group activities. They will be reading and discussing standards, so they need space to write notes.</a:t>
            </a:r>
          </a:p>
        </p:txBody>
      </p:sp>
    </p:spTree>
  </p:cSld>
  <p:clrMapOvr>
    <a:masterClrMapping/>
  </p:clrMapOvr>
</p:notesSlide>
</file>

<file path=ppt/notesSlides/notesSlide10.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Round 1: Number Sense Activity. Divide students into groups. Give each group the Number Sense standards for K-2. Tasks: 1) Read the standards carefully, 2) Identify the main ideas and grade-level progressions, 3) Discuss what a child needs to understand about numbers at each grade level, 4) Be ready to share one observation with the whole group. Allocate 2-3 minutes per group for sharing.</a:t>
            </a:r>
          </a:p>
        </p:txBody>
      </p:sp>
    </p:spTree>
  </p:cSld>
  <p:clrMapOvr>
    <a:masterClrMapping/>
  </p:clrMapOvr>
</p:notesSlide>
</file>

<file path=ppt/notesSlides/notesSlide11.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Round 2: Computation and Algebraic Thinking. New groups or same groups as desired. Give standards for this strand. Tasks: 1) Read and discuss, 2) Look for connections between computation and algebraic thinking, 3) Discuss how these standards build from K to 2nd grade, 4) Share observations. Allocate 2-3 minutes per group.</a:t>
            </a:r>
          </a:p>
        </p:txBody>
      </p:sp>
    </p:spTree>
  </p:cSld>
  <p:clrMapOvr>
    <a:masterClrMapping/>
  </p:clrMapOvr>
</p:notesSlide>
</file>

<file path=ppt/notesSlides/notesSlide12.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Mathematical Practices (Eight Standards). List the eight practices: 1) Make sense of problems and persevere, 2) Reason abstractly and quantitatively, 3) Construct viable arguments and critique reasoning, 4) Model with mathematics, 5) Use appropriate tools strategically, 6) Attend to precision, 7) Look for and make use of structure, 8) Look for and express regularity in repeated reasoning. These apply across all grades K-12. Discuss what each one looks like in K-2 classrooms.</a:t>
            </a:r>
          </a:p>
        </p:txBody>
      </p:sp>
    </p:spTree>
  </p:cSld>
  <p:clrMapOvr>
    <a:masterClrMapping/>
  </p:clrMapOvr>
</p:notesSlide>
</file>

<file path=ppt/notesSlides/notesSlide13.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Round 3: Process Standards (Practices) Activity. Groups create a visual representation of what one mathematical practice looks like in K-2 classrooms. Tasks: 1) Choose one of the eight practices, 2) Discuss examples of what you would see students doing, 3) Create a visual (draw, diagram, word web) showing the practice in action, 4) Be ready to share. Allocate 1-2 minutes per group. This makes the abstract practices concrete.</a:t>
            </a:r>
          </a:p>
        </p:txBody>
      </p:sp>
    </p:spTree>
  </p:cSld>
  <p:clrMapOvr>
    <a:masterClrMapping/>
  </p:clrMapOvr>
</p:notesSlide>
</file>

<file path=ppt/notesSlides/notesSlide14.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Credit and Submission. Ask groups to submit their notes or visuals from the activities. These can be used for reflection and to see how students are thinking about standards. Optional: collect as part of participation grade or attendance confirmation.</a:t>
            </a:r>
          </a:p>
        </p:txBody>
      </p:sp>
    </p:spTree>
  </p:cSld>
  <p:clrMapOvr>
    <a:masterClrMapping/>
  </p:clrMapOvr>
</p:notesSlide>
</file>

<file path=ppt/notesSlides/notesSlide15.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What We Did Today. Review the learning: We explored what standards are and why they matter; identified content strands in K-2 mathematics; discussed how standards build vertically across grades; and connected content standards to mathematical practices. Link to course: This groundwork helps us design better lessons in our own teaching.</a:t>
            </a:r>
          </a:p>
        </p:txBody>
      </p:sp>
    </p:spTree>
  </p:cSld>
  <p:clrMapOvr>
    <a:masterClrMapping/>
  </p:clrMapOvr>
</p:notesSlide>
</file>

<file path=ppt/notesSlides/notesSlide16.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Until We Meet Again. Closing reflection slide. Ask students three questions: 1) One thing you learned about standards today, 2) One question you still have, 3) How might you use this understanding in your teaching? Encourage thinking about their future classrooms.</a:t>
            </a:r>
          </a:p>
        </p:txBody>
      </p:sp>
    </p:spTree>
  </p:cSld>
  <p:clrMapOvr>
    <a:masterClrMapping/>
  </p:clrMapOvr>
</p:notesSlide>
</file>

<file path=ppt/notesSlides/notesSlide17.xml><?xml version="1.0" encoding="utf-8"?>
<p:notesSlide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0" y="0"/>
            <a:ext cx="0" cy="0"/>
          </a:xfrm>
          <a:prstGeom prst="rect">
            <a:avLst/>
          </a:prstGeom>
        </p:spPr>
        <p:txBody>
          <a:bodyPr vert="horz" lIns="91440" tIns="45720" rIns="91440" bIns="45720" rtlCol="0" anchor="t"/>
          <a:lstStyle/>
          <a:p>
            <a:r>
              <a:rPr lang="en-US" dirty="0"/>
              <a:t>Template for Vertical Articulation Activity. This is a reference slide showing a template for examining standards across grades. When used: Can be projected during small group work or provided as a handout to structure the analysis. Template elements include grade level headers (K, 1, 2), space for standard text, and area for noting connections and progression. Use for synthesis and closure if time permits.</a:t>
            </a:r>
          </a:p>
        </p:txBody>
      </p:sp>
    </p:spTree>
  </p:cSld>
  <p:clrMapOvr>
    <a:masterClrMapping/>
  </p:clrMapOvr>
</p:notesSlide>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8A87A34-81AB-432B-8DAE-1953F412C126}" type="datetimeFigureOut">
              <a:rPr lang="en-US" smtClean="0"/>
              <a:t>3/9/26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96822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5408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8A87A34-81AB-432B-8DAE-1953F412C126}" type="datetimeFigureOut">
              <a:rPr lang="en-US" smtClean="0"/>
              <a:pPr/>
              <a:t>3/9/26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786276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67666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1788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1055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94631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8A87A34-81AB-432B-8DAE-1953F412C126}" type="datetimeFigureOut">
              <a:rPr lang="en-US" smtClean="0"/>
              <a:t>3/9/26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696790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37978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32352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8A87A34-81AB-432B-8DAE-1953F412C126}" type="datetimeFigureOut">
              <a:rPr lang="en-US" smtClean="0"/>
              <a:pPr/>
              <a:t>3/9/26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770049159"/>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48A87A34-81AB-432B-8DAE-1953F412C126}" type="datetimeFigureOut">
              <a:rPr lang="en-US" smtClean="0"/>
              <a:pPr/>
              <a:t>3/9/26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6D22F896-40B5-4ADD-8801-0D06FADFA09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23442506"/>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7"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7"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7"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34BFB7C5-23B6-4047-BF5E-F9EEBB437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7DA931-62D6-4B32-9103-84C0960AE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4420" y="457200"/>
            <a:ext cx="6248454" cy="58597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CE3322C-50C3-4FE2-BC38-441FD1C36116}"/>
              </a:ext>
            </a:extLst>
          </p:cNvPr>
          <p:cNvSpPr>
            <a:spLocks noGrp="1"/>
          </p:cNvSpPr>
          <p:nvPr>
            <p:ph type="title"/>
          </p:nvPr>
        </p:nvSpPr>
        <p:spPr>
          <a:xfrm>
            <a:off x="2156346" y="849745"/>
            <a:ext cx="5526993" cy="4745836"/>
          </a:xfrm>
        </p:spPr>
        <p:txBody>
          <a:bodyPr vert="horz" lIns="91440" tIns="45720" rIns="91440" bIns="45720" rtlCol="0" anchor="ctr">
            <a:normAutofit/>
          </a:bodyPr>
          <a:lstStyle/>
          <a:p>
            <a:r>
              <a:rPr lang="en-US" sz="6000" dirty="0">
                <a:solidFill>
                  <a:srgbClr val="FFFFFF"/>
                </a:solidFill>
              </a:rPr>
              <a:t xml:space="preserve">Sit In GROUPS </a:t>
            </a:r>
            <a:r>
              <a:rPr lang="en-US" sz="6000">
                <a:solidFill>
                  <a:srgbClr val="FFFFFF"/>
                </a:solidFill>
              </a:rPr>
              <a:t>of 3 of your choice</a:t>
            </a:r>
            <a:endParaRPr lang="en-US" sz="6000" dirty="0">
              <a:solidFill>
                <a:srgbClr val="FFFFFF"/>
              </a:solidFill>
            </a:endParaRPr>
          </a:p>
        </p:txBody>
      </p:sp>
      <p:sp>
        <p:nvSpPr>
          <p:cNvPr id="20" name="Rectangle 19">
            <a:extLst>
              <a:ext uri="{FF2B5EF4-FFF2-40B4-BE49-F238E27FC236}">
                <a16:creationId xmlns:a16="http://schemas.microsoft.com/office/drawing/2014/main" id="{4695E140-9B6E-43E9-B17E-CDFE3FCA8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453642"/>
            <a:ext cx="3615595" cy="5863293"/>
          </a:xfrm>
          <a:prstGeom prst="rect">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 Placeholder 2">
            <a:extLst>
              <a:ext uri="{FF2B5EF4-FFF2-40B4-BE49-F238E27FC236}">
                <a16:creationId xmlns:a16="http://schemas.microsoft.com/office/drawing/2014/main" id="{F258F0B5-31E1-4039-A424-074D95276527}"/>
              </a:ext>
            </a:extLst>
          </p:cNvPr>
          <p:cNvSpPr>
            <a:spLocks noGrp="1"/>
          </p:cNvSpPr>
          <p:nvPr>
            <p:ph type="body" idx="1"/>
          </p:nvPr>
        </p:nvSpPr>
        <p:spPr>
          <a:xfrm>
            <a:off x="8317076" y="668740"/>
            <a:ext cx="3147043" cy="4926841"/>
          </a:xfrm>
        </p:spPr>
        <p:txBody>
          <a:bodyPr vert="horz" lIns="91440" tIns="45720" rIns="91440" bIns="45720" rtlCol="0" anchor="ctr">
            <a:normAutofit/>
          </a:bodyPr>
          <a:lstStyle/>
          <a:p>
            <a:r>
              <a:rPr lang="en-US" sz="4400">
                <a:solidFill>
                  <a:srgbClr val="FFFFFF"/>
                </a:solidFill>
              </a:rPr>
              <a:t>Did you sign in????</a:t>
            </a:r>
          </a:p>
        </p:txBody>
      </p:sp>
      <p:sp>
        <p:nvSpPr>
          <p:cNvPr id="22" name="Rectangle 21">
            <a:extLst>
              <a:ext uri="{FF2B5EF4-FFF2-40B4-BE49-F238E27FC236}">
                <a16:creationId xmlns:a16="http://schemas.microsoft.com/office/drawing/2014/main" id="{FBC3CD9F-A361-4496-A6E0-24338B2A69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91" y="457201"/>
            <a:ext cx="1106164" cy="5859735"/>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97797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B526CBF-0AA4-49A9-B305-EE0AF3AF6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alculus formula">
            <a:extLst>
              <a:ext uri="{FF2B5EF4-FFF2-40B4-BE49-F238E27FC236}">
                <a16:creationId xmlns:a16="http://schemas.microsoft.com/office/drawing/2014/main" id="{23F35930-02A1-4D8F-A594-E75D9717A420}"/>
              </a:ext>
            </a:extLst>
          </p:cNvPr>
          <p:cNvPicPr>
            <a:picLocks noChangeAspect="1"/>
          </p:cNvPicPr>
          <p:nvPr/>
        </p:nvPicPr>
        <p:blipFill rotWithShape="1">
          <a:blip r:embed="rId2"/>
          <a:srcRect t="4104" b="11627"/>
          <a:stretch/>
        </p:blipFill>
        <p:spPr>
          <a:xfrm>
            <a:off x="20" y="10"/>
            <a:ext cx="12191980" cy="6857990"/>
          </a:xfrm>
          <a:prstGeom prst="rect">
            <a:avLst/>
          </a:prstGeom>
        </p:spPr>
      </p:pic>
      <p:grpSp>
        <p:nvGrpSpPr>
          <p:cNvPr id="11" name="Group 10">
            <a:extLst>
              <a:ext uri="{FF2B5EF4-FFF2-40B4-BE49-F238E27FC236}">
                <a16:creationId xmlns:a16="http://schemas.microsoft.com/office/drawing/2014/main" id="{CC8B5139-02E6-4DEA-9CCE-962CAF0AFB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12" name="Rectangle 11">
              <a:extLst>
                <a:ext uri="{FF2B5EF4-FFF2-40B4-BE49-F238E27FC236}">
                  <a16:creationId xmlns:a16="http://schemas.microsoft.com/office/drawing/2014/main" id="{C0470BC0-AB0D-4A03-B4F1-5DDA9A31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724A08B2-EC2C-4641-81BE-FE8B068BE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14222F4E-F97E-4F5D-827A-69AF818C4D1F}"/>
              </a:ext>
            </a:extLst>
          </p:cNvPr>
          <p:cNvSpPr>
            <a:spLocks noGrp="1"/>
          </p:cNvSpPr>
          <p:nvPr>
            <p:ph type="ctrTitle"/>
          </p:nvPr>
        </p:nvSpPr>
        <p:spPr>
          <a:xfrm>
            <a:off x="584200" y="2142067"/>
            <a:ext cx="3412067" cy="2971801"/>
          </a:xfrm>
        </p:spPr>
        <p:txBody>
          <a:bodyPr>
            <a:normAutofit/>
          </a:bodyPr>
          <a:lstStyle/>
          <a:p>
            <a:r>
              <a:rPr lang="en-US">
                <a:solidFill>
                  <a:srgbClr val="FFFFFF"/>
                </a:solidFill>
              </a:rPr>
              <a:t>E343: Math Methods</a:t>
            </a:r>
          </a:p>
        </p:txBody>
      </p:sp>
      <p:sp>
        <p:nvSpPr>
          <p:cNvPr id="3" name="Subtitle 2">
            <a:extLst>
              <a:ext uri="{FF2B5EF4-FFF2-40B4-BE49-F238E27FC236}">
                <a16:creationId xmlns:a16="http://schemas.microsoft.com/office/drawing/2014/main" id="{CDB5A192-7F5E-4181-9800-EE97FC2C6D7B}"/>
              </a:ext>
            </a:extLst>
          </p:cNvPr>
          <p:cNvSpPr>
            <a:spLocks noGrp="1"/>
          </p:cNvSpPr>
          <p:nvPr>
            <p:ph type="subTitle" idx="1"/>
          </p:nvPr>
        </p:nvSpPr>
        <p:spPr>
          <a:xfrm>
            <a:off x="584200" y="5145513"/>
            <a:ext cx="3412067" cy="738820"/>
          </a:xfrm>
        </p:spPr>
        <p:txBody>
          <a:bodyPr>
            <a:normAutofit/>
          </a:bodyPr>
          <a:lstStyle/>
          <a:p>
            <a:pPr>
              <a:lnSpc>
                <a:spcPct val="90000"/>
              </a:lnSpc>
            </a:pPr>
            <a:r>
              <a:rPr lang="en-US" sz="800" dirty="0">
                <a:solidFill>
                  <a:srgbClr val="EBEBEB"/>
                </a:solidFill>
              </a:rPr>
              <a:t>Week 9, Monday</a:t>
            </a:r>
          </a:p>
          <a:p>
            <a:pPr>
              <a:lnSpc>
                <a:spcPct val="90000"/>
              </a:lnSpc>
            </a:pPr>
            <a:endParaRPr lang="en-US" sz="800" dirty="0">
              <a:solidFill>
                <a:srgbClr val="EBEBEB"/>
              </a:solidFill>
            </a:endParaRPr>
          </a:p>
          <a:p>
            <a:pPr>
              <a:lnSpc>
                <a:spcPct val="90000"/>
              </a:lnSpc>
            </a:pPr>
            <a:r>
              <a:rPr lang="en-US" sz="800" dirty="0">
                <a:solidFill>
                  <a:srgbClr val="EBEBEB"/>
                </a:solidFill>
              </a:rPr>
              <a:t xml:space="preserve">Reading for Today: </a:t>
            </a:r>
            <a:r>
              <a:rPr lang="en-US" sz="800" i="1">
                <a:solidFill>
                  <a:srgbClr val="EBEBEB"/>
                </a:solidFill>
              </a:rPr>
              <a:t>Indiana Standards Info</a:t>
            </a:r>
            <a:endParaRPr lang="en-US" sz="800" dirty="0">
              <a:solidFill>
                <a:srgbClr val="EBEBEB"/>
              </a:solidFill>
            </a:endParaRPr>
          </a:p>
          <a:p>
            <a:pPr>
              <a:lnSpc>
                <a:spcPct val="90000"/>
              </a:lnSpc>
            </a:pPr>
            <a:endParaRPr lang="en-US" sz="800" dirty="0">
              <a:solidFill>
                <a:srgbClr val="EBEBEB"/>
              </a:solidFill>
            </a:endParaRPr>
          </a:p>
        </p:txBody>
      </p:sp>
    </p:spTree>
    <p:extLst>
      <p:ext uri="{BB962C8B-B14F-4D97-AF65-F5344CB8AC3E}">
        <p14:creationId xmlns:p14="http://schemas.microsoft.com/office/powerpoint/2010/main" val="1652616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4A5FD8-C3AA-430A-BECE-E30C1F683EB9}"/>
              </a:ext>
            </a:extLst>
          </p:cNvPr>
          <p:cNvSpPr>
            <a:spLocks noGrp="1"/>
          </p:cNvSpPr>
          <p:nvPr>
            <p:ph type="title"/>
          </p:nvPr>
        </p:nvSpPr>
        <p:spPr>
          <a:xfrm>
            <a:off x="959157" y="1113764"/>
            <a:ext cx="3269749" cy="4624327"/>
          </a:xfrm>
        </p:spPr>
        <p:txBody>
          <a:bodyPr anchor="ctr">
            <a:normAutofit/>
          </a:bodyPr>
          <a:lstStyle/>
          <a:p>
            <a:r>
              <a:rPr lang="en-US" sz="3200">
                <a:solidFill>
                  <a:srgbClr val="FFFFFF"/>
                </a:solidFill>
              </a:rPr>
              <a:t>Agenda</a:t>
            </a:r>
          </a:p>
        </p:txBody>
      </p:sp>
      <p:graphicFrame>
        <p:nvGraphicFramePr>
          <p:cNvPr id="12" name="Content Placeholder 2">
            <a:extLst>
              <a:ext uri="{FF2B5EF4-FFF2-40B4-BE49-F238E27FC236}">
                <a16:creationId xmlns:a16="http://schemas.microsoft.com/office/drawing/2014/main" id="{0A8C0692-C820-4531-8CD9-00A01E14753B}"/>
              </a:ext>
            </a:extLst>
          </p:cNvPr>
          <p:cNvGraphicFramePr>
            <a:graphicFrameLocks noGrp="1"/>
          </p:cNvGraphicFramePr>
          <p:nvPr>
            <p:ph idx="1"/>
            <p:extLst>
              <p:ext uri="{D42A27DB-BD31-4B8C-83A1-F6EECF244321}">
                <p14:modId xmlns:p14="http://schemas.microsoft.com/office/powerpoint/2010/main" val="1263396128"/>
              </p:ext>
            </p:extLst>
          </p:nvPr>
        </p:nvGraphicFramePr>
        <p:xfrm>
          <a:off x="5155905" y="1113764"/>
          <a:ext cx="6108179" cy="46243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7996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5601C-F11A-44EB-BBC9-5C294812092C}"/>
              </a:ext>
            </a:extLst>
          </p:cNvPr>
          <p:cNvSpPr>
            <a:spLocks noGrp="1"/>
          </p:cNvSpPr>
          <p:nvPr>
            <p:ph type="title"/>
          </p:nvPr>
        </p:nvSpPr>
        <p:spPr/>
        <p:txBody>
          <a:bodyPr/>
          <a:lstStyle/>
          <a:p>
            <a:r>
              <a:rPr lang="en-US" dirty="0"/>
              <a:t>What are Standards?</a:t>
            </a:r>
          </a:p>
        </p:txBody>
      </p:sp>
      <p:graphicFrame>
        <p:nvGraphicFramePr>
          <p:cNvPr id="5" name="Content Placeholder 2">
            <a:extLst>
              <a:ext uri="{FF2B5EF4-FFF2-40B4-BE49-F238E27FC236}">
                <a16:creationId xmlns:a16="http://schemas.microsoft.com/office/drawing/2014/main" id="{0F63421B-3CD3-4E77-831A-AC189DEC4C3C}"/>
              </a:ext>
            </a:extLst>
          </p:cNvPr>
          <p:cNvGraphicFramePr>
            <a:graphicFrameLocks noGrp="1"/>
          </p:cNvGraphicFramePr>
          <p:nvPr>
            <p:ph idx="1"/>
            <p:extLst>
              <p:ext uri="{D42A27DB-BD31-4B8C-83A1-F6EECF244321}">
                <p14:modId xmlns:p14="http://schemas.microsoft.com/office/powerpoint/2010/main" val="1504636039"/>
              </p:ext>
            </p:extLst>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EFDABBBF-D458-BF65-53AA-5BC65CC0F714}"/>
              </a:ext>
            </a:extLst>
          </p:cNvPr>
          <p:cNvSpPr txBox="1"/>
          <p:nvPr/>
        </p:nvSpPr>
        <p:spPr>
          <a:xfrm>
            <a:off x="1116418" y="2505670"/>
            <a:ext cx="10845263" cy="923330"/>
          </a:xfrm>
          <a:prstGeom prst="rect">
            <a:avLst/>
          </a:prstGeom>
          <a:noFill/>
        </p:spPr>
        <p:txBody>
          <a:bodyPr wrap="square" rtlCol="0">
            <a:spAutoFit/>
          </a:bodyPr>
          <a:lstStyle/>
          <a:p>
            <a:r>
              <a:rPr lang="en-US" dirty="0">
                <a:effectLst/>
                <a:latin typeface="Arial" panose="020B0604020202020204" pitchFamily="34" charset="0"/>
              </a:rPr>
              <a:t xml:space="preserve">The Academic Standards are designed to help educators, parents, students, and community members understand what students need to know and be able to do at each grade level, and within each content strand, in order to exit high school college and career ready. </a:t>
            </a:r>
            <a:endParaRPr lang="en-US" dirty="0"/>
          </a:p>
        </p:txBody>
      </p:sp>
    </p:spTree>
    <p:extLst>
      <p:ext uri="{BB962C8B-B14F-4D97-AF65-F5344CB8AC3E}">
        <p14:creationId xmlns:p14="http://schemas.microsoft.com/office/powerpoint/2010/main" val="2902973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5601C-F11A-44EB-BBC9-5C294812092C}"/>
              </a:ext>
            </a:extLst>
          </p:cNvPr>
          <p:cNvSpPr>
            <a:spLocks noGrp="1"/>
          </p:cNvSpPr>
          <p:nvPr>
            <p:ph type="title"/>
          </p:nvPr>
        </p:nvSpPr>
        <p:spPr/>
        <p:txBody>
          <a:bodyPr/>
          <a:lstStyle/>
          <a:p>
            <a:r>
              <a:rPr lang="en-US" dirty="0"/>
              <a:t>What Aren’t Standards?</a:t>
            </a:r>
          </a:p>
        </p:txBody>
      </p:sp>
      <p:sp>
        <p:nvSpPr>
          <p:cNvPr id="4" name="Content Placeholder 3">
            <a:extLst>
              <a:ext uri="{FF2B5EF4-FFF2-40B4-BE49-F238E27FC236}">
                <a16:creationId xmlns:a16="http://schemas.microsoft.com/office/drawing/2014/main" id="{440E850A-4A1C-5C97-023D-93B82C5A8FD7}"/>
              </a:ext>
            </a:extLst>
          </p:cNvPr>
          <p:cNvSpPr>
            <a:spLocks noGrp="1"/>
          </p:cNvSpPr>
          <p:nvPr>
            <p:ph idx="1"/>
          </p:nvPr>
        </p:nvSpPr>
        <p:spPr/>
        <p:txBody>
          <a:bodyPr/>
          <a:lstStyle/>
          <a:p>
            <a:r>
              <a:rPr lang="en-US" dirty="0"/>
              <a:t xml:space="preserve">They are NOT curriculum. </a:t>
            </a:r>
          </a:p>
          <a:p>
            <a:pPr lvl="1"/>
            <a:r>
              <a:rPr lang="en-US" dirty="0">
                <a:effectLst/>
                <a:latin typeface="Arial" panose="020B0604020202020204" pitchFamily="34" charset="0"/>
              </a:rPr>
              <a:t>Therefore, identifying the sequence of instruction at each grade</a:t>
            </a:r>
            <a:r>
              <a:rPr lang="en-US" dirty="0">
                <a:latin typeface="Arial" panose="020B0604020202020204" pitchFamily="34" charset="0"/>
              </a:rPr>
              <a:t xml:space="preserve">, </a:t>
            </a:r>
            <a:r>
              <a:rPr lang="en-US" dirty="0">
                <a:effectLst/>
                <a:latin typeface="Arial" panose="020B0604020202020204" pitchFamily="34" charset="0"/>
              </a:rPr>
              <a:t>what will be taught, and for how long</a:t>
            </a:r>
            <a:r>
              <a:rPr lang="en-US" dirty="0">
                <a:latin typeface="Arial" panose="020B0604020202020204" pitchFamily="34" charset="0"/>
              </a:rPr>
              <a:t xml:space="preserve"> </a:t>
            </a:r>
            <a:r>
              <a:rPr lang="en-US" dirty="0">
                <a:effectLst/>
                <a:latin typeface="Arial" panose="020B0604020202020204" pitchFamily="34" charset="0"/>
              </a:rPr>
              <a:t>requires concerted effort and attention at the district and school levels. [Illustrative Mathematics]</a:t>
            </a:r>
            <a:endParaRPr lang="en-US" dirty="0"/>
          </a:p>
          <a:p>
            <a:r>
              <a:rPr lang="en-US" dirty="0"/>
              <a:t>They are NOT practices.</a:t>
            </a:r>
          </a:p>
          <a:p>
            <a:pPr lvl="1"/>
            <a:r>
              <a:rPr lang="en-US" dirty="0">
                <a:effectLst/>
                <a:latin typeface="Arial" panose="020B0604020202020204" pitchFamily="34" charset="0"/>
              </a:rPr>
              <a:t>The standards do not define how teachers should teach. The standards must be complemented by well-</a:t>
            </a:r>
            <a:br>
              <a:rPr lang="en-US" dirty="0"/>
            </a:br>
            <a:r>
              <a:rPr lang="en-US" dirty="0">
                <a:effectLst/>
                <a:latin typeface="Arial" panose="020B0604020202020204" pitchFamily="34" charset="0"/>
              </a:rPr>
              <a:t>developed, aligned, and appropriate curricular materials, as well as robust and effective instructional practices. [5-Practices, Lesson Structure]</a:t>
            </a:r>
            <a:endParaRPr lang="en-US" dirty="0"/>
          </a:p>
        </p:txBody>
      </p:sp>
    </p:spTree>
    <p:extLst>
      <p:ext uri="{BB962C8B-B14F-4D97-AF65-F5344CB8AC3E}">
        <p14:creationId xmlns:p14="http://schemas.microsoft.com/office/powerpoint/2010/main" val="2928025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BB963-1846-CEA9-5B3C-4798C97D8E84}"/>
              </a:ext>
            </a:extLst>
          </p:cNvPr>
          <p:cNvSpPr>
            <a:spLocks noGrp="1"/>
          </p:cNvSpPr>
          <p:nvPr>
            <p:ph type="title"/>
          </p:nvPr>
        </p:nvSpPr>
        <p:spPr/>
        <p:txBody>
          <a:bodyPr/>
          <a:lstStyle/>
          <a:p>
            <a:r>
              <a:rPr lang="en-US" dirty="0"/>
              <a:t>Two Kinds of Standards in Indiana Academic Standards: Practice and Content</a:t>
            </a:r>
          </a:p>
        </p:txBody>
      </p:sp>
      <p:sp>
        <p:nvSpPr>
          <p:cNvPr id="3" name="Content Placeholder 2">
            <a:extLst>
              <a:ext uri="{FF2B5EF4-FFF2-40B4-BE49-F238E27FC236}">
                <a16:creationId xmlns:a16="http://schemas.microsoft.com/office/drawing/2014/main" id="{EEDE4B36-40E9-D4AB-0662-873853C1AF92}"/>
              </a:ext>
            </a:extLst>
          </p:cNvPr>
          <p:cNvSpPr>
            <a:spLocks noGrp="1"/>
          </p:cNvSpPr>
          <p:nvPr>
            <p:ph idx="1"/>
          </p:nvPr>
        </p:nvSpPr>
        <p:spPr/>
        <p:txBody>
          <a:bodyPr>
            <a:normAutofit/>
          </a:bodyPr>
          <a:lstStyle/>
          <a:p>
            <a:r>
              <a:rPr lang="en-US" dirty="0"/>
              <a:t>Content: Outlines key mathematical content in strands to be taught at different grade levels</a:t>
            </a:r>
          </a:p>
          <a:p>
            <a:r>
              <a:rPr lang="en-US" dirty="0"/>
              <a:t>Practice/Process: Outlines key mathematical practices to be taught across ALL grade levels</a:t>
            </a:r>
          </a:p>
        </p:txBody>
      </p:sp>
    </p:spTree>
    <p:extLst>
      <p:ext uri="{BB962C8B-B14F-4D97-AF65-F5344CB8AC3E}">
        <p14:creationId xmlns:p14="http://schemas.microsoft.com/office/powerpoint/2010/main" val="2884062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BB963-1846-CEA9-5B3C-4798C97D8E84}"/>
              </a:ext>
            </a:extLst>
          </p:cNvPr>
          <p:cNvSpPr>
            <a:spLocks noGrp="1"/>
          </p:cNvSpPr>
          <p:nvPr>
            <p:ph type="title"/>
          </p:nvPr>
        </p:nvSpPr>
        <p:spPr/>
        <p:txBody>
          <a:bodyPr/>
          <a:lstStyle/>
          <a:p>
            <a:r>
              <a:rPr lang="en-US" dirty="0"/>
              <a:t>Two Kinds of Standards in Indiana Academic Standards: Practice and Content</a:t>
            </a:r>
          </a:p>
        </p:txBody>
      </p:sp>
      <p:sp>
        <p:nvSpPr>
          <p:cNvPr id="3" name="Content Placeholder 2">
            <a:extLst>
              <a:ext uri="{FF2B5EF4-FFF2-40B4-BE49-F238E27FC236}">
                <a16:creationId xmlns:a16="http://schemas.microsoft.com/office/drawing/2014/main" id="{EEDE4B36-40E9-D4AB-0662-873853C1AF92}"/>
              </a:ext>
            </a:extLst>
          </p:cNvPr>
          <p:cNvSpPr>
            <a:spLocks noGrp="1"/>
          </p:cNvSpPr>
          <p:nvPr>
            <p:ph idx="1"/>
          </p:nvPr>
        </p:nvSpPr>
        <p:spPr/>
        <p:txBody>
          <a:bodyPr>
            <a:normAutofit/>
          </a:bodyPr>
          <a:lstStyle/>
          <a:p>
            <a:r>
              <a:rPr lang="en-US" dirty="0"/>
              <a:t>Content standards are broken into content strands. The content strands for K-2 are:</a:t>
            </a:r>
          </a:p>
          <a:p>
            <a:pPr lvl="1"/>
            <a:r>
              <a:rPr lang="en-US" dirty="0"/>
              <a:t>Number sense</a:t>
            </a:r>
          </a:p>
          <a:p>
            <a:pPr lvl="1"/>
            <a:r>
              <a:rPr lang="en-US" dirty="0"/>
              <a:t>Computation and Algebraic Thinking</a:t>
            </a:r>
          </a:p>
          <a:p>
            <a:pPr lvl="1"/>
            <a:r>
              <a:rPr lang="en-US" dirty="0"/>
              <a:t>Geometry</a:t>
            </a:r>
          </a:p>
          <a:p>
            <a:pPr lvl="1"/>
            <a:r>
              <a:rPr lang="en-US" dirty="0"/>
              <a:t>Measurement</a:t>
            </a:r>
          </a:p>
          <a:p>
            <a:pPr lvl="1"/>
            <a:r>
              <a:rPr lang="en-US" dirty="0"/>
              <a:t>Data Analysis</a:t>
            </a:r>
          </a:p>
        </p:txBody>
      </p:sp>
      <p:sp>
        <p:nvSpPr>
          <p:cNvPr id="4" name="Rounded Rectangle 3">
            <a:extLst>
              <a:ext uri="{FF2B5EF4-FFF2-40B4-BE49-F238E27FC236}">
                <a16:creationId xmlns:a16="http://schemas.microsoft.com/office/drawing/2014/main" id="{D7C6FBC4-A143-1741-8045-6248536E40A5}"/>
              </a:ext>
            </a:extLst>
          </p:cNvPr>
          <p:cNvSpPr/>
          <p:nvPr/>
        </p:nvSpPr>
        <p:spPr>
          <a:xfrm>
            <a:off x="893135" y="3306726"/>
            <a:ext cx="3785191" cy="765544"/>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207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7DEE3-A679-2E75-61D4-90B1891221F8}"/>
              </a:ext>
            </a:extLst>
          </p:cNvPr>
          <p:cNvSpPr>
            <a:spLocks noGrp="1"/>
          </p:cNvSpPr>
          <p:nvPr>
            <p:ph type="title"/>
          </p:nvPr>
        </p:nvSpPr>
        <p:spPr/>
        <p:txBody>
          <a:bodyPr/>
          <a:lstStyle/>
          <a:p>
            <a:r>
              <a:rPr lang="en-US" dirty="0"/>
              <a:t>Vertical Articulation of Standards</a:t>
            </a:r>
          </a:p>
        </p:txBody>
      </p:sp>
      <p:sp>
        <p:nvSpPr>
          <p:cNvPr id="3" name="Content Placeholder 2">
            <a:extLst>
              <a:ext uri="{FF2B5EF4-FFF2-40B4-BE49-F238E27FC236}">
                <a16:creationId xmlns:a16="http://schemas.microsoft.com/office/drawing/2014/main" id="{93108A88-5E31-2B9C-0F79-7ED05A1CCCAD}"/>
              </a:ext>
            </a:extLst>
          </p:cNvPr>
          <p:cNvSpPr>
            <a:spLocks noGrp="1"/>
          </p:cNvSpPr>
          <p:nvPr>
            <p:ph idx="1"/>
          </p:nvPr>
        </p:nvSpPr>
        <p:spPr/>
        <p:txBody>
          <a:bodyPr/>
          <a:lstStyle/>
          <a:p>
            <a:r>
              <a:rPr lang="en-US" dirty="0"/>
              <a:t>Give teachers a sense of what happens within a grade band range and how standards are connected between grades</a:t>
            </a:r>
          </a:p>
          <a:p>
            <a:r>
              <a:rPr lang="en-US" dirty="0"/>
              <a:t>We are going to look at the K-2 vertical articulation for number sense and computation/algebraic thinking</a:t>
            </a:r>
          </a:p>
          <a:p>
            <a:r>
              <a:rPr lang="en-US" dirty="0"/>
              <a:t>What do you already know related to these standards?</a:t>
            </a:r>
          </a:p>
          <a:p>
            <a:pPr lvl="1"/>
            <a:r>
              <a:rPr lang="en-US" dirty="0"/>
              <a:t xml:space="preserve">In N-101 you worked extensively on learning about students’ understanding of number (i.e., their number sense) along with addition and subtraction strategies and reasoning students use. </a:t>
            </a:r>
          </a:p>
          <a:p>
            <a:pPr lvl="1"/>
            <a:r>
              <a:rPr lang="en-US" dirty="0"/>
              <a:t>Looking at the standards will help you know roughly the grade levels during which you might work on this reasoning with students.</a:t>
            </a:r>
          </a:p>
          <a:p>
            <a:pPr lvl="1"/>
            <a:r>
              <a:rPr lang="en-US" dirty="0"/>
              <a:t xml:space="preserve">Don’t be fooled! Just because a standard is in a certain grade level does NOT mean ALL or even a majority of students will be ready to reason according to ALL components of a standard in the way it is stated. </a:t>
            </a:r>
          </a:p>
        </p:txBody>
      </p:sp>
    </p:spTree>
    <p:extLst>
      <p:ext uri="{BB962C8B-B14F-4D97-AF65-F5344CB8AC3E}">
        <p14:creationId xmlns:p14="http://schemas.microsoft.com/office/powerpoint/2010/main" val="3927683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D11E-0571-AD5E-BB1E-E7E2BAF753CB}"/>
              </a:ext>
            </a:extLst>
          </p:cNvPr>
          <p:cNvSpPr>
            <a:spLocks noGrp="1"/>
          </p:cNvSpPr>
          <p:nvPr>
            <p:ph type="title"/>
          </p:nvPr>
        </p:nvSpPr>
        <p:spPr/>
        <p:txBody>
          <a:bodyPr/>
          <a:lstStyle/>
          <a:p>
            <a:r>
              <a:rPr lang="en-US" dirty="0"/>
              <a:t>Today’s Logistics</a:t>
            </a:r>
          </a:p>
        </p:txBody>
      </p:sp>
      <p:sp>
        <p:nvSpPr>
          <p:cNvPr id="3" name="Content Placeholder 2">
            <a:extLst>
              <a:ext uri="{FF2B5EF4-FFF2-40B4-BE49-F238E27FC236}">
                <a16:creationId xmlns:a16="http://schemas.microsoft.com/office/drawing/2014/main" id="{82D7DCF7-6808-706C-9866-F9FD4F7D22FA}"/>
              </a:ext>
            </a:extLst>
          </p:cNvPr>
          <p:cNvSpPr>
            <a:spLocks noGrp="1"/>
          </p:cNvSpPr>
          <p:nvPr>
            <p:ph idx="1"/>
          </p:nvPr>
        </p:nvSpPr>
        <p:spPr/>
        <p:txBody>
          <a:bodyPr/>
          <a:lstStyle/>
          <a:p>
            <a:r>
              <a:rPr lang="en-US" dirty="0"/>
              <a:t xml:space="preserve">Take a paper for recording round 1 and 2 </a:t>
            </a:r>
          </a:p>
          <a:p>
            <a:r>
              <a:rPr lang="en-US" dirty="0"/>
              <a:t>Divide the paper in half</a:t>
            </a:r>
          </a:p>
        </p:txBody>
      </p:sp>
    </p:spTree>
    <p:extLst>
      <p:ext uri="{BB962C8B-B14F-4D97-AF65-F5344CB8AC3E}">
        <p14:creationId xmlns:p14="http://schemas.microsoft.com/office/powerpoint/2010/main" val="3462374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8E215-ED61-47E9-B2B0-916D61528754}"/>
              </a:ext>
            </a:extLst>
          </p:cNvPr>
          <p:cNvSpPr>
            <a:spLocks noGrp="1"/>
          </p:cNvSpPr>
          <p:nvPr>
            <p:ph type="title"/>
          </p:nvPr>
        </p:nvSpPr>
        <p:spPr/>
        <p:txBody>
          <a:bodyPr/>
          <a:lstStyle/>
          <a:p>
            <a:r>
              <a:rPr lang="en-US" dirty="0"/>
              <a:t>What To Do?: Round 1 Number Sense Standards</a:t>
            </a:r>
          </a:p>
        </p:txBody>
      </p:sp>
      <p:sp>
        <p:nvSpPr>
          <p:cNvPr id="3" name="Content Placeholder 2">
            <a:extLst>
              <a:ext uri="{FF2B5EF4-FFF2-40B4-BE49-F238E27FC236}">
                <a16:creationId xmlns:a16="http://schemas.microsoft.com/office/drawing/2014/main" id="{2080B4DE-CE9C-4441-A432-CFA0BD10147D}"/>
              </a:ext>
            </a:extLst>
          </p:cNvPr>
          <p:cNvSpPr>
            <a:spLocks noGrp="1"/>
          </p:cNvSpPr>
          <p:nvPr>
            <p:ph idx="1"/>
          </p:nvPr>
        </p:nvSpPr>
        <p:spPr/>
        <p:txBody>
          <a:bodyPr>
            <a:normAutofit/>
          </a:bodyPr>
          <a:lstStyle/>
          <a:p>
            <a:r>
              <a:rPr lang="en-US" sz="2800" dirty="0"/>
              <a:t>In your group, read the number sense strand of the K-2 vertical articulation document I posted on Canvas</a:t>
            </a:r>
          </a:p>
          <a:p>
            <a:r>
              <a:rPr lang="en-US" sz="2800" dirty="0"/>
              <a:t xml:space="preserve">Identify main ideas across grades K-2 and identify standards you do NOT understand </a:t>
            </a:r>
          </a:p>
          <a:p>
            <a:r>
              <a:rPr lang="en-US" sz="2800" dirty="0"/>
              <a:t>Identify what’s new in each grade and what’s gone from the previous grade – what skills are assumed to have been learned from last year?</a:t>
            </a:r>
          </a:p>
          <a:p>
            <a:r>
              <a:rPr lang="en-US" sz="2800" dirty="0"/>
              <a:t>Record on your large paper</a:t>
            </a:r>
          </a:p>
        </p:txBody>
      </p:sp>
    </p:spTree>
    <p:extLst>
      <p:ext uri="{BB962C8B-B14F-4D97-AF65-F5344CB8AC3E}">
        <p14:creationId xmlns:p14="http://schemas.microsoft.com/office/powerpoint/2010/main" val="3944109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3DFF0-E628-3D4F-365E-463C11D17471}"/>
              </a:ext>
            </a:extLst>
          </p:cNvPr>
          <p:cNvSpPr>
            <a:spLocks noGrp="1"/>
          </p:cNvSpPr>
          <p:nvPr>
            <p:ph type="title"/>
          </p:nvPr>
        </p:nvSpPr>
        <p:spPr/>
        <p:txBody>
          <a:bodyPr/>
          <a:lstStyle/>
          <a:p>
            <a:r>
              <a:rPr lang="en-US" dirty="0"/>
              <a:t>What to do?: Round 2 Computation And Algebraic Thinking</a:t>
            </a:r>
          </a:p>
        </p:txBody>
      </p:sp>
      <p:sp>
        <p:nvSpPr>
          <p:cNvPr id="3" name="Content Placeholder 2">
            <a:extLst>
              <a:ext uri="{FF2B5EF4-FFF2-40B4-BE49-F238E27FC236}">
                <a16:creationId xmlns:a16="http://schemas.microsoft.com/office/drawing/2014/main" id="{2EA2F318-28E1-1C28-54F2-3DB203454E9C}"/>
              </a:ext>
            </a:extLst>
          </p:cNvPr>
          <p:cNvSpPr>
            <a:spLocks noGrp="1"/>
          </p:cNvSpPr>
          <p:nvPr>
            <p:ph idx="1"/>
          </p:nvPr>
        </p:nvSpPr>
        <p:spPr/>
        <p:txBody>
          <a:bodyPr>
            <a:normAutofit fontScale="92500" lnSpcReduction="20000"/>
          </a:bodyPr>
          <a:lstStyle/>
          <a:p>
            <a:r>
              <a:rPr lang="en-US" sz="2800" dirty="0"/>
              <a:t xml:space="preserve">Do a similar activity for the computation and algebraic thinking strand. </a:t>
            </a:r>
          </a:p>
          <a:p>
            <a:r>
              <a:rPr lang="en-US" sz="2800" dirty="0"/>
              <a:t xml:space="preserve">Identify main ideas across grades K-2 and identify standards you do NOT understand </a:t>
            </a:r>
          </a:p>
          <a:p>
            <a:r>
              <a:rPr lang="en-US" sz="2800" dirty="0"/>
              <a:t>Identify what’s new in each grade and what’s gone from the previous grade – what skills are assumed to have been learned from last year?</a:t>
            </a:r>
          </a:p>
          <a:p>
            <a:r>
              <a:rPr lang="en-US" sz="2800" dirty="0"/>
              <a:t>Record on your large paper</a:t>
            </a:r>
          </a:p>
          <a:p>
            <a:endParaRPr lang="en-US" sz="2800" dirty="0"/>
          </a:p>
          <a:p>
            <a:pPr marL="0" indent="0">
              <a:buNone/>
            </a:pPr>
            <a:r>
              <a:rPr lang="en-US" sz="2800" dirty="0"/>
              <a:t xml:space="preserve"> </a:t>
            </a:r>
          </a:p>
        </p:txBody>
      </p:sp>
    </p:spTree>
    <p:extLst>
      <p:ext uri="{BB962C8B-B14F-4D97-AF65-F5344CB8AC3E}">
        <p14:creationId xmlns:p14="http://schemas.microsoft.com/office/powerpoint/2010/main" val="2370101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BB963-1846-CEA9-5B3C-4798C97D8E84}"/>
              </a:ext>
            </a:extLst>
          </p:cNvPr>
          <p:cNvSpPr>
            <a:spLocks noGrp="1"/>
          </p:cNvSpPr>
          <p:nvPr>
            <p:ph type="title"/>
          </p:nvPr>
        </p:nvSpPr>
        <p:spPr/>
        <p:txBody>
          <a:bodyPr/>
          <a:lstStyle/>
          <a:p>
            <a:r>
              <a:rPr lang="en-US" dirty="0"/>
              <a:t>Two Kinds of Standards in Indiana Academic Standards: Practice and Content</a:t>
            </a:r>
          </a:p>
        </p:txBody>
      </p:sp>
      <p:sp>
        <p:nvSpPr>
          <p:cNvPr id="3" name="Content Placeholder 2">
            <a:extLst>
              <a:ext uri="{FF2B5EF4-FFF2-40B4-BE49-F238E27FC236}">
                <a16:creationId xmlns:a16="http://schemas.microsoft.com/office/drawing/2014/main" id="{EEDE4B36-40E9-D4AB-0662-873853C1AF92}"/>
              </a:ext>
            </a:extLst>
          </p:cNvPr>
          <p:cNvSpPr>
            <a:spLocks noGrp="1"/>
          </p:cNvSpPr>
          <p:nvPr>
            <p:ph idx="1"/>
          </p:nvPr>
        </p:nvSpPr>
        <p:spPr/>
        <p:txBody>
          <a:bodyPr>
            <a:normAutofit/>
          </a:bodyPr>
          <a:lstStyle/>
          <a:p>
            <a:r>
              <a:rPr lang="en-US" dirty="0"/>
              <a:t>Mathematical practices are important disciplinary practices that occur across grades and content</a:t>
            </a:r>
          </a:p>
          <a:p>
            <a:pPr lvl="1"/>
            <a:r>
              <a:rPr lang="en-US" dirty="0">
                <a:effectLst/>
                <a:latin typeface="Calibri" panose="020F0502020204030204" pitchFamily="34" charset="0"/>
                <a:ea typeface="Calibri" panose="020F0502020204030204" pitchFamily="34" charset="0"/>
                <a:cs typeface="Times New Roman" panose="02020603050405020304" pitchFamily="18" charset="0"/>
              </a:rPr>
              <a:t>Make sense of problems and persevere in solving them</a:t>
            </a:r>
          </a:p>
          <a:p>
            <a:pPr lvl="1"/>
            <a:r>
              <a:rPr lang="en-US" dirty="0">
                <a:latin typeface="Calibri" panose="020F0502020204030204" pitchFamily="34" charset="0"/>
                <a:cs typeface="Times New Roman" panose="02020603050405020304" pitchFamily="18" charset="0"/>
              </a:rPr>
              <a:t xml:space="preserve">Reason abstractly and quantitatively </a:t>
            </a:r>
          </a:p>
          <a:p>
            <a:pPr lvl="1"/>
            <a:r>
              <a:rPr lang="en-US" dirty="0">
                <a:latin typeface="Calibri" panose="020F0502020204030204" pitchFamily="34" charset="0"/>
                <a:cs typeface="Times New Roman" panose="02020603050405020304" pitchFamily="18" charset="0"/>
              </a:rPr>
              <a:t>Construct viable arguments and critique the reasoning of others</a:t>
            </a:r>
          </a:p>
          <a:p>
            <a:pPr lvl="1"/>
            <a:r>
              <a:rPr lang="en-US" dirty="0">
                <a:latin typeface="Calibri" panose="020F0502020204030204" pitchFamily="34" charset="0"/>
                <a:cs typeface="Times New Roman" panose="02020603050405020304" pitchFamily="18" charset="0"/>
              </a:rPr>
              <a:t>Model with mathematics</a:t>
            </a:r>
          </a:p>
          <a:p>
            <a:pPr lvl="1"/>
            <a:r>
              <a:rPr lang="en-US" dirty="0">
                <a:latin typeface="Calibri" panose="020F0502020204030204" pitchFamily="34" charset="0"/>
                <a:cs typeface="Times New Roman" panose="02020603050405020304" pitchFamily="18" charset="0"/>
              </a:rPr>
              <a:t xml:space="preserve">Use appropriate tools strategically </a:t>
            </a:r>
          </a:p>
          <a:p>
            <a:pPr lvl="1"/>
            <a:r>
              <a:rPr lang="en-US" dirty="0">
                <a:latin typeface="Calibri" panose="020F0502020204030204" pitchFamily="34" charset="0"/>
                <a:cs typeface="Times New Roman" panose="02020603050405020304" pitchFamily="18" charset="0"/>
              </a:rPr>
              <a:t>Attend to precision</a:t>
            </a:r>
          </a:p>
          <a:p>
            <a:pPr lvl="1"/>
            <a:r>
              <a:rPr lang="en-US" dirty="0">
                <a:latin typeface="Calibri" panose="020F0502020204030204" pitchFamily="34" charset="0"/>
                <a:cs typeface="Times New Roman" panose="02020603050405020304" pitchFamily="18" charset="0"/>
              </a:rPr>
              <a:t xml:space="preserve">Look for and make use of structure </a:t>
            </a:r>
          </a:p>
          <a:p>
            <a:pPr lvl="1"/>
            <a:r>
              <a:rPr lang="en-US" dirty="0"/>
              <a:t xml:space="preserve">Look for and express regularity in repeated reasoning </a:t>
            </a:r>
          </a:p>
          <a:p>
            <a:endParaRPr lang="en-US" dirty="0"/>
          </a:p>
        </p:txBody>
      </p:sp>
    </p:spTree>
    <p:extLst>
      <p:ext uri="{BB962C8B-B14F-4D97-AF65-F5344CB8AC3E}">
        <p14:creationId xmlns:p14="http://schemas.microsoft.com/office/powerpoint/2010/main" val="1899531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0F33-6152-9C68-119C-957DD1A35EA2}"/>
              </a:ext>
            </a:extLst>
          </p:cNvPr>
          <p:cNvSpPr>
            <a:spLocks noGrp="1"/>
          </p:cNvSpPr>
          <p:nvPr>
            <p:ph type="title"/>
          </p:nvPr>
        </p:nvSpPr>
        <p:spPr/>
        <p:txBody>
          <a:bodyPr/>
          <a:lstStyle/>
          <a:p>
            <a:r>
              <a:rPr lang="en-US" dirty="0"/>
              <a:t>What to do?: Round 3 Process Standards</a:t>
            </a:r>
          </a:p>
        </p:txBody>
      </p:sp>
      <p:sp>
        <p:nvSpPr>
          <p:cNvPr id="3" name="Content Placeholder 2">
            <a:extLst>
              <a:ext uri="{FF2B5EF4-FFF2-40B4-BE49-F238E27FC236}">
                <a16:creationId xmlns:a16="http://schemas.microsoft.com/office/drawing/2014/main" id="{8CF46E5F-1AFB-1CD2-55C3-93AC03F45784}"/>
              </a:ext>
            </a:extLst>
          </p:cNvPr>
          <p:cNvSpPr>
            <a:spLocks noGrp="1"/>
          </p:cNvSpPr>
          <p:nvPr>
            <p:ph idx="1"/>
          </p:nvPr>
        </p:nvSpPr>
        <p:spPr/>
        <p:txBody>
          <a:bodyPr/>
          <a:lstStyle/>
          <a:p>
            <a:r>
              <a:rPr lang="en-US" dirty="0"/>
              <a:t>Get a new piece of paper</a:t>
            </a:r>
          </a:p>
          <a:p>
            <a:r>
              <a:rPr lang="en-US" dirty="0"/>
              <a:t>Read the information about your process standard</a:t>
            </a:r>
          </a:p>
          <a:p>
            <a:r>
              <a:rPr lang="en-US" dirty="0"/>
              <a:t>Make a visual for your process standard that includes “examples of what this would look like in the classroom.”</a:t>
            </a:r>
          </a:p>
          <a:p>
            <a:r>
              <a:rPr lang="en-US" dirty="0"/>
              <a:t xml:space="preserve">We will post your paper around the room. </a:t>
            </a:r>
          </a:p>
        </p:txBody>
      </p:sp>
    </p:spTree>
    <p:extLst>
      <p:ext uri="{BB962C8B-B14F-4D97-AF65-F5344CB8AC3E}">
        <p14:creationId xmlns:p14="http://schemas.microsoft.com/office/powerpoint/2010/main" val="653715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EF22-C2D9-4841-9EB5-2C4A4FFF5831}"/>
              </a:ext>
            </a:extLst>
          </p:cNvPr>
          <p:cNvSpPr>
            <a:spLocks noGrp="1"/>
          </p:cNvSpPr>
          <p:nvPr>
            <p:ph type="title"/>
          </p:nvPr>
        </p:nvSpPr>
        <p:spPr/>
        <p:txBody>
          <a:bodyPr/>
          <a:lstStyle/>
          <a:p>
            <a:r>
              <a:rPr lang="en-US" dirty="0"/>
              <a:t>You get Credit!</a:t>
            </a:r>
          </a:p>
        </p:txBody>
      </p:sp>
      <p:sp>
        <p:nvSpPr>
          <p:cNvPr id="3" name="Content Placeholder 2">
            <a:extLst>
              <a:ext uri="{FF2B5EF4-FFF2-40B4-BE49-F238E27FC236}">
                <a16:creationId xmlns:a16="http://schemas.microsoft.com/office/drawing/2014/main" id="{FA777725-2983-4628-9818-72B6F0C32BCE}"/>
              </a:ext>
            </a:extLst>
          </p:cNvPr>
          <p:cNvSpPr>
            <a:spLocks noGrp="1"/>
          </p:cNvSpPr>
          <p:nvPr>
            <p:ph idx="1"/>
          </p:nvPr>
        </p:nvSpPr>
        <p:spPr/>
        <p:txBody>
          <a:bodyPr>
            <a:normAutofit/>
          </a:bodyPr>
          <a:lstStyle/>
          <a:p>
            <a:r>
              <a:rPr lang="en-US" sz="3600" dirty="0"/>
              <a:t xml:space="preserve">Take a picture of your work and submit </a:t>
            </a:r>
            <a:r>
              <a:rPr lang="en-US" sz="3600"/>
              <a:t xml:space="preserve">it as part of your </a:t>
            </a:r>
            <a:r>
              <a:rPr lang="en-US" sz="3600" dirty="0"/>
              <a:t>Week 9 Check in on Canvas</a:t>
            </a:r>
          </a:p>
        </p:txBody>
      </p:sp>
    </p:spTree>
    <p:extLst>
      <p:ext uri="{BB962C8B-B14F-4D97-AF65-F5344CB8AC3E}">
        <p14:creationId xmlns:p14="http://schemas.microsoft.com/office/powerpoint/2010/main" val="1625423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98E696-4BBA-46BE-AD86-F7E300B89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1363"/>
            <a:ext cx="12191999" cy="6256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0B0CA3-C333-4560-9975-E31D1B7B92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44A5FD8-C3AA-430A-BECE-E30C1F683EB9}"/>
              </a:ext>
            </a:extLst>
          </p:cNvPr>
          <p:cNvSpPr>
            <a:spLocks noGrp="1"/>
          </p:cNvSpPr>
          <p:nvPr>
            <p:ph type="title"/>
          </p:nvPr>
        </p:nvSpPr>
        <p:spPr>
          <a:xfrm>
            <a:off x="8369643" y="1037967"/>
            <a:ext cx="3054091" cy="4709131"/>
          </a:xfrm>
        </p:spPr>
        <p:txBody>
          <a:bodyPr anchor="ctr">
            <a:normAutofit/>
          </a:bodyPr>
          <a:lstStyle/>
          <a:p>
            <a:r>
              <a:rPr lang="en-US">
                <a:solidFill>
                  <a:srgbClr val="FFFEFF"/>
                </a:solidFill>
              </a:rPr>
              <a:t>What We Did Today</a:t>
            </a:r>
          </a:p>
        </p:txBody>
      </p:sp>
      <p:graphicFrame>
        <p:nvGraphicFramePr>
          <p:cNvPr id="5" name="Content Placeholder 2">
            <a:extLst>
              <a:ext uri="{FF2B5EF4-FFF2-40B4-BE49-F238E27FC236}">
                <a16:creationId xmlns:a16="http://schemas.microsoft.com/office/drawing/2014/main" id="{14507CCF-F0CE-4210-B22C-E71CB1A18CA6}"/>
              </a:ext>
            </a:extLst>
          </p:cNvPr>
          <p:cNvGraphicFramePr>
            <a:graphicFrameLocks noGrp="1"/>
          </p:cNvGraphicFramePr>
          <p:nvPr>
            <p:ph idx="1"/>
            <p:extLst>
              <p:ext uri="{D42A27DB-BD31-4B8C-83A1-F6EECF244321}">
                <p14:modId xmlns:p14="http://schemas.microsoft.com/office/powerpoint/2010/main" val="2952003257"/>
              </p:ext>
            </p:extLst>
          </p:nvPr>
        </p:nvGraphicFramePr>
        <p:xfrm>
          <a:off x="486033"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6849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98E696-4BBA-46BE-AD86-F7E300B89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1363"/>
            <a:ext cx="12191999" cy="6256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0B0CA3-C333-4560-9975-E31D1B7B92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44A5FD8-C3AA-430A-BECE-E30C1F683EB9}"/>
              </a:ext>
            </a:extLst>
          </p:cNvPr>
          <p:cNvSpPr>
            <a:spLocks noGrp="1"/>
          </p:cNvSpPr>
          <p:nvPr>
            <p:ph type="title"/>
          </p:nvPr>
        </p:nvSpPr>
        <p:spPr>
          <a:xfrm>
            <a:off x="8369643" y="1037967"/>
            <a:ext cx="3054091" cy="4709131"/>
          </a:xfrm>
        </p:spPr>
        <p:txBody>
          <a:bodyPr anchor="ctr">
            <a:normAutofit/>
          </a:bodyPr>
          <a:lstStyle/>
          <a:p>
            <a:r>
              <a:rPr lang="en-US">
                <a:solidFill>
                  <a:srgbClr val="FFFEFF"/>
                </a:solidFill>
              </a:rPr>
              <a:t>Until We Meet Again</a:t>
            </a:r>
          </a:p>
        </p:txBody>
      </p:sp>
      <p:graphicFrame>
        <p:nvGraphicFramePr>
          <p:cNvPr id="5" name="Content Placeholder 2">
            <a:extLst>
              <a:ext uri="{FF2B5EF4-FFF2-40B4-BE49-F238E27FC236}">
                <a16:creationId xmlns:a16="http://schemas.microsoft.com/office/drawing/2014/main" id="{ED9DC357-920A-4B5A-9737-F55AB83A534B}"/>
              </a:ext>
            </a:extLst>
          </p:cNvPr>
          <p:cNvGraphicFramePr>
            <a:graphicFrameLocks noGrp="1"/>
          </p:cNvGraphicFramePr>
          <p:nvPr>
            <p:ph idx="1"/>
            <p:extLst>
              <p:ext uri="{D42A27DB-BD31-4B8C-83A1-F6EECF244321}">
                <p14:modId xmlns:p14="http://schemas.microsoft.com/office/powerpoint/2010/main" val="4109725696"/>
              </p:ext>
            </p:extLst>
          </p:nvPr>
        </p:nvGraphicFramePr>
        <p:xfrm>
          <a:off x="486033"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5081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2F77488D-B6D1-4555-93A0-8824EC8AF417}"/>
              </a:ext>
            </a:extLst>
          </p:cNvPr>
          <p:cNvSpPr/>
          <p:nvPr/>
        </p:nvSpPr>
        <p:spPr>
          <a:xfrm>
            <a:off x="2082248" y="1358371"/>
            <a:ext cx="4452730" cy="773572"/>
          </a:xfrm>
          <a:prstGeom prst="ellipse">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764FDB0-3BC9-4676-8228-0B20FE8C5CA5}"/>
              </a:ext>
            </a:extLst>
          </p:cNvPr>
          <p:cNvSpPr txBox="1"/>
          <p:nvPr/>
        </p:nvSpPr>
        <p:spPr>
          <a:xfrm flipH="1">
            <a:off x="2340666" y="1500808"/>
            <a:ext cx="1441174" cy="400110"/>
          </a:xfrm>
          <a:prstGeom prst="rect">
            <a:avLst/>
          </a:prstGeom>
          <a:noFill/>
        </p:spPr>
        <p:txBody>
          <a:bodyPr wrap="square" rtlCol="0">
            <a:spAutoFit/>
          </a:bodyPr>
          <a:lstStyle/>
          <a:p>
            <a:r>
              <a:rPr lang="en-US" sz="2000" dirty="0"/>
              <a:t>Strand 1</a:t>
            </a:r>
          </a:p>
        </p:txBody>
      </p:sp>
      <p:sp>
        <p:nvSpPr>
          <p:cNvPr id="3" name="TextBox 2">
            <a:extLst>
              <a:ext uri="{FF2B5EF4-FFF2-40B4-BE49-F238E27FC236}">
                <a16:creationId xmlns:a16="http://schemas.microsoft.com/office/drawing/2014/main" id="{B5435842-EB87-4265-8074-6A82F94760CE}"/>
              </a:ext>
            </a:extLst>
          </p:cNvPr>
          <p:cNvSpPr txBox="1"/>
          <p:nvPr/>
        </p:nvSpPr>
        <p:spPr>
          <a:xfrm flipH="1">
            <a:off x="3690731" y="773596"/>
            <a:ext cx="2039178" cy="584775"/>
          </a:xfrm>
          <a:prstGeom prst="rect">
            <a:avLst/>
          </a:prstGeom>
          <a:noFill/>
        </p:spPr>
        <p:txBody>
          <a:bodyPr wrap="square" rtlCol="0">
            <a:spAutoFit/>
          </a:bodyPr>
          <a:lstStyle/>
          <a:p>
            <a:r>
              <a:rPr lang="en-US" sz="3200" dirty="0"/>
              <a:t>Grade x</a:t>
            </a:r>
          </a:p>
        </p:txBody>
      </p:sp>
      <p:sp>
        <p:nvSpPr>
          <p:cNvPr id="4" name="TextBox 3">
            <a:extLst>
              <a:ext uri="{FF2B5EF4-FFF2-40B4-BE49-F238E27FC236}">
                <a16:creationId xmlns:a16="http://schemas.microsoft.com/office/drawing/2014/main" id="{40991EEE-33FE-4560-9B4C-6801E09EF269}"/>
              </a:ext>
            </a:extLst>
          </p:cNvPr>
          <p:cNvSpPr txBox="1"/>
          <p:nvPr/>
        </p:nvSpPr>
        <p:spPr>
          <a:xfrm flipH="1">
            <a:off x="495301" y="2875722"/>
            <a:ext cx="1441174" cy="707886"/>
          </a:xfrm>
          <a:prstGeom prst="rect">
            <a:avLst/>
          </a:prstGeom>
          <a:noFill/>
        </p:spPr>
        <p:txBody>
          <a:bodyPr wrap="square" rtlCol="0">
            <a:spAutoFit/>
          </a:bodyPr>
          <a:lstStyle/>
          <a:p>
            <a:r>
              <a:rPr lang="en-US" sz="2000" dirty="0"/>
              <a:t>What’s New</a:t>
            </a:r>
          </a:p>
        </p:txBody>
      </p:sp>
      <p:sp>
        <p:nvSpPr>
          <p:cNvPr id="5" name="TextBox 4">
            <a:extLst>
              <a:ext uri="{FF2B5EF4-FFF2-40B4-BE49-F238E27FC236}">
                <a16:creationId xmlns:a16="http://schemas.microsoft.com/office/drawing/2014/main" id="{48CBBA50-60BC-4284-8DC0-491D21730A73}"/>
              </a:ext>
            </a:extLst>
          </p:cNvPr>
          <p:cNvSpPr txBox="1"/>
          <p:nvPr/>
        </p:nvSpPr>
        <p:spPr>
          <a:xfrm flipH="1">
            <a:off x="443948" y="4608444"/>
            <a:ext cx="1441174" cy="707886"/>
          </a:xfrm>
          <a:prstGeom prst="rect">
            <a:avLst/>
          </a:prstGeom>
          <a:noFill/>
        </p:spPr>
        <p:txBody>
          <a:bodyPr wrap="square" rtlCol="0">
            <a:spAutoFit/>
          </a:bodyPr>
          <a:lstStyle/>
          <a:p>
            <a:r>
              <a:rPr lang="en-US" sz="2000" dirty="0"/>
              <a:t>What’s Gone</a:t>
            </a:r>
          </a:p>
        </p:txBody>
      </p:sp>
      <p:sp>
        <p:nvSpPr>
          <p:cNvPr id="6" name="TextBox 5">
            <a:extLst>
              <a:ext uri="{FF2B5EF4-FFF2-40B4-BE49-F238E27FC236}">
                <a16:creationId xmlns:a16="http://schemas.microsoft.com/office/drawing/2014/main" id="{A287D72F-AF47-4FC6-8347-9B4CD21D167A}"/>
              </a:ext>
            </a:extLst>
          </p:cNvPr>
          <p:cNvSpPr txBox="1"/>
          <p:nvPr/>
        </p:nvSpPr>
        <p:spPr>
          <a:xfrm flipH="1">
            <a:off x="3238501" y="1500808"/>
            <a:ext cx="1441174" cy="400110"/>
          </a:xfrm>
          <a:prstGeom prst="rect">
            <a:avLst/>
          </a:prstGeom>
          <a:noFill/>
        </p:spPr>
        <p:txBody>
          <a:bodyPr wrap="square" rtlCol="0">
            <a:spAutoFit/>
          </a:bodyPr>
          <a:lstStyle/>
          <a:p>
            <a:r>
              <a:rPr lang="en-US" sz="2000" dirty="0"/>
              <a:t>Strand 2</a:t>
            </a:r>
          </a:p>
        </p:txBody>
      </p:sp>
      <p:sp>
        <p:nvSpPr>
          <p:cNvPr id="7" name="TextBox 6">
            <a:extLst>
              <a:ext uri="{FF2B5EF4-FFF2-40B4-BE49-F238E27FC236}">
                <a16:creationId xmlns:a16="http://schemas.microsoft.com/office/drawing/2014/main" id="{1D140137-167F-4EF7-8D0F-D9AEBEF08001}"/>
              </a:ext>
            </a:extLst>
          </p:cNvPr>
          <p:cNvSpPr txBox="1"/>
          <p:nvPr/>
        </p:nvSpPr>
        <p:spPr>
          <a:xfrm flipH="1">
            <a:off x="5196510" y="1500808"/>
            <a:ext cx="1441174" cy="400110"/>
          </a:xfrm>
          <a:prstGeom prst="rect">
            <a:avLst/>
          </a:prstGeom>
          <a:noFill/>
        </p:spPr>
        <p:txBody>
          <a:bodyPr wrap="square" rtlCol="0">
            <a:spAutoFit/>
          </a:bodyPr>
          <a:lstStyle/>
          <a:p>
            <a:r>
              <a:rPr lang="en-US" sz="2000" dirty="0"/>
              <a:t>Strand x</a:t>
            </a:r>
          </a:p>
        </p:txBody>
      </p:sp>
      <p:sp>
        <p:nvSpPr>
          <p:cNvPr id="8" name="TextBox 7">
            <a:extLst>
              <a:ext uri="{FF2B5EF4-FFF2-40B4-BE49-F238E27FC236}">
                <a16:creationId xmlns:a16="http://schemas.microsoft.com/office/drawing/2014/main" id="{D03A19CF-EFF3-488B-B8BE-B45CA51D867E}"/>
              </a:ext>
            </a:extLst>
          </p:cNvPr>
          <p:cNvSpPr txBox="1"/>
          <p:nvPr/>
        </p:nvSpPr>
        <p:spPr>
          <a:xfrm flipH="1">
            <a:off x="4200940" y="1500808"/>
            <a:ext cx="1441174" cy="400110"/>
          </a:xfrm>
          <a:prstGeom prst="rect">
            <a:avLst/>
          </a:prstGeom>
          <a:noFill/>
        </p:spPr>
        <p:txBody>
          <a:bodyPr wrap="square" rtlCol="0">
            <a:spAutoFit/>
          </a:bodyPr>
          <a:lstStyle/>
          <a:p>
            <a:r>
              <a:rPr lang="en-US" sz="2000" dirty="0"/>
              <a:t>Strand 3</a:t>
            </a:r>
          </a:p>
        </p:txBody>
      </p:sp>
      <p:sp>
        <p:nvSpPr>
          <p:cNvPr id="9" name="TextBox 8">
            <a:extLst>
              <a:ext uri="{FF2B5EF4-FFF2-40B4-BE49-F238E27FC236}">
                <a16:creationId xmlns:a16="http://schemas.microsoft.com/office/drawing/2014/main" id="{1D51C42A-85BF-4F7A-90D1-8A39D9304BA3}"/>
              </a:ext>
            </a:extLst>
          </p:cNvPr>
          <p:cNvSpPr txBox="1"/>
          <p:nvPr/>
        </p:nvSpPr>
        <p:spPr>
          <a:xfrm flipH="1">
            <a:off x="6995490" y="1500808"/>
            <a:ext cx="1441174" cy="400110"/>
          </a:xfrm>
          <a:prstGeom prst="rect">
            <a:avLst/>
          </a:prstGeom>
          <a:noFill/>
        </p:spPr>
        <p:txBody>
          <a:bodyPr wrap="square" rtlCol="0">
            <a:spAutoFit/>
          </a:bodyPr>
          <a:lstStyle/>
          <a:p>
            <a:r>
              <a:rPr lang="en-US" sz="2000" dirty="0"/>
              <a:t>Strand 1</a:t>
            </a:r>
          </a:p>
        </p:txBody>
      </p:sp>
      <p:sp>
        <p:nvSpPr>
          <p:cNvPr id="10" name="TextBox 9">
            <a:extLst>
              <a:ext uri="{FF2B5EF4-FFF2-40B4-BE49-F238E27FC236}">
                <a16:creationId xmlns:a16="http://schemas.microsoft.com/office/drawing/2014/main" id="{22B96033-4015-4C89-8C59-F396DD0C3CA9}"/>
              </a:ext>
            </a:extLst>
          </p:cNvPr>
          <p:cNvSpPr txBox="1"/>
          <p:nvPr/>
        </p:nvSpPr>
        <p:spPr>
          <a:xfrm flipH="1">
            <a:off x="8345554" y="773596"/>
            <a:ext cx="1951383" cy="584775"/>
          </a:xfrm>
          <a:prstGeom prst="rect">
            <a:avLst/>
          </a:prstGeom>
          <a:noFill/>
        </p:spPr>
        <p:txBody>
          <a:bodyPr wrap="square" rtlCol="0">
            <a:spAutoFit/>
          </a:bodyPr>
          <a:lstStyle/>
          <a:p>
            <a:r>
              <a:rPr lang="en-US" sz="3200" dirty="0"/>
              <a:t>Grade y</a:t>
            </a:r>
          </a:p>
        </p:txBody>
      </p:sp>
      <p:sp>
        <p:nvSpPr>
          <p:cNvPr id="11" name="TextBox 10">
            <a:extLst>
              <a:ext uri="{FF2B5EF4-FFF2-40B4-BE49-F238E27FC236}">
                <a16:creationId xmlns:a16="http://schemas.microsoft.com/office/drawing/2014/main" id="{B2410D98-3F4B-4B46-BD4F-CEA696A9205F}"/>
              </a:ext>
            </a:extLst>
          </p:cNvPr>
          <p:cNvSpPr txBox="1"/>
          <p:nvPr/>
        </p:nvSpPr>
        <p:spPr>
          <a:xfrm flipH="1">
            <a:off x="7893325" y="1500808"/>
            <a:ext cx="1441174" cy="400110"/>
          </a:xfrm>
          <a:prstGeom prst="rect">
            <a:avLst/>
          </a:prstGeom>
          <a:noFill/>
        </p:spPr>
        <p:txBody>
          <a:bodyPr wrap="square" rtlCol="0">
            <a:spAutoFit/>
          </a:bodyPr>
          <a:lstStyle/>
          <a:p>
            <a:r>
              <a:rPr lang="en-US" sz="2000" dirty="0"/>
              <a:t>Strand 2</a:t>
            </a:r>
          </a:p>
        </p:txBody>
      </p:sp>
      <p:sp>
        <p:nvSpPr>
          <p:cNvPr id="12" name="TextBox 11">
            <a:extLst>
              <a:ext uri="{FF2B5EF4-FFF2-40B4-BE49-F238E27FC236}">
                <a16:creationId xmlns:a16="http://schemas.microsoft.com/office/drawing/2014/main" id="{E97A4E24-2AA9-4FBE-A763-5B56FEC16BD9}"/>
              </a:ext>
            </a:extLst>
          </p:cNvPr>
          <p:cNvSpPr txBox="1"/>
          <p:nvPr/>
        </p:nvSpPr>
        <p:spPr>
          <a:xfrm flipH="1">
            <a:off x="9851334" y="1500808"/>
            <a:ext cx="1441174" cy="400110"/>
          </a:xfrm>
          <a:prstGeom prst="rect">
            <a:avLst/>
          </a:prstGeom>
          <a:noFill/>
        </p:spPr>
        <p:txBody>
          <a:bodyPr wrap="square" rtlCol="0">
            <a:spAutoFit/>
          </a:bodyPr>
          <a:lstStyle/>
          <a:p>
            <a:r>
              <a:rPr lang="en-US" sz="2000" dirty="0"/>
              <a:t>Strand x</a:t>
            </a:r>
          </a:p>
        </p:txBody>
      </p:sp>
      <p:sp>
        <p:nvSpPr>
          <p:cNvPr id="13" name="TextBox 12">
            <a:extLst>
              <a:ext uri="{FF2B5EF4-FFF2-40B4-BE49-F238E27FC236}">
                <a16:creationId xmlns:a16="http://schemas.microsoft.com/office/drawing/2014/main" id="{95264078-2A27-4358-B6AA-286C62D6546C}"/>
              </a:ext>
            </a:extLst>
          </p:cNvPr>
          <p:cNvSpPr txBox="1"/>
          <p:nvPr/>
        </p:nvSpPr>
        <p:spPr>
          <a:xfrm flipH="1">
            <a:off x="8855764" y="1500808"/>
            <a:ext cx="1441174" cy="400110"/>
          </a:xfrm>
          <a:prstGeom prst="rect">
            <a:avLst/>
          </a:prstGeom>
          <a:noFill/>
        </p:spPr>
        <p:txBody>
          <a:bodyPr wrap="square" rtlCol="0">
            <a:spAutoFit/>
          </a:bodyPr>
          <a:lstStyle/>
          <a:p>
            <a:r>
              <a:rPr lang="en-US" sz="2000" dirty="0"/>
              <a:t>Strand 3</a:t>
            </a:r>
          </a:p>
        </p:txBody>
      </p:sp>
      <p:cxnSp>
        <p:nvCxnSpPr>
          <p:cNvPr id="18" name="Straight Arrow Connector 17">
            <a:extLst>
              <a:ext uri="{FF2B5EF4-FFF2-40B4-BE49-F238E27FC236}">
                <a16:creationId xmlns:a16="http://schemas.microsoft.com/office/drawing/2014/main" id="{44CB1ED6-DED0-4AA1-874A-2274172F13A2}"/>
              </a:ext>
            </a:extLst>
          </p:cNvPr>
          <p:cNvCxnSpPr>
            <a:cxnSpLocks/>
            <a:endCxn id="14" idx="4"/>
          </p:cNvCxnSpPr>
          <p:nvPr/>
        </p:nvCxnSpPr>
        <p:spPr>
          <a:xfrm flipH="1" flipV="1">
            <a:off x="4308613" y="2131943"/>
            <a:ext cx="487017" cy="782984"/>
          </a:xfrm>
          <a:prstGeom prst="straightConnector1">
            <a:avLst/>
          </a:prstGeom>
          <a:ln w="2857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2DC1428E-EDAB-4DC8-AF91-4430BEAEB309}"/>
              </a:ext>
            </a:extLst>
          </p:cNvPr>
          <p:cNvSpPr txBox="1"/>
          <p:nvPr/>
        </p:nvSpPr>
        <p:spPr>
          <a:xfrm>
            <a:off x="4679675" y="2828835"/>
            <a:ext cx="2560982" cy="1200329"/>
          </a:xfrm>
          <a:prstGeom prst="rect">
            <a:avLst/>
          </a:prstGeom>
          <a:noFill/>
        </p:spPr>
        <p:txBody>
          <a:bodyPr wrap="square" rtlCol="0">
            <a:spAutoFit/>
          </a:bodyPr>
          <a:lstStyle/>
          <a:p>
            <a:r>
              <a:rPr lang="en-US" dirty="0"/>
              <a:t>Things like number sense and measurement – these may change between grades!</a:t>
            </a:r>
          </a:p>
        </p:txBody>
      </p:sp>
      <p:sp>
        <p:nvSpPr>
          <p:cNvPr id="21" name="TextBox 20">
            <a:extLst>
              <a:ext uri="{FF2B5EF4-FFF2-40B4-BE49-F238E27FC236}">
                <a16:creationId xmlns:a16="http://schemas.microsoft.com/office/drawing/2014/main" id="{EEED086E-1C54-46CF-A572-9E4BAFFBF983}"/>
              </a:ext>
            </a:extLst>
          </p:cNvPr>
          <p:cNvSpPr txBox="1"/>
          <p:nvPr/>
        </p:nvSpPr>
        <p:spPr>
          <a:xfrm>
            <a:off x="2668657" y="4528477"/>
            <a:ext cx="2713383" cy="1754326"/>
          </a:xfrm>
          <a:prstGeom prst="rect">
            <a:avLst/>
          </a:prstGeom>
          <a:noFill/>
        </p:spPr>
        <p:txBody>
          <a:bodyPr wrap="square" rtlCol="0">
            <a:spAutoFit/>
          </a:bodyPr>
          <a:lstStyle/>
          <a:p>
            <a:r>
              <a:rPr lang="en-US" dirty="0"/>
              <a:t>Under each strand heading, briefly state what concept is new or if something is no longer in the standards. You can use words or pictures – get creative!</a:t>
            </a:r>
          </a:p>
        </p:txBody>
      </p:sp>
      <p:cxnSp>
        <p:nvCxnSpPr>
          <p:cNvPr id="23" name="Straight Connector 22">
            <a:extLst>
              <a:ext uri="{FF2B5EF4-FFF2-40B4-BE49-F238E27FC236}">
                <a16:creationId xmlns:a16="http://schemas.microsoft.com/office/drawing/2014/main" id="{431134A8-79E1-4BEF-A389-C031191C8F76}"/>
              </a:ext>
            </a:extLst>
          </p:cNvPr>
          <p:cNvCxnSpPr/>
          <p:nvPr/>
        </p:nvCxnSpPr>
        <p:spPr>
          <a:xfrm flipV="1">
            <a:off x="119270" y="4154557"/>
            <a:ext cx="11658600" cy="54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7EF398F-AD7B-4283-9492-E6D6C0165B4D}"/>
              </a:ext>
            </a:extLst>
          </p:cNvPr>
          <p:cNvCxnSpPr/>
          <p:nvPr/>
        </p:nvCxnSpPr>
        <p:spPr>
          <a:xfrm>
            <a:off x="8907116" y="1552184"/>
            <a:ext cx="38101" cy="53058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700BAE-8252-4702-9D2A-25EB3B2B9ED7}"/>
              </a:ext>
            </a:extLst>
          </p:cNvPr>
          <p:cNvCxnSpPr/>
          <p:nvPr/>
        </p:nvCxnSpPr>
        <p:spPr>
          <a:xfrm>
            <a:off x="9862931" y="1500808"/>
            <a:ext cx="38101" cy="53058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2DE7E5-4730-48C3-9B16-29C16BCC3EB3}"/>
              </a:ext>
            </a:extLst>
          </p:cNvPr>
          <p:cNvCxnSpPr/>
          <p:nvPr/>
        </p:nvCxnSpPr>
        <p:spPr>
          <a:xfrm>
            <a:off x="7779025" y="1500808"/>
            <a:ext cx="38101" cy="530581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8643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4472</TotalTime>
  <Words>829</Words>
  <Application>Microsoft Macintosh PowerPoint</Application>
  <PresentationFormat>Widescreen</PresentationFormat>
  <Paragraphs>87</Paragraphs>
  <Slides>17</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Gill Sans MT</vt:lpstr>
      <vt:lpstr>Wingdings 2</vt:lpstr>
      <vt:lpstr>Dividend</vt:lpstr>
      <vt:lpstr>Sit In GROUPS of 3 of your choice</vt:lpstr>
      <vt:lpstr>E343: Math Methods</vt:lpstr>
      <vt:lpstr>Agenda</vt:lpstr>
      <vt:lpstr>What are Standards?</vt:lpstr>
      <vt:lpstr>What Aren’t Standards?</vt:lpstr>
      <vt:lpstr>Two Kinds of Standards in Indiana Academic Standards: Practice and Content</vt:lpstr>
      <vt:lpstr>Two Kinds of Standards in Indiana Academic Standards: Practice and Content</vt:lpstr>
      <vt:lpstr>Vertical Articulation of Standards</vt:lpstr>
      <vt:lpstr>Today’s Logistics</vt:lpstr>
      <vt:lpstr>What To Do?: Round 1 Number Sense Standards</vt:lpstr>
      <vt:lpstr>What to do?: Round 2 Computation And Algebraic Thinking</vt:lpstr>
      <vt:lpstr>Two Kinds of Standards in Indiana Academic Standards: Practice and Content</vt:lpstr>
      <vt:lpstr>What to do?: Round 3 Process Standards</vt:lpstr>
      <vt:lpstr>You get Credit!</vt:lpstr>
      <vt:lpstr>What We Did Today</vt:lpstr>
      <vt:lpstr>Until We Meet Again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Patti Walsh</dc:creator>
  <cp:lastModifiedBy>Savich, Theodore M.</cp:lastModifiedBy>
  <cp:revision>69</cp:revision>
  <dcterms:created xsi:type="dcterms:W3CDTF">2022-01-23T15:51:34Z</dcterms:created>
  <dcterms:modified xsi:type="dcterms:W3CDTF">2026-03-10T12:39:32Z</dcterms:modified>
</cp:coreProperties>
</file>