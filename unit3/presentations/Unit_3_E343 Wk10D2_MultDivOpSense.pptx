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3"/>
  </p:notesMasterIdLst>
  <p:sldIdLst>
    <p:sldId id="277" r:id="rId2"/>
    <p:sldId id="427" r:id="rId3"/>
    <p:sldId id="431" r:id="rId4"/>
    <p:sldId id="333" r:id="rId5"/>
    <p:sldId id="424" r:id="rId6"/>
    <p:sldId id="340" r:id="rId7"/>
    <p:sldId id="366" r:id="rId8"/>
    <p:sldId id="272" r:id="rId9"/>
    <p:sldId id="345" r:id="rId10"/>
    <p:sldId id="274" r:id="rId11"/>
    <p:sldId id="428" r:id="rId12"/>
    <p:sldId id="429" r:id="rId13"/>
    <p:sldId id="426" r:id="rId14"/>
    <p:sldId id="275" r:id="rId15"/>
    <p:sldId id="430" r:id="rId16"/>
    <p:sldId id="351" r:id="rId17"/>
    <p:sldId id="425" r:id="rId18"/>
    <p:sldId id="273" r:id="rId19"/>
    <p:sldId id="269" r:id="rId20"/>
    <p:sldId id="270" r:id="rId21"/>
    <p:sldId id="271" r:id="rId22"/>
    <p:sldId id="355" r:id="rId23"/>
    <p:sldId id="347" r:id="rId24"/>
    <p:sldId id="278" r:id="rId25"/>
    <p:sldId id="356" r:id="rId26"/>
    <p:sldId id="361" r:id="rId27"/>
    <p:sldId id="358" r:id="rId28"/>
    <p:sldId id="348" r:id="rId29"/>
    <p:sldId id="363" r:id="rId30"/>
    <p:sldId id="357" r:id="rId31"/>
    <p:sldId id="364"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3699"/>
    <p:restoredTop sz="81096"/>
  </p:normalViewPr>
  <p:slideViewPr>
    <p:cSldViewPr snapToGrid="0" snapToObjects="1">
      <p:cViewPr varScale="1">
        <p:scale>
          <a:sx n="102" d="100"/>
          <a:sy n="102" d="100"/>
        </p:scale>
        <p:origin x="976" y="17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8A18E70-F582-44E8-9ACF-2A35D6DB1E7C}" type="doc">
      <dgm:prSet loTypeId="urn:microsoft.com/office/officeart/2005/8/layout/default" loCatId="list" qsTypeId="urn:microsoft.com/office/officeart/2005/8/quickstyle/simple1" qsCatId="simple" csTypeId="urn:microsoft.com/office/officeart/2005/8/colors/colorful1" csCatId="colorful" phldr="1"/>
      <dgm:spPr/>
      <dgm:t xml:space="preserve">
        <a:bodyPr/>
        <a:lstStyle/>
        <a:p>
          <a:endParaRPr lang="en-US"/>
        </a:p>
      </dgm:t>
    </dgm:pt>
    <dgm:pt modelId="{F7D5737A-64A5-428B-8F72-EA79F25413EF}">
      <dgm:prSet/>
      <dgm:spPr/>
      <dgm:t xml:space="preserve">
        <a:bodyPr/>
        <a:lstStyle/>
        <a:p>
          <a:r>
            <a:rPr lang="en-US"/>
            <a:t xml:space="preserve">Equal Groups </a:t>
          </a:r>
        </a:p>
      </dgm:t>
    </dgm:pt>
    <dgm:pt modelId="{42B0344E-0951-41EB-BBF3-E311CB3AC565}" type="parTrans" cxnId="{6DE8715D-0F47-44E2-9B1F-9291CC8400A3}">
      <dgm:prSet/>
      <dgm:spPr/>
      <dgm:t xml:space="preserve">
        <a:bodyPr/>
        <a:lstStyle/>
        <a:p>
          <a:endParaRPr lang="en-US"/>
        </a:p>
      </dgm:t>
    </dgm:pt>
    <dgm:pt modelId="{6D71D83F-6139-46E1-B971-A8ACE8748A5B}" type="sibTrans" cxnId="{6DE8715D-0F47-44E2-9B1F-9291CC8400A3}">
      <dgm:prSet/>
      <dgm:spPr/>
      <dgm:t xml:space="preserve">
        <a:bodyPr/>
        <a:lstStyle/>
        <a:p>
          <a:endParaRPr lang="en-US"/>
        </a:p>
      </dgm:t>
    </dgm:pt>
    <dgm:pt modelId="{608210C9-1C4B-4C6B-A6D8-D155BF8F04C3}">
      <dgm:prSet/>
      <dgm:spPr/>
      <dgm:t xml:space="preserve">
        <a:bodyPr/>
        <a:lstStyle/>
        <a:p>
          <a:r>
            <a:rPr lang="en-US" dirty="0"/>
            <a:t>Comparison</a:t>
          </a:r>
        </a:p>
      </dgm:t>
    </dgm:pt>
    <dgm:pt modelId="{BBA9021F-D5C7-4517-89A6-931DA39D9FFB}" type="parTrans" cxnId="{0D47DFFA-3939-4D06-BF9B-EFD210D93A3E}">
      <dgm:prSet/>
      <dgm:spPr/>
      <dgm:t xml:space="preserve">
        <a:bodyPr/>
        <a:lstStyle/>
        <a:p>
          <a:endParaRPr lang="en-US"/>
        </a:p>
      </dgm:t>
    </dgm:pt>
    <dgm:pt modelId="{5D985121-F095-4BAF-88B3-975AF423A845}" type="sibTrans" cxnId="{0D47DFFA-3939-4D06-BF9B-EFD210D93A3E}">
      <dgm:prSet/>
      <dgm:spPr/>
      <dgm:t xml:space="preserve">
        <a:bodyPr/>
        <a:lstStyle/>
        <a:p>
          <a:endParaRPr lang="en-US"/>
        </a:p>
      </dgm:t>
    </dgm:pt>
    <dgm:pt modelId="{576D5342-80E3-4706-8E26-FA58E71376DA}">
      <dgm:prSet/>
      <dgm:spPr/>
      <dgm:t xml:space="preserve">
        <a:bodyPr/>
        <a:lstStyle/>
        <a:p>
          <a:r>
            <a:rPr lang="en-US"/>
            <a:t>Array</a:t>
          </a:r>
        </a:p>
      </dgm:t>
    </dgm:pt>
    <dgm:pt modelId="{9B31A50B-F458-4C6A-B79F-CA2C010FDBD6}" type="parTrans" cxnId="{6E0A0803-33D6-4CA4-9305-9A3FB84BD834}">
      <dgm:prSet/>
      <dgm:spPr/>
      <dgm:t xml:space="preserve">
        <a:bodyPr/>
        <a:lstStyle/>
        <a:p>
          <a:endParaRPr lang="en-US"/>
        </a:p>
      </dgm:t>
    </dgm:pt>
    <dgm:pt modelId="{05E32B32-ECBA-47E1-B597-B0B666755752}" type="sibTrans" cxnId="{6E0A0803-33D6-4CA4-9305-9A3FB84BD834}">
      <dgm:prSet/>
      <dgm:spPr/>
      <dgm:t xml:space="preserve">
        <a:bodyPr/>
        <a:lstStyle/>
        <a:p>
          <a:endParaRPr lang="en-US"/>
        </a:p>
      </dgm:t>
    </dgm:pt>
    <dgm:pt modelId="{C69B99C1-5553-47EF-952B-217688EF922C}">
      <dgm:prSet/>
      <dgm:spPr/>
      <dgm:t xml:space="preserve">
        <a:bodyPr/>
        <a:lstStyle/>
        <a:p>
          <a:r>
            <a:rPr lang="en-US"/>
            <a:t>Area</a:t>
          </a:r>
        </a:p>
      </dgm:t>
    </dgm:pt>
    <dgm:pt modelId="{07EDBCB5-6228-43BD-895C-8D9343E2E606}" type="parTrans" cxnId="{0308F51F-6F66-4AE7-B575-CEB1AAD9307B}">
      <dgm:prSet/>
      <dgm:spPr/>
      <dgm:t xml:space="preserve">
        <a:bodyPr/>
        <a:lstStyle/>
        <a:p>
          <a:endParaRPr lang="en-US"/>
        </a:p>
      </dgm:t>
    </dgm:pt>
    <dgm:pt modelId="{B6297751-0606-427A-A433-39E04D6E0C93}" type="sibTrans" cxnId="{0308F51F-6F66-4AE7-B575-CEB1AAD9307B}">
      <dgm:prSet/>
      <dgm:spPr/>
      <dgm:t xml:space="preserve">
        <a:bodyPr/>
        <a:lstStyle/>
        <a:p>
          <a:endParaRPr lang="en-US"/>
        </a:p>
      </dgm:t>
    </dgm:pt>
    <dgm:pt modelId="{5B175CDD-5B30-4F71-86E5-5CA52863C3D8}">
      <dgm:prSet/>
      <dgm:spPr/>
      <dgm:t xml:space="preserve">
        <a:bodyPr/>
        <a:lstStyle/>
        <a:p>
          <a:r>
            <a:rPr lang="en-US"/>
            <a:t>Combinations</a:t>
          </a:r>
        </a:p>
      </dgm:t>
    </dgm:pt>
    <dgm:pt modelId="{A8F0741C-035E-497A-B7FF-F05F09B4BC82}" type="parTrans" cxnId="{0183303C-7336-4752-9FF9-A99345D3FDA1}">
      <dgm:prSet/>
      <dgm:spPr/>
      <dgm:t xml:space="preserve">
        <a:bodyPr/>
        <a:lstStyle/>
        <a:p>
          <a:endParaRPr lang="en-US"/>
        </a:p>
      </dgm:t>
    </dgm:pt>
    <dgm:pt modelId="{8BF5DF5D-1BAE-4BBF-B517-D3A87F45B4BD}" type="sibTrans" cxnId="{0183303C-7336-4752-9FF9-A99345D3FDA1}">
      <dgm:prSet/>
      <dgm:spPr/>
      <dgm:t xml:space="preserve">
        <a:bodyPr/>
        <a:lstStyle/>
        <a:p>
          <a:endParaRPr lang="en-US"/>
        </a:p>
      </dgm:t>
    </dgm:pt>
    <dgm:pt modelId="{D0FB53E1-00AD-3040-80D6-27B1BB3BE981}" type="pres">
      <dgm:prSet presAssocID="{B8A18E70-F582-44E8-9ACF-2A35D6DB1E7C}" presName="diagram" presStyleCnt="0">
        <dgm:presLayoutVars>
          <dgm:dir/>
          <dgm:resizeHandles val="exact"/>
        </dgm:presLayoutVars>
      </dgm:prSet>
      <dgm:spPr/>
    </dgm:pt>
    <dgm:pt modelId="{A1976433-20E8-DB42-861F-6C3351BC28EF}" type="pres">
      <dgm:prSet presAssocID="{F7D5737A-64A5-428B-8F72-EA79F25413EF}" presName="node" presStyleLbl="node1" presStyleIdx="0" presStyleCnt="5">
        <dgm:presLayoutVars>
          <dgm:bulletEnabled val="1"/>
        </dgm:presLayoutVars>
      </dgm:prSet>
      <dgm:spPr/>
    </dgm:pt>
    <dgm:pt modelId="{968A899D-535E-2240-B4E6-1E4134F64739}" type="pres">
      <dgm:prSet presAssocID="{6D71D83F-6139-46E1-B971-A8ACE8748A5B}" presName="sibTrans" presStyleCnt="0"/>
      <dgm:spPr/>
    </dgm:pt>
    <dgm:pt modelId="{B7ACAE53-CEBD-644E-B4C6-7847594EAD94}" type="pres">
      <dgm:prSet presAssocID="{608210C9-1C4B-4C6B-A6D8-D155BF8F04C3}" presName="node" presStyleLbl="node1" presStyleIdx="1" presStyleCnt="5">
        <dgm:presLayoutVars>
          <dgm:bulletEnabled val="1"/>
        </dgm:presLayoutVars>
      </dgm:prSet>
      <dgm:spPr/>
    </dgm:pt>
    <dgm:pt modelId="{1DBB3E6B-E32A-BC40-BE26-74C75962FCFB}" type="pres">
      <dgm:prSet presAssocID="{5D985121-F095-4BAF-88B3-975AF423A845}" presName="sibTrans" presStyleCnt="0"/>
      <dgm:spPr/>
    </dgm:pt>
    <dgm:pt modelId="{E870545D-51EC-D24A-BE12-6D830C7333A2}" type="pres">
      <dgm:prSet presAssocID="{576D5342-80E3-4706-8E26-FA58E71376DA}" presName="node" presStyleLbl="node1" presStyleIdx="2" presStyleCnt="5">
        <dgm:presLayoutVars>
          <dgm:bulletEnabled val="1"/>
        </dgm:presLayoutVars>
      </dgm:prSet>
      <dgm:spPr/>
    </dgm:pt>
    <dgm:pt modelId="{F453A0A3-AB4D-7443-9E71-CC8FDC0A5B28}" type="pres">
      <dgm:prSet presAssocID="{05E32B32-ECBA-47E1-B597-B0B666755752}" presName="sibTrans" presStyleCnt="0"/>
      <dgm:spPr/>
    </dgm:pt>
    <dgm:pt modelId="{35342CF0-CDD2-8A40-B859-27B642824884}" type="pres">
      <dgm:prSet presAssocID="{C69B99C1-5553-47EF-952B-217688EF922C}" presName="node" presStyleLbl="node1" presStyleIdx="3" presStyleCnt="5">
        <dgm:presLayoutVars>
          <dgm:bulletEnabled val="1"/>
        </dgm:presLayoutVars>
      </dgm:prSet>
      <dgm:spPr/>
    </dgm:pt>
    <dgm:pt modelId="{C696D2AC-E7C4-B84C-8B2F-A94410848223}" type="pres">
      <dgm:prSet presAssocID="{B6297751-0606-427A-A433-39E04D6E0C93}" presName="sibTrans" presStyleCnt="0"/>
      <dgm:spPr/>
    </dgm:pt>
    <dgm:pt modelId="{51EBE697-6CCD-C843-9150-A0364BF32240}" type="pres">
      <dgm:prSet presAssocID="{5B175CDD-5B30-4F71-86E5-5CA52863C3D8}" presName="node" presStyleLbl="node1" presStyleIdx="4" presStyleCnt="5">
        <dgm:presLayoutVars>
          <dgm:bulletEnabled val="1"/>
        </dgm:presLayoutVars>
      </dgm:prSet>
      <dgm:spPr/>
    </dgm:pt>
  </dgm:ptLst>
  <dgm:cxnLst>
    <dgm:cxn modelId="{6E0A0803-33D6-4CA4-9305-9A3FB84BD834}" srcId="{B8A18E70-F582-44E8-9ACF-2A35D6DB1E7C}" destId="{576D5342-80E3-4706-8E26-FA58E71376DA}" srcOrd="2" destOrd="0" parTransId="{9B31A50B-F458-4C6A-B79F-CA2C010FDBD6}" sibTransId="{05E32B32-ECBA-47E1-B597-B0B666755752}"/>
    <dgm:cxn modelId="{0308F51F-6F66-4AE7-B575-CEB1AAD9307B}" srcId="{B8A18E70-F582-44E8-9ACF-2A35D6DB1E7C}" destId="{C69B99C1-5553-47EF-952B-217688EF922C}" srcOrd="3" destOrd="0" parTransId="{07EDBCB5-6228-43BD-895C-8D9343E2E606}" sibTransId="{B6297751-0606-427A-A433-39E04D6E0C93}"/>
    <dgm:cxn modelId="{0183303C-7336-4752-9FF9-A99345D3FDA1}" srcId="{B8A18E70-F582-44E8-9ACF-2A35D6DB1E7C}" destId="{5B175CDD-5B30-4F71-86E5-5CA52863C3D8}" srcOrd="4" destOrd="0" parTransId="{A8F0741C-035E-497A-B7FF-F05F09B4BC82}" sibTransId="{8BF5DF5D-1BAE-4BBF-B517-D3A87F45B4BD}"/>
    <dgm:cxn modelId="{13DB8C48-D486-C34E-B213-91A0576C8D4D}" type="presOf" srcId="{F7D5737A-64A5-428B-8F72-EA79F25413EF}" destId="{A1976433-20E8-DB42-861F-6C3351BC28EF}" srcOrd="0" destOrd="0" presId="urn:microsoft.com/office/officeart/2005/8/layout/default"/>
    <dgm:cxn modelId="{6DE8715D-0F47-44E2-9B1F-9291CC8400A3}" srcId="{B8A18E70-F582-44E8-9ACF-2A35D6DB1E7C}" destId="{F7D5737A-64A5-428B-8F72-EA79F25413EF}" srcOrd="0" destOrd="0" parTransId="{42B0344E-0951-41EB-BBF3-E311CB3AC565}" sibTransId="{6D71D83F-6139-46E1-B971-A8ACE8748A5B}"/>
    <dgm:cxn modelId="{A4E73B71-7386-5349-9FAC-56FB279CEAEB}" type="presOf" srcId="{B8A18E70-F582-44E8-9ACF-2A35D6DB1E7C}" destId="{D0FB53E1-00AD-3040-80D6-27B1BB3BE981}" srcOrd="0" destOrd="0" presId="urn:microsoft.com/office/officeart/2005/8/layout/default"/>
    <dgm:cxn modelId="{3A826978-54F1-2147-90EA-8BD62F56C858}" type="presOf" srcId="{C69B99C1-5553-47EF-952B-217688EF922C}" destId="{35342CF0-CDD2-8A40-B859-27B642824884}" srcOrd="0" destOrd="0" presId="urn:microsoft.com/office/officeart/2005/8/layout/default"/>
    <dgm:cxn modelId="{9A311B9F-5709-E247-856F-E1AE857DEA5C}" type="presOf" srcId="{608210C9-1C4B-4C6B-A6D8-D155BF8F04C3}" destId="{B7ACAE53-CEBD-644E-B4C6-7847594EAD94}" srcOrd="0" destOrd="0" presId="urn:microsoft.com/office/officeart/2005/8/layout/default"/>
    <dgm:cxn modelId="{D52CD3A3-DCF1-2047-B055-7F75566FB86F}" type="presOf" srcId="{5B175CDD-5B30-4F71-86E5-5CA52863C3D8}" destId="{51EBE697-6CCD-C843-9150-A0364BF32240}" srcOrd="0" destOrd="0" presId="urn:microsoft.com/office/officeart/2005/8/layout/default"/>
    <dgm:cxn modelId="{5E08EDAD-B717-3643-A277-D36D68CF46A0}" type="presOf" srcId="{576D5342-80E3-4706-8E26-FA58E71376DA}" destId="{E870545D-51EC-D24A-BE12-6D830C7333A2}" srcOrd="0" destOrd="0" presId="urn:microsoft.com/office/officeart/2005/8/layout/default"/>
    <dgm:cxn modelId="{0D47DFFA-3939-4D06-BF9B-EFD210D93A3E}" srcId="{B8A18E70-F582-44E8-9ACF-2A35D6DB1E7C}" destId="{608210C9-1C4B-4C6B-A6D8-D155BF8F04C3}" srcOrd="1" destOrd="0" parTransId="{BBA9021F-D5C7-4517-89A6-931DA39D9FFB}" sibTransId="{5D985121-F095-4BAF-88B3-975AF423A845}"/>
    <dgm:cxn modelId="{163E8E97-F1F5-9F41-8062-FB6A2626C1D1}" type="presParOf" srcId="{D0FB53E1-00AD-3040-80D6-27B1BB3BE981}" destId="{A1976433-20E8-DB42-861F-6C3351BC28EF}" srcOrd="0" destOrd="0" presId="urn:microsoft.com/office/officeart/2005/8/layout/default"/>
    <dgm:cxn modelId="{727681BC-C1C6-9843-90DE-0DED08590DA2}" type="presParOf" srcId="{D0FB53E1-00AD-3040-80D6-27B1BB3BE981}" destId="{968A899D-535E-2240-B4E6-1E4134F64739}" srcOrd="1" destOrd="0" presId="urn:microsoft.com/office/officeart/2005/8/layout/default"/>
    <dgm:cxn modelId="{BE87FE67-CBFC-0747-9BBC-78E9D21F98BD}" type="presParOf" srcId="{D0FB53E1-00AD-3040-80D6-27B1BB3BE981}" destId="{B7ACAE53-CEBD-644E-B4C6-7847594EAD94}" srcOrd="2" destOrd="0" presId="urn:microsoft.com/office/officeart/2005/8/layout/default"/>
    <dgm:cxn modelId="{1C33765C-B27E-6146-97EE-D90FA4655355}" type="presParOf" srcId="{D0FB53E1-00AD-3040-80D6-27B1BB3BE981}" destId="{1DBB3E6B-E32A-BC40-BE26-74C75962FCFB}" srcOrd="3" destOrd="0" presId="urn:microsoft.com/office/officeart/2005/8/layout/default"/>
    <dgm:cxn modelId="{19C5D425-8483-F446-9368-B322DC25058D}" type="presParOf" srcId="{D0FB53E1-00AD-3040-80D6-27B1BB3BE981}" destId="{E870545D-51EC-D24A-BE12-6D830C7333A2}" srcOrd="4" destOrd="0" presId="urn:microsoft.com/office/officeart/2005/8/layout/default"/>
    <dgm:cxn modelId="{E193661B-894B-F44E-B981-C7441A4E9ACA}" type="presParOf" srcId="{D0FB53E1-00AD-3040-80D6-27B1BB3BE981}" destId="{F453A0A3-AB4D-7443-9E71-CC8FDC0A5B28}" srcOrd="5" destOrd="0" presId="urn:microsoft.com/office/officeart/2005/8/layout/default"/>
    <dgm:cxn modelId="{3F46545D-7D23-1743-B2FE-6AD4C8D80648}" type="presParOf" srcId="{D0FB53E1-00AD-3040-80D6-27B1BB3BE981}" destId="{35342CF0-CDD2-8A40-B859-27B642824884}" srcOrd="6" destOrd="0" presId="urn:microsoft.com/office/officeart/2005/8/layout/default"/>
    <dgm:cxn modelId="{0D78AF13-2938-7941-AD26-2745B932514F}" type="presParOf" srcId="{D0FB53E1-00AD-3040-80D6-27B1BB3BE981}" destId="{C696D2AC-E7C4-B84C-8B2F-A94410848223}" srcOrd="7" destOrd="0" presId="urn:microsoft.com/office/officeart/2005/8/layout/default"/>
    <dgm:cxn modelId="{5597E3A0-BF84-6B4F-8E69-C9318C84CC25}" type="presParOf" srcId="{D0FB53E1-00AD-3040-80D6-27B1BB3BE981}" destId="{51EBE697-6CCD-C843-9150-A0364BF32240}"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8A18E70-F582-44E8-9ACF-2A35D6DB1E7C}" type="doc">
      <dgm:prSet loTypeId="urn:microsoft.com/office/officeart/2005/8/layout/default" loCatId="list" qsTypeId="urn:microsoft.com/office/officeart/2005/8/quickstyle/simple1" qsCatId="simple" csTypeId="urn:microsoft.com/office/officeart/2005/8/colors/colorful1" csCatId="colorful" phldr="1"/>
      <dgm:spPr/>
      <dgm:t xml:space="preserve">
        <a:bodyPr/>
        <a:lstStyle/>
        <a:p>
          <a:endParaRPr lang="en-US"/>
        </a:p>
      </dgm:t>
    </dgm:pt>
    <dgm:pt modelId="{F7D5737A-64A5-428B-8F72-EA79F25413EF}">
      <dgm:prSet/>
      <dgm:spPr/>
      <dgm:t xml:space="preserve">
        <a:bodyPr/>
        <a:lstStyle/>
        <a:p>
          <a:r>
            <a:rPr lang="en-US"/>
            <a:t xml:space="preserve">Equal Groups </a:t>
          </a:r>
        </a:p>
      </dgm:t>
    </dgm:pt>
    <dgm:pt modelId="{42B0344E-0951-41EB-BBF3-E311CB3AC565}" type="parTrans" cxnId="{6DE8715D-0F47-44E2-9B1F-9291CC8400A3}">
      <dgm:prSet/>
      <dgm:spPr/>
      <dgm:t xml:space="preserve">
        <a:bodyPr/>
        <a:lstStyle/>
        <a:p>
          <a:endParaRPr lang="en-US"/>
        </a:p>
      </dgm:t>
    </dgm:pt>
    <dgm:pt modelId="{6D71D83F-6139-46E1-B971-A8ACE8748A5B}" type="sibTrans" cxnId="{6DE8715D-0F47-44E2-9B1F-9291CC8400A3}">
      <dgm:prSet/>
      <dgm:spPr/>
      <dgm:t xml:space="preserve">
        <a:bodyPr/>
        <a:lstStyle/>
        <a:p>
          <a:endParaRPr lang="en-US"/>
        </a:p>
      </dgm:t>
    </dgm:pt>
    <dgm:pt modelId="{608210C9-1C4B-4C6B-A6D8-D155BF8F04C3}">
      <dgm:prSet/>
      <dgm:spPr/>
      <dgm:t xml:space="preserve">
        <a:bodyPr/>
        <a:lstStyle/>
        <a:p>
          <a:r>
            <a:rPr lang="en-US" dirty="0"/>
            <a:t>Comparison</a:t>
          </a:r>
        </a:p>
      </dgm:t>
    </dgm:pt>
    <dgm:pt modelId="{BBA9021F-D5C7-4517-89A6-931DA39D9FFB}" type="parTrans" cxnId="{0D47DFFA-3939-4D06-BF9B-EFD210D93A3E}">
      <dgm:prSet/>
      <dgm:spPr/>
      <dgm:t xml:space="preserve">
        <a:bodyPr/>
        <a:lstStyle/>
        <a:p>
          <a:endParaRPr lang="en-US"/>
        </a:p>
      </dgm:t>
    </dgm:pt>
    <dgm:pt modelId="{5D985121-F095-4BAF-88B3-975AF423A845}" type="sibTrans" cxnId="{0D47DFFA-3939-4D06-BF9B-EFD210D93A3E}">
      <dgm:prSet/>
      <dgm:spPr/>
      <dgm:t xml:space="preserve">
        <a:bodyPr/>
        <a:lstStyle/>
        <a:p>
          <a:endParaRPr lang="en-US"/>
        </a:p>
      </dgm:t>
    </dgm:pt>
    <dgm:pt modelId="{576D5342-80E3-4706-8E26-FA58E71376DA}">
      <dgm:prSet/>
      <dgm:spPr/>
      <dgm:t xml:space="preserve">
        <a:bodyPr/>
        <a:lstStyle/>
        <a:p>
          <a:r>
            <a:rPr lang="en-US"/>
            <a:t>Array</a:t>
          </a:r>
        </a:p>
      </dgm:t>
    </dgm:pt>
    <dgm:pt modelId="{9B31A50B-F458-4C6A-B79F-CA2C010FDBD6}" type="parTrans" cxnId="{6E0A0803-33D6-4CA4-9305-9A3FB84BD834}">
      <dgm:prSet/>
      <dgm:spPr/>
      <dgm:t xml:space="preserve">
        <a:bodyPr/>
        <a:lstStyle/>
        <a:p>
          <a:endParaRPr lang="en-US"/>
        </a:p>
      </dgm:t>
    </dgm:pt>
    <dgm:pt modelId="{05E32B32-ECBA-47E1-B597-B0B666755752}" type="sibTrans" cxnId="{6E0A0803-33D6-4CA4-9305-9A3FB84BD834}">
      <dgm:prSet/>
      <dgm:spPr/>
      <dgm:t xml:space="preserve">
        <a:bodyPr/>
        <a:lstStyle/>
        <a:p>
          <a:endParaRPr lang="en-US"/>
        </a:p>
      </dgm:t>
    </dgm:pt>
    <dgm:pt modelId="{C69B99C1-5553-47EF-952B-217688EF922C}">
      <dgm:prSet/>
      <dgm:spPr/>
      <dgm:t xml:space="preserve">
        <a:bodyPr/>
        <a:lstStyle/>
        <a:p>
          <a:r>
            <a:rPr lang="en-US"/>
            <a:t>Area</a:t>
          </a:r>
        </a:p>
      </dgm:t>
    </dgm:pt>
    <dgm:pt modelId="{07EDBCB5-6228-43BD-895C-8D9343E2E606}" type="parTrans" cxnId="{0308F51F-6F66-4AE7-B575-CEB1AAD9307B}">
      <dgm:prSet/>
      <dgm:spPr/>
      <dgm:t xml:space="preserve">
        <a:bodyPr/>
        <a:lstStyle/>
        <a:p>
          <a:endParaRPr lang="en-US"/>
        </a:p>
      </dgm:t>
    </dgm:pt>
    <dgm:pt modelId="{B6297751-0606-427A-A433-39E04D6E0C93}" type="sibTrans" cxnId="{0308F51F-6F66-4AE7-B575-CEB1AAD9307B}">
      <dgm:prSet/>
      <dgm:spPr/>
      <dgm:t xml:space="preserve">
        <a:bodyPr/>
        <a:lstStyle/>
        <a:p>
          <a:endParaRPr lang="en-US"/>
        </a:p>
      </dgm:t>
    </dgm:pt>
    <dgm:pt modelId="{5B175CDD-5B30-4F71-86E5-5CA52863C3D8}">
      <dgm:prSet/>
      <dgm:spPr/>
      <dgm:t xml:space="preserve">
        <a:bodyPr/>
        <a:lstStyle/>
        <a:p>
          <a:r>
            <a:rPr lang="en-US"/>
            <a:t>Combinations</a:t>
          </a:r>
        </a:p>
      </dgm:t>
    </dgm:pt>
    <dgm:pt modelId="{A8F0741C-035E-497A-B7FF-F05F09B4BC82}" type="parTrans" cxnId="{0183303C-7336-4752-9FF9-A99345D3FDA1}">
      <dgm:prSet/>
      <dgm:spPr/>
      <dgm:t xml:space="preserve">
        <a:bodyPr/>
        <a:lstStyle/>
        <a:p>
          <a:endParaRPr lang="en-US"/>
        </a:p>
      </dgm:t>
    </dgm:pt>
    <dgm:pt modelId="{8BF5DF5D-1BAE-4BBF-B517-D3A87F45B4BD}" type="sibTrans" cxnId="{0183303C-7336-4752-9FF9-A99345D3FDA1}">
      <dgm:prSet/>
      <dgm:spPr/>
      <dgm:t xml:space="preserve">
        <a:bodyPr/>
        <a:lstStyle/>
        <a:p>
          <a:endParaRPr lang="en-US"/>
        </a:p>
      </dgm:t>
    </dgm:pt>
    <dgm:pt modelId="{D0FB53E1-00AD-3040-80D6-27B1BB3BE981}" type="pres">
      <dgm:prSet presAssocID="{B8A18E70-F582-44E8-9ACF-2A35D6DB1E7C}" presName="diagram" presStyleCnt="0">
        <dgm:presLayoutVars>
          <dgm:dir/>
          <dgm:resizeHandles val="exact"/>
        </dgm:presLayoutVars>
      </dgm:prSet>
      <dgm:spPr/>
    </dgm:pt>
    <dgm:pt modelId="{A1976433-20E8-DB42-861F-6C3351BC28EF}" type="pres">
      <dgm:prSet presAssocID="{F7D5737A-64A5-428B-8F72-EA79F25413EF}" presName="node" presStyleLbl="node1" presStyleIdx="0" presStyleCnt="5">
        <dgm:presLayoutVars>
          <dgm:bulletEnabled val="1"/>
        </dgm:presLayoutVars>
      </dgm:prSet>
      <dgm:spPr/>
    </dgm:pt>
    <dgm:pt modelId="{968A899D-535E-2240-B4E6-1E4134F64739}" type="pres">
      <dgm:prSet presAssocID="{6D71D83F-6139-46E1-B971-A8ACE8748A5B}" presName="sibTrans" presStyleCnt="0"/>
      <dgm:spPr/>
    </dgm:pt>
    <dgm:pt modelId="{B7ACAE53-CEBD-644E-B4C6-7847594EAD94}" type="pres">
      <dgm:prSet presAssocID="{608210C9-1C4B-4C6B-A6D8-D155BF8F04C3}" presName="node" presStyleLbl="node1" presStyleIdx="1" presStyleCnt="5">
        <dgm:presLayoutVars>
          <dgm:bulletEnabled val="1"/>
        </dgm:presLayoutVars>
      </dgm:prSet>
      <dgm:spPr/>
    </dgm:pt>
    <dgm:pt modelId="{1DBB3E6B-E32A-BC40-BE26-74C75962FCFB}" type="pres">
      <dgm:prSet presAssocID="{5D985121-F095-4BAF-88B3-975AF423A845}" presName="sibTrans" presStyleCnt="0"/>
      <dgm:spPr/>
    </dgm:pt>
    <dgm:pt modelId="{E870545D-51EC-D24A-BE12-6D830C7333A2}" type="pres">
      <dgm:prSet presAssocID="{576D5342-80E3-4706-8E26-FA58E71376DA}" presName="node" presStyleLbl="node1" presStyleIdx="2" presStyleCnt="5">
        <dgm:presLayoutVars>
          <dgm:bulletEnabled val="1"/>
        </dgm:presLayoutVars>
      </dgm:prSet>
      <dgm:spPr/>
    </dgm:pt>
    <dgm:pt modelId="{F453A0A3-AB4D-7443-9E71-CC8FDC0A5B28}" type="pres">
      <dgm:prSet presAssocID="{05E32B32-ECBA-47E1-B597-B0B666755752}" presName="sibTrans" presStyleCnt="0"/>
      <dgm:spPr/>
    </dgm:pt>
    <dgm:pt modelId="{35342CF0-CDD2-8A40-B859-27B642824884}" type="pres">
      <dgm:prSet presAssocID="{C69B99C1-5553-47EF-952B-217688EF922C}" presName="node" presStyleLbl="node1" presStyleIdx="3" presStyleCnt="5">
        <dgm:presLayoutVars>
          <dgm:bulletEnabled val="1"/>
        </dgm:presLayoutVars>
      </dgm:prSet>
      <dgm:spPr/>
    </dgm:pt>
    <dgm:pt modelId="{C696D2AC-E7C4-B84C-8B2F-A94410848223}" type="pres">
      <dgm:prSet presAssocID="{B6297751-0606-427A-A433-39E04D6E0C93}" presName="sibTrans" presStyleCnt="0"/>
      <dgm:spPr/>
    </dgm:pt>
    <dgm:pt modelId="{51EBE697-6CCD-C843-9150-A0364BF32240}" type="pres">
      <dgm:prSet presAssocID="{5B175CDD-5B30-4F71-86E5-5CA52863C3D8}" presName="node" presStyleLbl="node1" presStyleIdx="4" presStyleCnt="5">
        <dgm:presLayoutVars>
          <dgm:bulletEnabled val="1"/>
        </dgm:presLayoutVars>
      </dgm:prSet>
      <dgm:spPr/>
    </dgm:pt>
  </dgm:ptLst>
  <dgm:cxnLst>
    <dgm:cxn modelId="{6E0A0803-33D6-4CA4-9305-9A3FB84BD834}" srcId="{B8A18E70-F582-44E8-9ACF-2A35D6DB1E7C}" destId="{576D5342-80E3-4706-8E26-FA58E71376DA}" srcOrd="2" destOrd="0" parTransId="{9B31A50B-F458-4C6A-B79F-CA2C010FDBD6}" sibTransId="{05E32B32-ECBA-47E1-B597-B0B666755752}"/>
    <dgm:cxn modelId="{0308F51F-6F66-4AE7-B575-CEB1AAD9307B}" srcId="{B8A18E70-F582-44E8-9ACF-2A35D6DB1E7C}" destId="{C69B99C1-5553-47EF-952B-217688EF922C}" srcOrd="3" destOrd="0" parTransId="{07EDBCB5-6228-43BD-895C-8D9343E2E606}" sibTransId="{B6297751-0606-427A-A433-39E04D6E0C93}"/>
    <dgm:cxn modelId="{0183303C-7336-4752-9FF9-A99345D3FDA1}" srcId="{B8A18E70-F582-44E8-9ACF-2A35D6DB1E7C}" destId="{5B175CDD-5B30-4F71-86E5-5CA52863C3D8}" srcOrd="4" destOrd="0" parTransId="{A8F0741C-035E-497A-B7FF-F05F09B4BC82}" sibTransId="{8BF5DF5D-1BAE-4BBF-B517-D3A87F45B4BD}"/>
    <dgm:cxn modelId="{13DB8C48-D486-C34E-B213-91A0576C8D4D}" type="presOf" srcId="{F7D5737A-64A5-428B-8F72-EA79F25413EF}" destId="{A1976433-20E8-DB42-861F-6C3351BC28EF}" srcOrd="0" destOrd="0" presId="urn:microsoft.com/office/officeart/2005/8/layout/default"/>
    <dgm:cxn modelId="{6DE8715D-0F47-44E2-9B1F-9291CC8400A3}" srcId="{B8A18E70-F582-44E8-9ACF-2A35D6DB1E7C}" destId="{F7D5737A-64A5-428B-8F72-EA79F25413EF}" srcOrd="0" destOrd="0" parTransId="{42B0344E-0951-41EB-BBF3-E311CB3AC565}" sibTransId="{6D71D83F-6139-46E1-B971-A8ACE8748A5B}"/>
    <dgm:cxn modelId="{A4E73B71-7386-5349-9FAC-56FB279CEAEB}" type="presOf" srcId="{B8A18E70-F582-44E8-9ACF-2A35D6DB1E7C}" destId="{D0FB53E1-00AD-3040-80D6-27B1BB3BE981}" srcOrd="0" destOrd="0" presId="urn:microsoft.com/office/officeart/2005/8/layout/default"/>
    <dgm:cxn modelId="{3A826978-54F1-2147-90EA-8BD62F56C858}" type="presOf" srcId="{C69B99C1-5553-47EF-952B-217688EF922C}" destId="{35342CF0-CDD2-8A40-B859-27B642824884}" srcOrd="0" destOrd="0" presId="urn:microsoft.com/office/officeart/2005/8/layout/default"/>
    <dgm:cxn modelId="{9A311B9F-5709-E247-856F-E1AE857DEA5C}" type="presOf" srcId="{608210C9-1C4B-4C6B-A6D8-D155BF8F04C3}" destId="{B7ACAE53-CEBD-644E-B4C6-7847594EAD94}" srcOrd="0" destOrd="0" presId="urn:microsoft.com/office/officeart/2005/8/layout/default"/>
    <dgm:cxn modelId="{D52CD3A3-DCF1-2047-B055-7F75566FB86F}" type="presOf" srcId="{5B175CDD-5B30-4F71-86E5-5CA52863C3D8}" destId="{51EBE697-6CCD-C843-9150-A0364BF32240}" srcOrd="0" destOrd="0" presId="urn:microsoft.com/office/officeart/2005/8/layout/default"/>
    <dgm:cxn modelId="{5E08EDAD-B717-3643-A277-D36D68CF46A0}" type="presOf" srcId="{576D5342-80E3-4706-8E26-FA58E71376DA}" destId="{E870545D-51EC-D24A-BE12-6D830C7333A2}" srcOrd="0" destOrd="0" presId="urn:microsoft.com/office/officeart/2005/8/layout/default"/>
    <dgm:cxn modelId="{0D47DFFA-3939-4D06-BF9B-EFD210D93A3E}" srcId="{B8A18E70-F582-44E8-9ACF-2A35D6DB1E7C}" destId="{608210C9-1C4B-4C6B-A6D8-D155BF8F04C3}" srcOrd="1" destOrd="0" parTransId="{BBA9021F-D5C7-4517-89A6-931DA39D9FFB}" sibTransId="{5D985121-F095-4BAF-88B3-975AF423A845}"/>
    <dgm:cxn modelId="{163E8E97-F1F5-9F41-8062-FB6A2626C1D1}" type="presParOf" srcId="{D0FB53E1-00AD-3040-80D6-27B1BB3BE981}" destId="{A1976433-20E8-DB42-861F-6C3351BC28EF}" srcOrd="0" destOrd="0" presId="urn:microsoft.com/office/officeart/2005/8/layout/default"/>
    <dgm:cxn modelId="{727681BC-C1C6-9843-90DE-0DED08590DA2}" type="presParOf" srcId="{D0FB53E1-00AD-3040-80D6-27B1BB3BE981}" destId="{968A899D-535E-2240-B4E6-1E4134F64739}" srcOrd="1" destOrd="0" presId="urn:microsoft.com/office/officeart/2005/8/layout/default"/>
    <dgm:cxn modelId="{BE87FE67-CBFC-0747-9BBC-78E9D21F98BD}" type="presParOf" srcId="{D0FB53E1-00AD-3040-80D6-27B1BB3BE981}" destId="{B7ACAE53-CEBD-644E-B4C6-7847594EAD94}" srcOrd="2" destOrd="0" presId="urn:microsoft.com/office/officeart/2005/8/layout/default"/>
    <dgm:cxn modelId="{1C33765C-B27E-6146-97EE-D90FA4655355}" type="presParOf" srcId="{D0FB53E1-00AD-3040-80D6-27B1BB3BE981}" destId="{1DBB3E6B-E32A-BC40-BE26-74C75962FCFB}" srcOrd="3" destOrd="0" presId="urn:microsoft.com/office/officeart/2005/8/layout/default"/>
    <dgm:cxn modelId="{19C5D425-8483-F446-9368-B322DC25058D}" type="presParOf" srcId="{D0FB53E1-00AD-3040-80D6-27B1BB3BE981}" destId="{E870545D-51EC-D24A-BE12-6D830C7333A2}" srcOrd="4" destOrd="0" presId="urn:microsoft.com/office/officeart/2005/8/layout/default"/>
    <dgm:cxn modelId="{E193661B-894B-F44E-B981-C7441A4E9ACA}" type="presParOf" srcId="{D0FB53E1-00AD-3040-80D6-27B1BB3BE981}" destId="{F453A0A3-AB4D-7443-9E71-CC8FDC0A5B28}" srcOrd="5" destOrd="0" presId="urn:microsoft.com/office/officeart/2005/8/layout/default"/>
    <dgm:cxn modelId="{3F46545D-7D23-1743-B2FE-6AD4C8D80648}" type="presParOf" srcId="{D0FB53E1-00AD-3040-80D6-27B1BB3BE981}" destId="{35342CF0-CDD2-8A40-B859-27B642824884}" srcOrd="6" destOrd="0" presId="urn:microsoft.com/office/officeart/2005/8/layout/default"/>
    <dgm:cxn modelId="{0D78AF13-2938-7941-AD26-2745B932514F}" type="presParOf" srcId="{D0FB53E1-00AD-3040-80D6-27B1BB3BE981}" destId="{C696D2AC-E7C4-B84C-8B2F-A94410848223}" srcOrd="7" destOrd="0" presId="urn:microsoft.com/office/officeart/2005/8/layout/default"/>
    <dgm:cxn modelId="{5597E3A0-BF84-6B4F-8E69-C9318C84CC25}" type="presParOf" srcId="{D0FB53E1-00AD-3040-80D6-27B1BB3BE981}" destId="{51EBE697-6CCD-C843-9150-A0364BF32240}"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76433-20E8-DB42-861F-6C3351BC28EF}">
      <dsp:nvSpPr>
        <dsp:cNvPr id="0" name=""/>
        <dsp:cNvSpPr/>
      </dsp:nvSpPr>
      <dsp:spPr>
        <a:xfrm>
          <a:off x="0" y="130714"/>
          <a:ext cx="3065859" cy="1839515"/>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 xml:space="preserve">Equal Groups </a:t>
          </a:r>
        </a:p>
      </dsp:txBody>
      <dsp:txXfrm>
        <a:off x="0" y="130714"/>
        <a:ext cx="3065859" cy="1839515"/>
      </dsp:txXfrm>
    </dsp:sp>
    <dsp:sp modelId="{B7ACAE53-CEBD-644E-B4C6-7847594EAD94}">
      <dsp:nvSpPr>
        <dsp:cNvPr id="0" name=""/>
        <dsp:cNvSpPr/>
      </dsp:nvSpPr>
      <dsp:spPr>
        <a:xfrm>
          <a:off x="3372445" y="130714"/>
          <a:ext cx="3065859" cy="1839515"/>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dirty="0"/>
            <a:t>Comparison</a:t>
          </a:r>
        </a:p>
      </dsp:txBody>
      <dsp:txXfrm>
        <a:off x="3372445" y="130714"/>
        <a:ext cx="3065859" cy="1839515"/>
      </dsp:txXfrm>
    </dsp:sp>
    <dsp:sp modelId="{E870545D-51EC-D24A-BE12-6D830C7333A2}">
      <dsp:nvSpPr>
        <dsp:cNvPr id="0" name=""/>
        <dsp:cNvSpPr/>
      </dsp:nvSpPr>
      <dsp:spPr>
        <a:xfrm>
          <a:off x="6744890" y="130714"/>
          <a:ext cx="3065859" cy="1839515"/>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Array</a:t>
          </a:r>
        </a:p>
      </dsp:txBody>
      <dsp:txXfrm>
        <a:off x="6744890" y="130714"/>
        <a:ext cx="3065859" cy="1839515"/>
      </dsp:txXfrm>
    </dsp:sp>
    <dsp:sp modelId="{35342CF0-CDD2-8A40-B859-27B642824884}">
      <dsp:nvSpPr>
        <dsp:cNvPr id="0" name=""/>
        <dsp:cNvSpPr/>
      </dsp:nvSpPr>
      <dsp:spPr>
        <a:xfrm>
          <a:off x="1686222" y="2276815"/>
          <a:ext cx="3065859" cy="1839515"/>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Area</a:t>
          </a:r>
        </a:p>
      </dsp:txBody>
      <dsp:txXfrm>
        <a:off x="1686222" y="2276815"/>
        <a:ext cx="3065859" cy="1839515"/>
      </dsp:txXfrm>
    </dsp:sp>
    <dsp:sp modelId="{51EBE697-6CCD-C843-9150-A0364BF32240}">
      <dsp:nvSpPr>
        <dsp:cNvPr id="0" name=""/>
        <dsp:cNvSpPr/>
      </dsp:nvSpPr>
      <dsp:spPr>
        <a:xfrm>
          <a:off x="5058667" y="2276815"/>
          <a:ext cx="3065859" cy="1839515"/>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Combinations</a:t>
          </a:r>
        </a:p>
      </dsp:txBody>
      <dsp:txXfrm>
        <a:off x="5058667" y="2276815"/>
        <a:ext cx="3065859" cy="18395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976433-20E8-DB42-861F-6C3351BC28EF}">
      <dsp:nvSpPr>
        <dsp:cNvPr id="0" name=""/>
        <dsp:cNvSpPr/>
      </dsp:nvSpPr>
      <dsp:spPr>
        <a:xfrm>
          <a:off x="3780" y="363329"/>
          <a:ext cx="2046727" cy="122803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 xml:space="preserve">Equal Groups </a:t>
          </a:r>
        </a:p>
      </dsp:txBody>
      <dsp:txXfrm>
        <a:off x="3780" y="363329"/>
        <a:ext cx="2046727" cy="1228036"/>
      </dsp:txXfrm>
    </dsp:sp>
    <dsp:sp modelId="{B7ACAE53-CEBD-644E-B4C6-7847594EAD94}">
      <dsp:nvSpPr>
        <dsp:cNvPr id="0" name=""/>
        <dsp:cNvSpPr/>
      </dsp:nvSpPr>
      <dsp:spPr>
        <a:xfrm>
          <a:off x="2255180" y="363329"/>
          <a:ext cx="2046727" cy="122803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dirty="0"/>
            <a:t>Comparison</a:t>
          </a:r>
        </a:p>
      </dsp:txBody>
      <dsp:txXfrm>
        <a:off x="2255180" y="363329"/>
        <a:ext cx="2046727" cy="1228036"/>
      </dsp:txXfrm>
    </dsp:sp>
    <dsp:sp modelId="{E870545D-51EC-D24A-BE12-6D830C7333A2}">
      <dsp:nvSpPr>
        <dsp:cNvPr id="0" name=""/>
        <dsp:cNvSpPr/>
      </dsp:nvSpPr>
      <dsp:spPr>
        <a:xfrm>
          <a:off x="4506579" y="363329"/>
          <a:ext cx="2046727" cy="122803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Array</a:t>
          </a:r>
        </a:p>
      </dsp:txBody>
      <dsp:txXfrm>
        <a:off x="4506579" y="363329"/>
        <a:ext cx="2046727" cy="1228036"/>
      </dsp:txXfrm>
    </dsp:sp>
    <dsp:sp modelId="{35342CF0-CDD2-8A40-B859-27B642824884}">
      <dsp:nvSpPr>
        <dsp:cNvPr id="0" name=""/>
        <dsp:cNvSpPr/>
      </dsp:nvSpPr>
      <dsp:spPr>
        <a:xfrm>
          <a:off x="6757979" y="363329"/>
          <a:ext cx="2046727" cy="122803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Area</a:t>
          </a:r>
        </a:p>
      </dsp:txBody>
      <dsp:txXfrm>
        <a:off x="6757979" y="363329"/>
        <a:ext cx="2046727" cy="1228036"/>
      </dsp:txXfrm>
    </dsp:sp>
    <dsp:sp modelId="{51EBE697-6CCD-C843-9150-A0364BF32240}">
      <dsp:nvSpPr>
        <dsp:cNvPr id="0" name=""/>
        <dsp:cNvSpPr/>
      </dsp:nvSpPr>
      <dsp:spPr>
        <a:xfrm>
          <a:off x="9009379" y="363329"/>
          <a:ext cx="2046727" cy="122803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ctr" defTabSz="1111250">
            <a:lnSpc>
              <a:spcPct val="90000"/>
            </a:lnSpc>
            <a:spcBef>
              <a:spcPct val="0"/>
            </a:spcBef>
            <a:spcAft>
              <a:spcPct val="35000"/>
            </a:spcAft>
            <a:buNone/>
          </a:pPr>
          <a:r>
            <a:rPr lang="en-US" sz="2500" kern="1200"/>
            <a:t>Combinations</a:t>
          </a:r>
        </a:p>
      </dsp:txBody>
      <dsp:txXfrm>
        <a:off x="9009379" y="363329"/>
        <a:ext cx="2046727" cy="1228036"/>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CB4DD-60EE-3142-8785-30BA2F188BE1}" type="datetimeFigureOut">
              <a:rPr lang="en-US" smtClean="0"/>
              <a:t>10/29/25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2089A-177E-394B-A286-CEFB8CB1D01F}" type="slidenum">
              <a:rPr lang="en-US" smtClean="0"/>
              <a:t>‹#›</a:t>
            </a:fld>
            <a:endParaRPr lang="en-US"/>
          </a:p>
        </p:txBody>
      </p:sp>
    </p:spTree>
    <p:extLst>
      <p:ext uri="{BB962C8B-B14F-4D97-AF65-F5344CB8AC3E}">
        <p14:creationId xmlns:p14="http://schemas.microsoft.com/office/powerpoint/2010/main" val="1060716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Sit in groups of 3-4. Today covers 2nd-3rd grade standards vertical articulation and multiplication/division problem structures. Reading: VdW Ch. 9 (old edition), pp. 203-211 on multiplicative problem structures.</a:t>
            </a:r>
          </a:p>
        </p:txBody>
      </p:sp>
      <p:sp>
        <p:nvSpPr>
          <p:cNvPr id="4" name="Slide Number Placeholder 3"/>
          <p:cNvSpPr>
            <a:spLocks noGrp="1"/>
          </p:cNvSpPr>
          <p:nvPr>
            <p:ph type="sldNum" sz="quarter" idx="5"/>
          </p:nvPr>
        </p:nvSpPr>
        <p:spPr/>
        <p:txBody>
          <a:bodyPr/>
          <a:lstStyle/>
          <a:p>
            <a:fld id="{D332089A-177E-394B-A286-CEFB8CB1D01F}" type="slidenum">
              <a:rPr lang="en-US" smtClean="0"/>
              <a:t>1</a:t>
            </a:fld>
            <a:endParaRPr lang="en-US"/>
          </a:p>
        </p:txBody>
      </p:sp>
    </p:spTree>
    <p:extLst>
      <p:ext uri="{BB962C8B-B14F-4D97-AF65-F5344CB8AC3E}">
        <p14:creationId xmlns:p14="http://schemas.microsoft.com/office/powerpoint/2010/main" val="31305781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PSTs 2 minutes to discuss. Ask for responses. Operation sense means knowing what an operation MEANS without making a specific computation. How would they state what multiplication means? How would they state what division means? A major reason for identifying problem structures: they give us different ways to make sense of what multiplication and division mean across situations.</a:t>
            </a:r>
          </a:p>
        </p:txBody>
      </p:sp>
      <p:sp>
        <p:nvSpPr>
          <p:cNvPr id="4" name="Slide Number Placeholder 3"/>
          <p:cNvSpPr>
            <a:spLocks noGrp="1"/>
          </p:cNvSpPr>
          <p:nvPr>
            <p:ph type="sldNum" sz="quarter" idx="5"/>
          </p:nvPr>
        </p:nvSpPr>
        <p:spPr/>
        <p:txBody>
          <a:bodyPr/>
          <a:lstStyle/>
          <a:p>
            <a:fld id="{BAC361D7-EEA1-4B68-95F1-94CD22C478E0}" type="slidenum">
              <a:rPr lang="en-US" smtClean="0"/>
              <a:t>6</a:t>
            </a:fld>
            <a:endParaRPr lang="en-US"/>
          </a:p>
        </p:txBody>
      </p:sp>
    </p:spTree>
    <p:extLst>
      <p:ext uri="{BB962C8B-B14F-4D97-AF65-F5344CB8AC3E}">
        <p14:creationId xmlns:p14="http://schemas.microsoft.com/office/powerpoint/2010/main" val="22709872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Five problem structures from VdW: Equal Groups, Comparison, Array, Area, and Combination. Students will sort problems by type in Part A.</a:t>
            </a:r>
          </a:p>
        </p:txBody>
      </p:sp>
      <p:sp>
        <p:nvSpPr>
          <p:cNvPr id="4" name="Slide Number Placeholder 3"/>
          <p:cNvSpPr>
            <a:spLocks noGrp="1"/>
          </p:cNvSpPr>
          <p:nvPr>
            <p:ph type="sldNum" sz="quarter" idx="10"/>
          </p:nvPr>
        </p:nvSpPr>
        <p:spPr/>
        <p:txBody>
          <a:bodyPr/>
          <a:lstStyle/>
          <a:p>
            <a:fld id="{0F8577B6-16C1-444A-BE6E-635ED757875E}" type="slidenum">
              <a:rPr lang="en-US" smtClean="0"/>
              <a:t>7</a:t>
            </a:fld>
            <a:endParaRPr lang="en-US"/>
          </a:p>
        </p:txBody>
      </p:sp>
    </p:spTree>
    <p:extLst>
      <p:ext uri="{BB962C8B-B14F-4D97-AF65-F5344CB8AC3E}">
        <p14:creationId xmlns:p14="http://schemas.microsoft.com/office/powerpoint/2010/main" val="3702412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OUT the problems. 10 minutes. Students make a representation for each problem and identify its structure. Row of soup cans = Array. Jill/Mark apples = Comparison. Mark's bags of apples = Equal Groups. Sam's outfits = Combination. Garden area = Area/Product of Measures. Highlight: in all five, the PRODUCT is the unknown. This is Part A.</a:t>
            </a:r>
          </a:p>
        </p:txBody>
      </p:sp>
      <p:sp>
        <p:nvSpPr>
          <p:cNvPr id="4" name="Slide Number Placeholder 3"/>
          <p:cNvSpPr>
            <a:spLocks noGrp="1"/>
          </p:cNvSpPr>
          <p:nvPr>
            <p:ph type="sldNum" sz="quarter" idx="10"/>
          </p:nvPr>
        </p:nvSpPr>
        <p:spPr/>
        <p:txBody>
          <a:bodyPr/>
          <a:lstStyle/>
          <a:p>
            <a:fld id="{0F8577B6-16C1-444A-BE6E-635ED757875E}" type="slidenum">
              <a:rPr lang="en-US" smtClean="0"/>
              <a:t>8</a:t>
            </a:fld>
            <a:endParaRPr lang="en-US"/>
          </a:p>
        </p:txBody>
      </p:sp>
    </p:spTree>
    <p:extLst>
      <p:ext uri="{BB962C8B-B14F-4D97-AF65-F5344CB8AC3E}">
        <p14:creationId xmlns:p14="http://schemas.microsoft.com/office/powerpoint/2010/main" val="269246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Problem structures give us different ways to make sense of what multiplication and division mean and what is common among all of the situations. They also help teachers deliberately vary the types of problems students encounter, rather than defaulting to equal groups every time.</a:t>
            </a:r>
            <a:endParaRPr lang="en-US" dirty="0"/>
          </a:p>
        </p:txBody>
      </p:sp>
      <p:sp>
        <p:nvSpPr>
          <p:cNvPr id="4" name="Slide Number Placeholder 3"/>
          <p:cNvSpPr>
            <a:spLocks noGrp="1"/>
          </p:cNvSpPr>
          <p:nvPr>
            <p:ph type="sldNum" sz="quarter" idx="5"/>
          </p:nvPr>
        </p:nvSpPr>
        <p:spPr/>
        <p:txBody>
          <a:bodyPr/>
          <a:lstStyle/>
          <a:p>
            <a:fld id="{BAC361D7-EEA1-4B68-95F1-94CD22C478E0}" type="slidenum">
              <a:rPr lang="en-US" smtClean="0"/>
              <a:t>9</a:t>
            </a:fld>
            <a:endParaRPr lang="en-US"/>
          </a:p>
        </p:txBody>
      </p:sp>
    </p:spTree>
    <p:extLst>
      <p:ext uri="{BB962C8B-B14F-4D97-AF65-F5344CB8AC3E}">
        <p14:creationId xmlns:p14="http://schemas.microsoft.com/office/powerpoint/2010/main" val="16941433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10-15 for students to work and discuss, 5-10 to debrief. Two pages of practice: Part B (identify unknowns and write equations) and Part C (model four problems). For Part B, stress that students write MULTIPLICATION equations, not division, following VdW convention (p. 175): __ x 5 = 30 rather than 30 / 5 = __.</a:t>
            </a:r>
          </a:p>
        </p:txBody>
      </p:sp>
      <p:sp>
        <p:nvSpPr>
          <p:cNvPr id="4" name="Slide Number Placeholder 3"/>
          <p:cNvSpPr>
            <a:spLocks noGrp="1"/>
          </p:cNvSpPr>
          <p:nvPr>
            <p:ph type="sldNum" sz="quarter" idx="10"/>
          </p:nvPr>
        </p:nvSpPr>
        <p:spPr/>
        <p:txBody>
          <a:bodyPr/>
          <a:lstStyle/>
          <a:p>
            <a:fld id="{0F8577B6-16C1-444A-BE6E-635ED757875E}" type="slidenum">
              <a:rPr lang="en-US" smtClean="0"/>
              <a:t>10</a:t>
            </a:fld>
            <a:endParaRPr lang="en-US"/>
          </a:p>
        </p:txBody>
      </p:sp>
    </p:spTree>
    <p:extLst>
      <p:ext uri="{BB962C8B-B14F-4D97-AF65-F5344CB8AC3E}">
        <p14:creationId xmlns:p14="http://schemas.microsoft.com/office/powerpoint/2010/main" val="35360459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DBCBD-471B-47EC-4BF0-8497728C8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FCE4A5-431F-2CB6-2BD6-EBF20BA8C4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489AD9-EBC0-299C-FA57-CA5D87F25F4E}"/>
              </a:ext>
            </a:extLst>
          </p:cNvPr>
          <p:cNvSpPr>
            <a:spLocks noGrp="1"/>
          </p:cNvSpPr>
          <p:nvPr>
            <p:ph type="body" idx="1"/>
          </p:nvPr>
        </p:nvSpPr>
        <p:spPr/>
        <p:txBody>
          <a:bodyPr/>
          <a:lstStyle/>
          <a:p>
            <a:r>
              <a:rPr lang="en-US" dirty="0"/>
              <a:t>Same content reinforced. Ask: If I have 24 stickers and want to give them equally to 4 friends, which type? (Sharing - I know 4 groups, don't know how many each gets.) If I have 24 stickers and want to put 6 on each page, which type? (Measurement - I know 6 per group, don't know how many pages.)</a:t>
            </a:r>
          </a:p>
        </p:txBody>
      </p:sp>
      <p:sp>
        <p:nvSpPr>
          <p:cNvPr id="4" name="Slide Number Placeholder 3">
            <a:extLst>
              <a:ext uri="{FF2B5EF4-FFF2-40B4-BE49-F238E27FC236}">
                <a16:creationId xmlns:a16="http://schemas.microsoft.com/office/drawing/2014/main" id="{5E2EAA65-DB15-FF22-4B37-86A1D49E904D}"/>
              </a:ext>
            </a:extLst>
          </p:cNvPr>
          <p:cNvSpPr>
            <a:spLocks noGrp="1"/>
          </p:cNvSpPr>
          <p:nvPr>
            <p:ph type="sldNum" sz="quarter" idx="10"/>
          </p:nvPr>
        </p:nvSpPr>
        <p:spPr/>
        <p:txBody>
          <a:bodyPr/>
          <a:lstStyle/>
          <a:p>
            <a:fld id="{0F8577B6-16C1-444A-BE6E-635ED757875E}" type="slidenum">
              <a:rPr lang="en-US" smtClean="0"/>
              <a:t>12</a:t>
            </a:fld>
            <a:endParaRPr lang="en-US"/>
          </a:p>
        </p:txBody>
      </p:sp>
    </p:spTree>
    <p:extLst>
      <p:ext uri="{BB962C8B-B14F-4D97-AF65-F5344CB8AC3E}">
        <p14:creationId xmlns:p14="http://schemas.microsoft.com/office/powerpoint/2010/main" val="30814094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KEY for Part B. Walk through each problem. Holly 30 marbles/5 per row: Array, measurement division, __ x 5 = 30. Holly 42 marbles/6 rows: Array, sharing division, 6 x __ = 42. John 28 cookies/4 packages: Equal groups, sharing, 4 x __ = 28. Nancy 48 books/6 per day: Equal groups, measurement, __ x 6 = 48. John 3x Jack/$12: Comparison, sharing, 3 x __ = 12. John $36/Jack $12: Comparison, measurement, __ x 12 = 36. Garden 20 sq ft/4 ft side: Area, unknown dimension, __ x 4 = 20.</a:t>
            </a:r>
          </a:p>
        </p:txBody>
      </p:sp>
      <p:sp>
        <p:nvSpPr>
          <p:cNvPr id="4" name="Slide Number Placeholder 3"/>
          <p:cNvSpPr>
            <a:spLocks noGrp="1"/>
          </p:cNvSpPr>
          <p:nvPr>
            <p:ph type="sldNum" sz="quarter" idx="10"/>
          </p:nvPr>
        </p:nvSpPr>
        <p:spPr/>
        <p:txBody>
          <a:bodyPr/>
          <a:lstStyle/>
          <a:p>
            <a:fld id="{0F8577B6-16C1-444A-BE6E-635ED757875E}" type="slidenum">
              <a:rPr lang="en-US" smtClean="0"/>
              <a:t>14</a:t>
            </a:fld>
            <a:endParaRPr lang="en-US"/>
          </a:p>
        </p:txBody>
      </p:sp>
    </p:spTree>
    <p:extLst>
      <p:ext uri="{BB962C8B-B14F-4D97-AF65-F5344CB8AC3E}">
        <p14:creationId xmlns:p14="http://schemas.microsoft.com/office/powerpoint/2010/main" val="27781942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Reminders: Week 10 Check-In due Friday 11:59pm. Lesson Plan 2 final and Lesson Plan 3 draft due Wednesday midnight. Lesson Analysis Lesson 1 due Sunday. Read VdW Ch. 9 sections on Canvas for next class.</a:t>
            </a:r>
          </a:p>
        </p:txBody>
      </p:sp>
      <p:sp>
        <p:nvSpPr>
          <p:cNvPr id="4" name="Slide Number Placeholder 3"/>
          <p:cNvSpPr>
            <a:spLocks noGrp="1"/>
          </p:cNvSpPr>
          <p:nvPr>
            <p:ph type="sldNum" sz="quarter" idx="5"/>
          </p:nvPr>
        </p:nvSpPr>
        <p:spPr/>
        <p:txBody>
          <a:bodyPr/>
          <a:lstStyle/>
          <a:p>
            <a:fld id="{D332089A-177E-394B-A286-CEFB8CB1D01F}" type="slidenum">
              <a:rPr lang="en-US" smtClean="0"/>
              <a:t>16</a:t>
            </a:fld>
            <a:endParaRPr lang="en-US"/>
          </a:p>
        </p:txBody>
      </p:sp>
    </p:spTree>
    <p:extLst>
      <p:ext uri="{BB962C8B-B14F-4D97-AF65-F5344CB8AC3E}">
        <p14:creationId xmlns:p14="http://schemas.microsoft.com/office/powerpoint/2010/main" val="24519055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showing VdW diagrams and representations for Area problem type. Use during debrief if needed to show students the standard models.</a:t>
            </a:r>
          </a:p>
        </p:txBody>
      </p:sp>
      <p:sp>
        <p:nvSpPr>
          <p:cNvPr id="4" name="Slide Number Placeholder 3"/>
          <p:cNvSpPr>
            <a:spLocks noGrp="1"/>
          </p:cNvSpPr>
          <p:nvPr>
            <p:ph type="sldNum" sz="quarter" idx="10"/>
          </p:nvPr>
        </p:nvSpPr>
        <p:spPr/>
        <p:txBody>
          <a:bodyPr/>
          <a:lstStyle/>
          <a:p>
            <a:fld id="{0F8577B6-16C1-444A-BE6E-635ED757875E}" type="slidenum">
              <a:rPr lang="en-US" smtClean="0"/>
              <a:t>17</a:t>
            </a:fld>
            <a:endParaRPr lang="en-US"/>
          </a:p>
        </p:txBody>
      </p:sp>
    </p:spTree>
    <p:extLst>
      <p:ext uri="{BB962C8B-B14F-4D97-AF65-F5344CB8AC3E}">
        <p14:creationId xmlns:p14="http://schemas.microsoft.com/office/powerpoint/2010/main" val="22675425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showing VdW diagrams and representations for Combination problem type. Use during debrief if needed to show students the standard models.</a:t>
            </a:r>
          </a:p>
        </p:txBody>
      </p:sp>
      <p:sp>
        <p:nvSpPr>
          <p:cNvPr id="4" name="Slide Number Placeholder 3"/>
          <p:cNvSpPr>
            <a:spLocks noGrp="1"/>
          </p:cNvSpPr>
          <p:nvPr>
            <p:ph type="sldNum" sz="quarter" idx="5"/>
          </p:nvPr>
        </p:nvSpPr>
        <p:spPr/>
        <p:txBody>
          <a:bodyPr/>
          <a:lstStyle/>
          <a:p>
            <a:fld id="{D332089A-177E-394B-A286-CEFB8CB1D01F}" type="slidenum">
              <a:rPr lang="en-US" smtClean="0"/>
              <a:t>18</a:t>
            </a:fld>
            <a:endParaRPr lang="en-US"/>
          </a:p>
        </p:txBody>
      </p:sp>
    </p:spTree>
    <p:extLst>
      <p:ext uri="{BB962C8B-B14F-4D97-AF65-F5344CB8AC3E}">
        <p14:creationId xmlns:p14="http://schemas.microsoft.com/office/powerpoint/2010/main" val="22222624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showing VdW diagrams and representations for Equal-Group problem type. Use during debrief if needed to show students the standard models.</a:t>
            </a:r>
          </a:p>
        </p:txBody>
      </p:sp>
      <p:sp>
        <p:nvSpPr>
          <p:cNvPr id="4" name="Slide Number Placeholder 3"/>
          <p:cNvSpPr>
            <a:spLocks noGrp="1"/>
          </p:cNvSpPr>
          <p:nvPr>
            <p:ph type="sldNum" sz="quarter" idx="5"/>
          </p:nvPr>
        </p:nvSpPr>
        <p:spPr/>
        <p:txBody>
          <a:bodyPr/>
          <a:lstStyle/>
          <a:p>
            <a:fld id="{D332089A-177E-394B-A286-CEFB8CB1D01F}" type="slidenum">
              <a:rPr lang="en-US" smtClean="0"/>
              <a:t>19</a:t>
            </a:fld>
            <a:endParaRPr lang="en-US"/>
          </a:p>
        </p:txBody>
      </p:sp>
    </p:spTree>
    <p:extLst>
      <p:ext uri="{BB962C8B-B14F-4D97-AF65-F5344CB8AC3E}">
        <p14:creationId xmlns:p14="http://schemas.microsoft.com/office/powerpoint/2010/main" val="15276349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showing VdW diagrams and representations for Comparison problem type. Use during debrief if needed to show students the standard models.</a:t>
            </a:r>
          </a:p>
        </p:txBody>
      </p:sp>
      <p:sp>
        <p:nvSpPr>
          <p:cNvPr id="4" name="Slide Number Placeholder 3"/>
          <p:cNvSpPr>
            <a:spLocks noGrp="1"/>
          </p:cNvSpPr>
          <p:nvPr>
            <p:ph type="sldNum" sz="quarter" idx="5"/>
          </p:nvPr>
        </p:nvSpPr>
        <p:spPr/>
        <p:txBody>
          <a:bodyPr/>
          <a:lstStyle/>
          <a:p>
            <a:fld id="{D332089A-177E-394B-A286-CEFB8CB1D01F}" type="slidenum">
              <a:rPr lang="en-US" smtClean="0"/>
              <a:t>20</a:t>
            </a:fld>
            <a:endParaRPr lang="en-US"/>
          </a:p>
        </p:txBody>
      </p:sp>
    </p:spTree>
    <p:extLst>
      <p:ext uri="{BB962C8B-B14F-4D97-AF65-F5344CB8AC3E}">
        <p14:creationId xmlns:p14="http://schemas.microsoft.com/office/powerpoint/2010/main" val="678210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slide showing VdW diagrams and representations for Array problem type. Use during debrief if needed to show students the standard models.</a:t>
            </a:r>
          </a:p>
        </p:txBody>
      </p:sp>
      <p:sp>
        <p:nvSpPr>
          <p:cNvPr id="4" name="Slide Number Placeholder 3"/>
          <p:cNvSpPr>
            <a:spLocks noGrp="1"/>
          </p:cNvSpPr>
          <p:nvPr>
            <p:ph type="sldNum" sz="quarter" idx="10"/>
          </p:nvPr>
        </p:nvSpPr>
        <p:spPr/>
        <p:txBody>
          <a:bodyPr/>
          <a:lstStyle/>
          <a:p>
            <a:fld id="{0F8577B6-16C1-444A-BE6E-635ED757875E}" type="slidenum">
              <a:rPr lang="en-US" smtClean="0"/>
              <a:t>21</a:t>
            </a:fld>
            <a:endParaRPr lang="en-US"/>
          </a:p>
        </p:txBody>
      </p:sp>
    </p:spTree>
    <p:extLst>
      <p:ext uri="{BB962C8B-B14F-4D97-AF65-F5344CB8AC3E}">
        <p14:creationId xmlns:p14="http://schemas.microsoft.com/office/powerpoint/2010/main" val="18624711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Properties of multiplication section. Time permitting only. Commutative property: arrays make it concrete (3 rows of 5 = 5 rows of 3). Associative property: grouping flexibility for mental math. Distributive property: foundational for multi-digit multiplication algorithms.</a:t>
            </a:r>
          </a:p>
        </p:txBody>
      </p:sp>
      <p:sp>
        <p:nvSpPr>
          <p:cNvPr id="4" name="Slide Number Placeholder 3"/>
          <p:cNvSpPr>
            <a:spLocks noGrp="1"/>
          </p:cNvSpPr>
          <p:nvPr>
            <p:ph type="sldNum" sz="quarter" idx="10"/>
          </p:nvPr>
        </p:nvSpPr>
        <p:spPr/>
        <p:txBody>
          <a:bodyPr/>
          <a:lstStyle/>
          <a:p>
            <a:fld id="{0F8577B6-16C1-444A-BE6E-635ED757875E}" type="slidenum">
              <a:rPr lang="en-US" smtClean="0"/>
              <a:t>23</a:t>
            </a:fld>
            <a:endParaRPr lang="en-US"/>
          </a:p>
        </p:txBody>
      </p:sp>
    </p:spTree>
    <p:extLst>
      <p:ext uri="{BB962C8B-B14F-4D97-AF65-F5344CB8AC3E}">
        <p14:creationId xmlns:p14="http://schemas.microsoft.com/office/powerpoint/2010/main" val="20711555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Properties of multiplication section. Time permitting only. Commutative property: arrays make it concrete (3 rows of 5 = 5 rows of 3). Associative property: grouping flexibility for mental math. Distributive property: foundational for multi-digit multiplication algorithms.</a:t>
            </a:r>
          </a:p>
        </p:txBody>
      </p:sp>
      <p:sp>
        <p:nvSpPr>
          <p:cNvPr id="4" name="Slide Number Placeholder 3"/>
          <p:cNvSpPr>
            <a:spLocks noGrp="1"/>
          </p:cNvSpPr>
          <p:nvPr>
            <p:ph type="sldNum" sz="quarter" idx="5"/>
          </p:nvPr>
        </p:nvSpPr>
        <p:spPr/>
        <p:txBody>
          <a:bodyPr/>
          <a:lstStyle/>
          <a:p>
            <a:fld id="{D332089A-177E-394B-A286-CEFB8CB1D01F}" type="slidenum">
              <a:rPr lang="en-US" smtClean="0"/>
              <a:t>24</a:t>
            </a:fld>
            <a:endParaRPr lang="en-US"/>
          </a:p>
        </p:txBody>
      </p:sp>
    </p:spTree>
    <p:extLst>
      <p:ext uri="{BB962C8B-B14F-4D97-AF65-F5344CB8AC3E}">
        <p14:creationId xmlns:p14="http://schemas.microsoft.com/office/powerpoint/2010/main" val="118857289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Properties of multiplication section. Time permitting only. Commutative property: arrays make it concrete (3 rows of 5 = 5 rows of 3). Associative property: grouping flexibility for mental math. Distributive property: foundational for multi-digit multiplication algorithms.</a:t>
            </a:r>
          </a:p>
        </p:txBody>
      </p:sp>
      <p:sp>
        <p:nvSpPr>
          <p:cNvPr id="4" name="Slide Number Placeholder 3"/>
          <p:cNvSpPr>
            <a:spLocks noGrp="1"/>
          </p:cNvSpPr>
          <p:nvPr>
            <p:ph type="sldNum" sz="quarter" idx="5"/>
          </p:nvPr>
        </p:nvSpPr>
        <p:spPr/>
        <p:txBody>
          <a:bodyPr/>
          <a:lstStyle/>
          <a:p>
            <a:fld id="{D332089A-177E-394B-A286-CEFB8CB1D01F}" type="slidenum">
              <a:rPr lang="en-US" smtClean="0"/>
              <a:t>26</a:t>
            </a:fld>
            <a:endParaRPr lang="en-US"/>
          </a:p>
        </p:txBody>
      </p:sp>
    </p:spTree>
    <p:extLst>
      <p:ext uri="{BB962C8B-B14F-4D97-AF65-F5344CB8AC3E}">
        <p14:creationId xmlns:p14="http://schemas.microsoft.com/office/powerpoint/2010/main" val="42341082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solving section. Time permitting only. VdW's two strategies: (1) Think about the answer before solving - what's happening, extra info, estimate. (2) Work a simpler problem - substitute small numbers, model, write equation, substitute back. Caution against key word strategies.</a:t>
            </a:r>
          </a:p>
        </p:txBody>
      </p:sp>
      <p:sp>
        <p:nvSpPr>
          <p:cNvPr id="4" name="Slide Number Placeholder 3"/>
          <p:cNvSpPr>
            <a:spLocks noGrp="1"/>
          </p:cNvSpPr>
          <p:nvPr>
            <p:ph type="sldNum" sz="quarter" idx="5"/>
          </p:nvPr>
        </p:nvSpPr>
        <p:spPr/>
        <p:txBody>
          <a:bodyPr/>
          <a:lstStyle/>
          <a:p>
            <a:fld id="{D332089A-177E-394B-A286-CEFB8CB1D01F}" type="slidenum">
              <a:rPr lang="en-US" smtClean="0"/>
              <a:t>31</a:t>
            </a:fld>
            <a:endParaRPr lang="en-US"/>
          </a:p>
        </p:txBody>
      </p:sp>
    </p:spTree>
    <p:extLst>
      <p:ext uri="{BB962C8B-B14F-4D97-AF65-F5344CB8AC3E}">
        <p14:creationId xmlns:p14="http://schemas.microsoft.com/office/powerpoint/2010/main" val="2439271537"/>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8187-F0F1-1C94-6403-3560BD8B1E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857E1D-F1E6-1798-C522-6E3E364896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3E9B7D-C9A1-0C78-6783-BB5B224C1D1E}"/>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5" name="Footer Placeholder 4">
            <a:extLst>
              <a:ext uri="{FF2B5EF4-FFF2-40B4-BE49-F238E27FC236}">
                <a16:creationId xmlns:a16="http://schemas.microsoft.com/office/drawing/2014/main" id="{DFB3DC3A-2A15-2D0B-F92F-8E509170B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6BB33-556E-6A30-D3BB-C34CBD834605}"/>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1809053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2DDF4-8844-5434-17B1-D38A651018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A7A236-F12B-1A07-CAE0-A22D3E540A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69E3E0-408D-934F-AAC8-B95DFF174FE8}"/>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5" name="Footer Placeholder 4">
            <a:extLst>
              <a:ext uri="{FF2B5EF4-FFF2-40B4-BE49-F238E27FC236}">
                <a16:creationId xmlns:a16="http://schemas.microsoft.com/office/drawing/2014/main" id="{C997E28B-9C04-4079-9E14-823184BFA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90F67-770C-F7CF-28A4-54B0547142B8}"/>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2531340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49FE-4A87-DF01-F4E8-B882C8E76E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464E25-991B-25DD-45C5-61AC213E8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9E25FE-5529-0D3A-6D27-6224413C9BF3}"/>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5" name="Footer Placeholder 4">
            <a:extLst>
              <a:ext uri="{FF2B5EF4-FFF2-40B4-BE49-F238E27FC236}">
                <a16:creationId xmlns:a16="http://schemas.microsoft.com/office/drawing/2014/main" id="{FC5B117C-1223-73C0-8D78-36CC716D8C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C437C-1FEB-EBB4-A155-023DF488DC38}"/>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2230103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241A-1629-A9D7-6B09-7032B9B505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4C398-4D87-BAA9-35C9-C94EA79B68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ED6438-7FD6-78C4-FA40-2E651E309F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5398B6-9964-07B2-E866-9EE1225F65DE}"/>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6" name="Footer Placeholder 5">
            <a:extLst>
              <a:ext uri="{FF2B5EF4-FFF2-40B4-BE49-F238E27FC236}">
                <a16:creationId xmlns:a16="http://schemas.microsoft.com/office/drawing/2014/main" id="{3FD900F8-7A28-0F15-0463-67018AF672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96ECDB-0E76-EB02-D3B1-DCAF37971BBB}"/>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3537242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ACEA-E79E-AE0A-B105-3BB1B89B51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59A346-93E5-A9D8-51A0-E2950586D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686828-A7B1-5F98-95B8-B55AF20AE1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8288DF-243F-01F5-6D87-E12593B880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09972D-D00C-4477-A934-64B88B6B28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FABA4D-49CC-1A5F-3B43-E308CD5B3A4E}"/>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8" name="Footer Placeholder 7">
            <a:extLst>
              <a:ext uri="{FF2B5EF4-FFF2-40B4-BE49-F238E27FC236}">
                <a16:creationId xmlns:a16="http://schemas.microsoft.com/office/drawing/2014/main" id="{B12612D2-C398-CBFC-159E-178B33DED5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0BC543-919B-4B8A-F594-580572A66D25}"/>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3962506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848A-6868-3EA2-61C7-19543FFDB8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A0479B-5D0A-A575-105E-263CB0ED768E}"/>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4" name="Footer Placeholder 3">
            <a:extLst>
              <a:ext uri="{FF2B5EF4-FFF2-40B4-BE49-F238E27FC236}">
                <a16:creationId xmlns:a16="http://schemas.microsoft.com/office/drawing/2014/main" id="{6DCC0708-E414-93EB-CB96-C7087A18DE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FFAD53-FD93-393B-70D8-850EA33AA4E9}"/>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895595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6EB154-4375-0FC0-1F4B-9E3224368F58}"/>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3" name="Footer Placeholder 2">
            <a:extLst>
              <a:ext uri="{FF2B5EF4-FFF2-40B4-BE49-F238E27FC236}">
                <a16:creationId xmlns:a16="http://schemas.microsoft.com/office/drawing/2014/main" id="{00C8DFB5-11D0-82AB-4D34-9C13E1B380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9E09DC-6544-8547-29D4-882B33CC716C}"/>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756079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9A8B-FAD7-A931-BD56-E938618A5E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22A576-5112-86A3-2EE0-FE4EF45C01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F4CA31-B624-E0C1-B90C-D9ED94C321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60277B-DA8B-7CA1-34BA-856D9159438C}"/>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6" name="Footer Placeholder 5">
            <a:extLst>
              <a:ext uri="{FF2B5EF4-FFF2-40B4-BE49-F238E27FC236}">
                <a16:creationId xmlns:a16="http://schemas.microsoft.com/office/drawing/2014/main" id="{1AF5A14E-8AA7-D503-EFCE-B739398213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3C2D0-62E9-B7AD-78C5-F1729AFE2962}"/>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2697213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BD569-EC0B-1ABE-A740-7BBC30C4A8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B3835-45F4-54F3-873E-23160967A2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1E431-2A08-3004-0AE1-4C5C86A57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999F44-FB0D-8EAB-EC38-A334DC07FB9C}"/>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6" name="Footer Placeholder 5">
            <a:extLst>
              <a:ext uri="{FF2B5EF4-FFF2-40B4-BE49-F238E27FC236}">
                <a16:creationId xmlns:a16="http://schemas.microsoft.com/office/drawing/2014/main" id="{76FC4A70-D597-9BED-C361-5E3FFC6E45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25C6E-52AC-F3DB-4E97-56571FF5172C}"/>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1557419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F0531-7463-BE7B-1BD9-4EF819ADCF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B92869-E6BD-C011-646E-69459C0E7D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8A440-CE70-146C-459A-16C1E71212E6}"/>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5" name="Footer Placeholder 4">
            <a:extLst>
              <a:ext uri="{FF2B5EF4-FFF2-40B4-BE49-F238E27FC236}">
                <a16:creationId xmlns:a16="http://schemas.microsoft.com/office/drawing/2014/main" id="{FBE08D7B-8B89-14D2-1ADF-745BA3E071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CC29D-C55C-5B16-DE28-26D2626CA047}"/>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728783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3D225D-05D7-2886-4BBA-438870BCAE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6A5755-45BA-CF26-6DE6-719383A767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5734B3-53A7-8CCF-C8CA-7E6D14BCC312}"/>
              </a:ext>
            </a:extLst>
          </p:cNvPr>
          <p:cNvSpPr>
            <a:spLocks noGrp="1"/>
          </p:cNvSpPr>
          <p:nvPr>
            <p:ph type="dt" sz="half" idx="10"/>
          </p:nvPr>
        </p:nvSpPr>
        <p:spPr/>
        <p:txBody>
          <a:bodyPr/>
          <a:lstStyle/>
          <a:p>
            <a:fld id="{22AF1F55-D339-F24F-8361-C4A13C7DDCBF}" type="datetimeFigureOut">
              <a:rPr lang="en-US" smtClean="0"/>
              <a:t>10/29/25</a:t>
            </a:fld>
            <a:endParaRPr lang="en-US"/>
          </a:p>
        </p:txBody>
      </p:sp>
      <p:sp>
        <p:nvSpPr>
          <p:cNvPr id="5" name="Footer Placeholder 4">
            <a:extLst>
              <a:ext uri="{FF2B5EF4-FFF2-40B4-BE49-F238E27FC236}">
                <a16:creationId xmlns:a16="http://schemas.microsoft.com/office/drawing/2014/main" id="{8995C959-40D3-4FFE-23E7-259CA869A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B6EFC-FDCB-5AAD-B9C7-8FFC42507E3E}"/>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3323262926"/>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4CD0CF-A4DF-AADC-A415-151348FC43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552C1B-225D-3D6F-FA66-5DCB93DCDD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43185B-4F71-003B-B883-C81F6B5C6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AF1F55-D339-F24F-8361-C4A13C7DDCBF}" type="datetimeFigureOut">
              <a:rPr lang="en-US" smtClean="0"/>
              <a:t>10/29/25</a:t>
            </a:fld>
            <a:endParaRPr lang="en-US"/>
          </a:p>
        </p:txBody>
      </p:sp>
      <p:sp>
        <p:nvSpPr>
          <p:cNvPr id="5" name="Footer Placeholder 4">
            <a:extLst>
              <a:ext uri="{FF2B5EF4-FFF2-40B4-BE49-F238E27FC236}">
                <a16:creationId xmlns:a16="http://schemas.microsoft.com/office/drawing/2014/main" id="{D4D84493-CE58-3C02-B233-AECEBEF4DD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4B5870D-7087-DBA1-4B84-BB723E6CF7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B9B15-842A-F343-B518-910DCCA2FC36}" type="slidenum">
              <a:rPr lang="en-US" smtClean="0"/>
              <a:t>‹#›</a:t>
            </a:fld>
            <a:endParaRPr lang="en-US"/>
          </a:p>
        </p:txBody>
      </p:sp>
    </p:spTree>
    <p:extLst>
      <p:ext uri="{BB962C8B-B14F-4D97-AF65-F5344CB8AC3E}">
        <p14:creationId xmlns:p14="http://schemas.microsoft.com/office/powerpoint/2010/main" val="1342010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7.xml.rels><?xml version="1.0" encoding="UTF-8"?><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14.xml.rels><?xml version="1.0" encoding="UTF-8"?><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3.xml.rels><?xml version="1.0" encoding="UTF-8"?><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4.xml.rels><?xml version="1.0" encoding="UTF-8"?><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5.xml.rels><?xml version="1.0" encoding="UTF-8"?><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6.xml.rels><?xml version="1.0" encoding="UTF-8"?><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7.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8.xml.rels><?xml version="1.0" encoding="UTF-8"?><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1.xml.rels><?xml version="1.0" encoding="UTF-8"?><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3"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7" name="Arc 26">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E2A70E0-7306-A048-A7AC-23E3B41C3DB9}"/>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r"/>
            <a:r>
              <a:rPr lang="en-US" kern="1200">
                <a:solidFill>
                  <a:schemeClr val="tx1"/>
                </a:solidFill>
                <a:latin typeface="+mj-lt"/>
                <a:ea typeface="+mj-ea"/>
                <a:cs typeface="+mj-cs"/>
              </a:rPr>
              <a:t>Multiplication and Division Operation Sense</a:t>
            </a:r>
          </a:p>
        </p:txBody>
      </p:sp>
      <p:sp>
        <p:nvSpPr>
          <p:cNvPr id="3" name="Text Placeholder 2">
            <a:extLst>
              <a:ext uri="{FF2B5EF4-FFF2-40B4-BE49-F238E27FC236}">
                <a16:creationId xmlns:a16="http://schemas.microsoft.com/office/drawing/2014/main" id="{6231E7F2-EF8E-024C-96DE-3D369829119C}"/>
              </a:ext>
            </a:extLst>
          </p:cNvPr>
          <p:cNvSpPr>
            <a:spLocks noGrp="1"/>
          </p:cNvSpPr>
          <p:nvPr>
            <p:ph type="body" idx="1"/>
          </p:nvPr>
        </p:nvSpPr>
        <p:spPr>
          <a:xfrm>
            <a:off x="4038600" y="4782320"/>
            <a:ext cx="7644627" cy="1855484"/>
          </a:xfrm>
        </p:spPr>
        <p:txBody>
          <a:bodyPr vert="horz" lIns="91440" tIns="45720" rIns="91440" bIns="45720" rtlCol="0">
            <a:noAutofit/>
          </a:bodyPr>
          <a:lstStyle/>
          <a:p>
            <a:pPr algn="r"/>
            <a:r>
              <a:rPr lang="en-US" sz="2600" kern="1200" dirty="0">
                <a:solidFill>
                  <a:schemeClr val="tx1"/>
                </a:solidFill>
                <a:latin typeface="+mn-lt"/>
                <a:ea typeface="+mn-ea"/>
                <a:cs typeface="+mn-cs"/>
              </a:rPr>
              <a:t>Sit in groups of 3-4</a:t>
            </a:r>
          </a:p>
          <a:p>
            <a:pPr algn="r"/>
            <a:endParaRPr lang="en-US" sz="2600" kern="1200" dirty="0">
              <a:solidFill>
                <a:schemeClr val="tx1"/>
              </a:solidFill>
              <a:latin typeface="+mn-lt"/>
              <a:ea typeface="+mn-ea"/>
              <a:cs typeface="+mn-cs"/>
            </a:endParaRPr>
          </a:p>
          <a:p>
            <a:pPr algn="r"/>
            <a:r>
              <a:rPr lang="en-US" sz="2600" kern="1200" dirty="0">
                <a:solidFill>
                  <a:schemeClr val="tx1"/>
                </a:solidFill>
                <a:latin typeface="+mn-lt"/>
                <a:ea typeface="+mn-ea"/>
                <a:cs typeface="+mn-cs"/>
              </a:rPr>
              <a:t xml:space="preserve">Reading today: Van de </a:t>
            </a:r>
            <a:r>
              <a:rPr lang="en-US" sz="2600" kern="1200" dirty="0" err="1">
                <a:solidFill>
                  <a:schemeClr val="tx1"/>
                </a:solidFill>
                <a:latin typeface="+mn-lt"/>
                <a:ea typeface="+mn-ea"/>
                <a:cs typeface="+mn-cs"/>
              </a:rPr>
              <a:t>Walle</a:t>
            </a:r>
            <a:r>
              <a:rPr lang="en-US" sz="2600" kern="1200" dirty="0">
                <a:solidFill>
                  <a:schemeClr val="tx1"/>
                </a:solidFill>
                <a:latin typeface="+mn-lt"/>
                <a:ea typeface="+mn-ea"/>
                <a:cs typeface="+mn-cs"/>
              </a:rPr>
              <a:t xml:space="preserve">, et al (Ch. 8, </a:t>
            </a:r>
            <a:r>
              <a:rPr lang="en-US" sz="2600" dirty="0">
                <a:solidFill>
                  <a:schemeClr val="tx1"/>
                </a:solidFill>
              </a:rPr>
              <a:t>part 2</a:t>
            </a:r>
            <a:r>
              <a:rPr lang="en-US" sz="2600" kern="1200" dirty="0">
                <a:solidFill>
                  <a:schemeClr val="tx1"/>
                </a:solidFill>
                <a:latin typeface="+mn-lt"/>
                <a:ea typeface="+mn-ea"/>
                <a:cs typeface="+mn-cs"/>
              </a:rPr>
              <a:t>)</a:t>
            </a:r>
          </a:p>
        </p:txBody>
      </p:sp>
      <p:sp>
        <p:nvSpPr>
          <p:cNvPr id="4" name="Date Placeholder 3">
            <a:extLst>
              <a:ext uri="{FF2B5EF4-FFF2-40B4-BE49-F238E27FC236}">
                <a16:creationId xmlns:a16="http://schemas.microsoft.com/office/drawing/2014/main" id="{A4BB77A6-7F67-DF4C-8B8F-01AD8FF4010B}"/>
              </a:ext>
            </a:extLst>
          </p:cNvPr>
          <p:cNvSpPr>
            <a:spLocks noGrp="1"/>
          </p:cNvSpPr>
          <p:nvPr>
            <p:ph type="dt" sz="half" idx="10"/>
          </p:nvPr>
        </p:nvSpPr>
        <p:spPr>
          <a:xfrm>
            <a:off x="838200" y="6356350"/>
            <a:ext cx="1858617" cy="365125"/>
          </a:xfrm>
        </p:spPr>
        <p:txBody>
          <a:bodyPr vert="horz" lIns="91440" tIns="45720" rIns="91440" bIns="45720" rtlCol="0" anchor="ctr">
            <a:normAutofit/>
          </a:bodyPr>
          <a:lstStyle/>
          <a:p>
            <a:pPr>
              <a:spcAft>
                <a:spcPts val="600"/>
              </a:spcAft>
              <a:defRPr/>
            </a:pPr>
            <a:endParaRPr lang="en-US">
              <a:solidFill>
                <a:srgbClr val="FFFFFF"/>
              </a:solidFill>
            </a:endParaRPr>
          </a:p>
          <a:p>
            <a:pPr>
              <a:spcAft>
                <a:spcPts val="600"/>
              </a:spcAft>
              <a:defRPr/>
            </a:pPr>
            <a:endParaRPr lang="en-US">
              <a:solidFill>
                <a:srgbClr val="FFFFFF"/>
              </a:solidFill>
            </a:endParaRPr>
          </a:p>
        </p:txBody>
      </p:sp>
    </p:spTree>
    <p:extLst>
      <p:ext uri="{BB962C8B-B14F-4D97-AF65-F5344CB8AC3E}">
        <p14:creationId xmlns:p14="http://schemas.microsoft.com/office/powerpoint/2010/main" val="383369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A0A1E-34A1-C72B-D3E9-5C6C438F9F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1B6D48-3DA4-AA97-1B25-EDB091659DBA}"/>
              </a:ext>
            </a:extLst>
          </p:cNvPr>
          <p:cNvSpPr>
            <a:spLocks noGrp="1"/>
          </p:cNvSpPr>
          <p:nvPr>
            <p:ph idx="1"/>
          </p:nvPr>
        </p:nvSpPr>
        <p:spPr>
          <a:xfrm>
            <a:off x="838200" y="1728216"/>
            <a:ext cx="10168128" cy="5129784"/>
          </a:xfrm>
        </p:spPr>
        <p:txBody>
          <a:bodyPr>
            <a:noAutofit/>
          </a:bodyPr>
          <a:lstStyle/>
          <a:p>
            <a:pPr>
              <a:lnSpc>
                <a:spcPct val="100000"/>
              </a:lnSpc>
            </a:pPr>
            <a:r>
              <a:rPr lang="en-US" sz="3000" dirty="0"/>
              <a:t>Quick follow ups</a:t>
            </a:r>
          </a:p>
          <a:p>
            <a:pPr>
              <a:lnSpc>
                <a:spcPct val="100000"/>
              </a:lnSpc>
            </a:pPr>
            <a:r>
              <a:rPr lang="en-US" sz="3000" dirty="0"/>
              <a:t>Vertical Articulation of Standards, 2</a:t>
            </a:r>
            <a:r>
              <a:rPr lang="en-US" sz="3000" baseline="30000" dirty="0"/>
              <a:t>nd</a:t>
            </a:r>
            <a:r>
              <a:rPr lang="en-US" sz="3000" dirty="0"/>
              <a:t xml:space="preserve"> and 3</a:t>
            </a:r>
            <a:r>
              <a:rPr lang="en-US" sz="3000" baseline="30000" dirty="0"/>
              <a:t>rd</a:t>
            </a:r>
            <a:r>
              <a:rPr lang="en-US" sz="3000" dirty="0"/>
              <a:t xml:space="preserve"> grade</a:t>
            </a:r>
          </a:p>
          <a:p>
            <a:pPr>
              <a:lnSpc>
                <a:spcPct val="100000"/>
              </a:lnSpc>
            </a:pPr>
            <a:r>
              <a:rPr lang="en-US" sz="3000" dirty="0"/>
              <a:t>Multiplication &amp; Division Problem Structures, first pass</a:t>
            </a:r>
          </a:p>
          <a:p>
            <a:pPr>
              <a:lnSpc>
                <a:spcPct val="100000"/>
              </a:lnSpc>
            </a:pPr>
            <a:r>
              <a:rPr lang="en-US" sz="3000" dirty="0"/>
              <a:t>Multiplication &amp; Division Problem Structures, second pass</a:t>
            </a:r>
          </a:p>
          <a:p>
            <a:pPr>
              <a:lnSpc>
                <a:spcPct val="100000"/>
              </a:lnSpc>
            </a:pPr>
            <a:endParaRPr lang="en-US" sz="3000" dirty="0"/>
          </a:p>
          <a:p>
            <a:pPr>
              <a:lnSpc>
                <a:spcPct val="100000"/>
              </a:lnSpc>
            </a:pPr>
            <a:endParaRPr lang="en-US" sz="3000" dirty="0"/>
          </a:p>
        </p:txBody>
      </p:sp>
      <p:sp>
        <p:nvSpPr>
          <p:cNvPr id="9" name="Title 1">
            <a:extLst>
              <a:ext uri="{FF2B5EF4-FFF2-40B4-BE49-F238E27FC236}">
                <a16:creationId xmlns:a16="http://schemas.microsoft.com/office/drawing/2014/main" id="{1C7680D2-E395-D907-A7A0-5FFB522F344D}"/>
              </a:ext>
            </a:extLst>
          </p:cNvPr>
          <p:cNvSpPr>
            <a:spLocks noGrp="1"/>
          </p:cNvSpPr>
          <p:nvPr>
            <p:ph type="title"/>
          </p:nvPr>
        </p:nvSpPr>
        <p:spPr>
          <a:xfrm>
            <a:off x="838200" y="548640"/>
            <a:ext cx="10168128" cy="1179576"/>
          </a:xfrm>
        </p:spPr>
        <p:txBody>
          <a:bodyPr>
            <a:normAutofit/>
          </a:bodyPr>
          <a:lstStyle/>
          <a:p>
            <a:r>
              <a:rPr lang="en-US" dirty="0"/>
              <a:t>Agenda</a:t>
            </a:r>
          </a:p>
        </p:txBody>
      </p:sp>
    </p:spTree>
    <p:extLst>
      <p:ext uri="{BB962C8B-B14F-4D97-AF65-F5344CB8AC3E}">
        <p14:creationId xmlns:p14="http://schemas.microsoft.com/office/powerpoint/2010/main" val="39304057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A8E543-D652-29E3-36D9-16D75C34A700}"/>
              </a:ext>
            </a:extLst>
          </p:cNvPr>
          <p:cNvSpPr>
            <a:spLocks noGrp="1"/>
          </p:cNvSpPr>
          <p:nvPr>
            <p:ph type="title"/>
          </p:nvPr>
        </p:nvSpPr>
        <p:spPr/>
        <p:txBody>
          <a:bodyPr/>
          <a:lstStyle/>
          <a:p>
            <a:r>
              <a:rPr lang="en-US" dirty="0"/>
              <a:t>Semantic vs Calculation Equations &amp; Process Standards</a:t>
            </a:r>
          </a:p>
        </p:txBody>
      </p:sp>
      <p:sp>
        <p:nvSpPr>
          <p:cNvPr id="3" name="Content Placeholder 2">
            <a:extLst>
              <a:ext uri="{FF2B5EF4-FFF2-40B4-BE49-F238E27FC236}">
                <a16:creationId xmlns:a16="http://schemas.microsoft.com/office/drawing/2014/main" id="{2C4021F2-9E5E-4953-A8EB-E77B35A8BC64}"/>
              </a:ext>
            </a:extLst>
          </p:cNvPr>
          <p:cNvSpPr>
            <a:spLocks noGrp="1"/>
          </p:cNvSpPr>
          <p:nvPr>
            <p:ph idx="1"/>
          </p:nvPr>
        </p:nvSpPr>
        <p:spPr/>
        <p:txBody>
          <a:bodyPr/>
          <a:lstStyle/>
          <a:p>
            <a:r>
              <a:rPr lang="en-US" dirty="0"/>
              <a:t>Lexie, Allie, and Olivia have some stickers. They buy 25 more stickers. Now they have 40 stickers. How many stickers did they start with?</a:t>
            </a:r>
          </a:p>
          <a:p>
            <a:endParaRPr lang="en-US" dirty="0"/>
          </a:p>
          <a:p>
            <a:r>
              <a:rPr lang="en-US" dirty="0"/>
              <a:t>Semantic equation: __ + 25 = 40 (means follows the story)</a:t>
            </a:r>
          </a:p>
          <a:p>
            <a:endParaRPr lang="en-US" dirty="0"/>
          </a:p>
          <a:p>
            <a:r>
              <a:rPr lang="en-US" dirty="0"/>
              <a:t>Calculation equation: 40 – 25 = __ (means can be calculated this way)</a:t>
            </a:r>
          </a:p>
          <a:p>
            <a:endParaRPr lang="en-US" dirty="0"/>
          </a:p>
          <a:p>
            <a:r>
              <a:rPr lang="en-US" dirty="0"/>
              <a:t xml:space="preserve">Post Process Standards </a:t>
            </a:r>
          </a:p>
        </p:txBody>
      </p:sp>
    </p:spTree>
    <p:extLst>
      <p:ext uri="{BB962C8B-B14F-4D97-AF65-F5344CB8AC3E}">
        <p14:creationId xmlns:p14="http://schemas.microsoft.com/office/powerpoint/2010/main" val="1593040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80B4DE-CE9C-4441-A432-CFA0BD10147D}"/>
              </a:ext>
            </a:extLst>
          </p:cNvPr>
          <p:cNvSpPr>
            <a:spLocks noGrp="1"/>
          </p:cNvSpPr>
          <p:nvPr>
            <p:ph idx="1"/>
          </p:nvPr>
        </p:nvSpPr>
        <p:spPr>
          <a:xfrm>
            <a:off x="838200" y="1728216"/>
            <a:ext cx="10168128" cy="5129784"/>
          </a:xfrm>
        </p:spPr>
        <p:txBody>
          <a:bodyPr>
            <a:noAutofit/>
          </a:bodyPr>
          <a:lstStyle/>
          <a:p>
            <a:pPr marL="0" indent="0">
              <a:lnSpc>
                <a:spcPct val="100000"/>
              </a:lnSpc>
              <a:buNone/>
            </a:pPr>
            <a:r>
              <a:rPr lang="en-US" sz="3000" dirty="0"/>
              <a:t xml:space="preserve">Round 1: Number Sense in grades 2-3 </a:t>
            </a:r>
          </a:p>
          <a:p>
            <a:pPr>
              <a:lnSpc>
                <a:spcPct val="100000"/>
              </a:lnSpc>
            </a:pPr>
            <a:r>
              <a:rPr lang="en-US" sz="3000" dirty="0"/>
              <a:t xml:space="preserve">In your group, read the </a:t>
            </a:r>
            <a:r>
              <a:rPr lang="en-US" sz="3000" u="sng" dirty="0"/>
              <a:t>Number Sense</a:t>
            </a:r>
            <a:r>
              <a:rPr lang="en-US" sz="3000" dirty="0"/>
              <a:t xml:space="preserve"> strand of the grade 2-3 vertical articulation documents (Canvas).</a:t>
            </a:r>
          </a:p>
          <a:p>
            <a:pPr>
              <a:lnSpc>
                <a:spcPct val="100000"/>
              </a:lnSpc>
            </a:pPr>
            <a:r>
              <a:rPr lang="en-US" sz="3000" dirty="0"/>
              <a:t xml:space="preserve">On the Unit 3 Packet, p. 15: </a:t>
            </a:r>
          </a:p>
          <a:p>
            <a:pPr lvl="1">
              <a:lnSpc>
                <a:spcPct val="100000"/>
              </a:lnSpc>
            </a:pPr>
            <a:r>
              <a:rPr lang="en-US" sz="3000" dirty="0"/>
              <a:t xml:space="preserve">Identify main ideas across grades 2-3. </a:t>
            </a:r>
          </a:p>
          <a:p>
            <a:pPr lvl="1">
              <a:lnSpc>
                <a:spcPct val="100000"/>
              </a:lnSpc>
            </a:pPr>
            <a:r>
              <a:rPr lang="en-US" sz="3000" dirty="0"/>
              <a:t>What is NEW in 3</a:t>
            </a:r>
            <a:r>
              <a:rPr lang="en-US" sz="3000" baseline="30000" dirty="0"/>
              <a:t>rd</a:t>
            </a:r>
            <a:r>
              <a:rPr lang="en-US" sz="3000" dirty="0"/>
              <a:t xml:space="preserve"> grade? What is gone from 2</a:t>
            </a:r>
            <a:r>
              <a:rPr lang="en-US" sz="3000" baseline="30000" dirty="0"/>
              <a:t>nd</a:t>
            </a:r>
            <a:r>
              <a:rPr lang="en-US" sz="3000" dirty="0"/>
              <a:t xml:space="preserve"> grade? What skills are assumed to have been learned in 2</a:t>
            </a:r>
            <a:r>
              <a:rPr lang="en-US" sz="3000" baseline="30000" dirty="0"/>
              <a:t>nd</a:t>
            </a:r>
            <a:r>
              <a:rPr lang="en-US" sz="3000" dirty="0"/>
              <a:t xml:space="preserve"> grade?</a:t>
            </a:r>
          </a:p>
          <a:p>
            <a:pPr lvl="1">
              <a:lnSpc>
                <a:spcPct val="100000"/>
              </a:lnSpc>
            </a:pPr>
            <a:r>
              <a:rPr lang="en-US" sz="3000" dirty="0"/>
              <a:t xml:space="preserve">Note standards that you do </a:t>
            </a:r>
            <a:r>
              <a:rPr lang="en-US" sz="3000" i="1" dirty="0"/>
              <a:t>not</a:t>
            </a:r>
            <a:r>
              <a:rPr lang="en-US" sz="3000" dirty="0"/>
              <a:t xml:space="preserve"> understand.</a:t>
            </a:r>
          </a:p>
        </p:txBody>
      </p:sp>
      <p:sp>
        <p:nvSpPr>
          <p:cNvPr id="9" name="Title 1">
            <a:extLst>
              <a:ext uri="{FF2B5EF4-FFF2-40B4-BE49-F238E27FC236}">
                <a16:creationId xmlns:a16="http://schemas.microsoft.com/office/drawing/2014/main" id="{4A7E4423-6431-FE14-2F39-3409A3482B89}"/>
              </a:ext>
            </a:extLst>
          </p:cNvPr>
          <p:cNvSpPr>
            <a:spLocks noGrp="1"/>
          </p:cNvSpPr>
          <p:nvPr>
            <p:ph type="title"/>
          </p:nvPr>
        </p:nvSpPr>
        <p:spPr>
          <a:xfrm>
            <a:off x="838200" y="548640"/>
            <a:ext cx="10168128" cy="1179576"/>
          </a:xfrm>
        </p:spPr>
        <p:txBody>
          <a:bodyPr>
            <a:normAutofit/>
          </a:bodyPr>
          <a:lstStyle/>
          <a:p>
            <a:r>
              <a:rPr lang="en-US" dirty="0"/>
              <a:t>Vertical Articulation: Grade 2-3</a:t>
            </a:r>
          </a:p>
        </p:txBody>
      </p:sp>
    </p:spTree>
    <p:extLst>
      <p:ext uri="{BB962C8B-B14F-4D97-AF65-F5344CB8AC3E}">
        <p14:creationId xmlns:p14="http://schemas.microsoft.com/office/powerpoint/2010/main" val="3944109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88E215-ED61-47E9-B2B0-916D61528754}"/>
              </a:ext>
            </a:extLst>
          </p:cNvPr>
          <p:cNvSpPr>
            <a:spLocks noGrp="1"/>
          </p:cNvSpPr>
          <p:nvPr>
            <p:ph type="title"/>
          </p:nvPr>
        </p:nvSpPr>
        <p:spPr>
          <a:xfrm>
            <a:off x="838199" y="536088"/>
            <a:ext cx="10515600" cy="1325563"/>
          </a:xfrm>
        </p:spPr>
        <p:txBody>
          <a:bodyPr>
            <a:normAutofit/>
          </a:bodyPr>
          <a:lstStyle/>
          <a:p>
            <a:r>
              <a:rPr lang="en-US" dirty="0"/>
              <a:t>Vertical Articulation: Grade 2-3</a:t>
            </a:r>
          </a:p>
        </p:txBody>
      </p:sp>
      <p:sp>
        <p:nvSpPr>
          <p:cNvPr id="3" name="Content Placeholder 2">
            <a:extLst>
              <a:ext uri="{FF2B5EF4-FFF2-40B4-BE49-F238E27FC236}">
                <a16:creationId xmlns:a16="http://schemas.microsoft.com/office/drawing/2014/main" id="{2080B4DE-CE9C-4441-A432-CFA0BD10147D}"/>
              </a:ext>
            </a:extLst>
          </p:cNvPr>
          <p:cNvSpPr>
            <a:spLocks noGrp="1"/>
          </p:cNvSpPr>
          <p:nvPr>
            <p:ph idx="1"/>
          </p:nvPr>
        </p:nvSpPr>
        <p:spPr>
          <a:xfrm>
            <a:off x="838199" y="1792902"/>
            <a:ext cx="10515600" cy="4563491"/>
          </a:xfrm>
        </p:spPr>
        <p:txBody>
          <a:bodyPr>
            <a:noAutofit/>
          </a:bodyPr>
          <a:lstStyle/>
          <a:p>
            <a:pPr marL="0" indent="0">
              <a:lnSpc>
                <a:spcPct val="100000"/>
              </a:lnSpc>
              <a:buNone/>
            </a:pPr>
            <a:r>
              <a:rPr lang="en-US" sz="3000" dirty="0"/>
              <a:t>Round 2: Computation &amp; Algebraic Thinking</a:t>
            </a:r>
          </a:p>
          <a:p>
            <a:pPr>
              <a:lnSpc>
                <a:spcPct val="100000"/>
              </a:lnSpc>
            </a:pPr>
            <a:r>
              <a:rPr lang="en-US" sz="3000" dirty="0"/>
              <a:t xml:space="preserve">Read the section of the vertical articulation document for </a:t>
            </a:r>
            <a:r>
              <a:rPr lang="en-US" sz="3000" u="sng" dirty="0"/>
              <a:t>Computation &amp; Algebraic Thinking</a:t>
            </a:r>
          </a:p>
          <a:p>
            <a:pPr>
              <a:lnSpc>
                <a:spcPct val="100000"/>
              </a:lnSpc>
            </a:pPr>
            <a:r>
              <a:rPr lang="en-US" sz="3000" dirty="0"/>
              <a:t xml:space="preserve">On the Unit 3 Packet, p. 16: </a:t>
            </a:r>
          </a:p>
          <a:p>
            <a:pPr lvl="1">
              <a:lnSpc>
                <a:spcPct val="100000"/>
              </a:lnSpc>
            </a:pPr>
            <a:r>
              <a:rPr lang="en-US" sz="3000" dirty="0"/>
              <a:t>Identify main ideas across grades 2-3.</a:t>
            </a:r>
          </a:p>
          <a:p>
            <a:pPr lvl="1">
              <a:lnSpc>
                <a:spcPct val="100000"/>
              </a:lnSpc>
            </a:pPr>
            <a:r>
              <a:rPr lang="en-US" sz="3000" dirty="0"/>
              <a:t>What is NEW in 3</a:t>
            </a:r>
            <a:r>
              <a:rPr lang="en-US" sz="3000" baseline="30000" dirty="0"/>
              <a:t>rd</a:t>
            </a:r>
            <a:r>
              <a:rPr lang="en-US" sz="3000" dirty="0"/>
              <a:t xml:space="preserve"> grade? What is gone from 2</a:t>
            </a:r>
            <a:r>
              <a:rPr lang="en-US" sz="3000" baseline="30000" dirty="0"/>
              <a:t>nd</a:t>
            </a:r>
            <a:r>
              <a:rPr lang="en-US" sz="3000" dirty="0"/>
              <a:t xml:space="preserve"> grade?   What skills are assumed to have been learned from 2</a:t>
            </a:r>
            <a:r>
              <a:rPr lang="en-US" sz="3000" baseline="30000" dirty="0"/>
              <a:t>nd</a:t>
            </a:r>
            <a:r>
              <a:rPr lang="en-US" sz="3000" dirty="0"/>
              <a:t xml:space="preserve"> grade?</a:t>
            </a:r>
          </a:p>
          <a:p>
            <a:pPr lvl="1">
              <a:lnSpc>
                <a:spcPct val="100000"/>
              </a:lnSpc>
            </a:pPr>
            <a:r>
              <a:rPr lang="en-US" sz="3000" dirty="0"/>
              <a:t>Note standards that you do not understand.</a:t>
            </a:r>
          </a:p>
        </p:txBody>
      </p:sp>
    </p:spTree>
    <p:extLst>
      <p:ext uri="{BB962C8B-B14F-4D97-AF65-F5344CB8AC3E}">
        <p14:creationId xmlns:p14="http://schemas.microsoft.com/office/powerpoint/2010/main" val="18506726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683A8DE-1A1C-994E-AEBC-6801B0F221EB}"/>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 xml:space="preserve">What does </a:t>
            </a:r>
            <a:r>
              <a:rPr lang="en-US" sz="7200" i="1" kern="1200" dirty="0">
                <a:solidFill>
                  <a:schemeClr val="tx1"/>
                </a:solidFill>
                <a:latin typeface="+mj-lt"/>
                <a:ea typeface="+mj-ea"/>
                <a:cs typeface="+mj-cs"/>
              </a:rPr>
              <a:t>operation sense</a:t>
            </a:r>
            <a:r>
              <a:rPr lang="en-US" sz="7200" kern="1200" dirty="0">
                <a:solidFill>
                  <a:schemeClr val="tx1"/>
                </a:solidFill>
                <a:latin typeface="+mj-lt"/>
                <a:ea typeface="+mj-ea"/>
                <a:cs typeface="+mj-cs"/>
              </a:rPr>
              <a:t xml:space="preserve"> mean?</a:t>
            </a:r>
          </a:p>
        </p:txBody>
      </p:sp>
      <p:sp>
        <p:nvSpPr>
          <p:cNvPr id="3" name="Text Placeholder 2">
            <a:extLst>
              <a:ext uri="{FF2B5EF4-FFF2-40B4-BE49-F238E27FC236}">
                <a16:creationId xmlns:a16="http://schemas.microsoft.com/office/drawing/2014/main" id="{672241A4-ED19-2C4C-BD34-F082D312E649}"/>
              </a:ext>
            </a:extLst>
          </p:cNvPr>
          <p:cNvSpPr>
            <a:spLocks noGrp="1"/>
          </p:cNvSpPr>
          <p:nvPr>
            <p:ph type="body" idx="1"/>
          </p:nvPr>
        </p:nvSpPr>
        <p:spPr>
          <a:xfrm>
            <a:off x="1966912" y="5645150"/>
            <a:ext cx="8258176" cy="1118108"/>
          </a:xfrm>
        </p:spPr>
        <p:txBody>
          <a:bodyPr vert="horz" lIns="91440" tIns="45720" rIns="91440" bIns="45720" rtlCol="0" anchor="ctr">
            <a:noAutofit/>
          </a:bodyPr>
          <a:lstStyle/>
          <a:p>
            <a:pPr algn="ctr"/>
            <a:r>
              <a:rPr lang="en-US" sz="2800" kern="1200" dirty="0">
                <a:solidFill>
                  <a:schemeClr val="tx1"/>
                </a:solidFill>
                <a:latin typeface="+mn-lt"/>
                <a:ea typeface="+mn-ea"/>
                <a:cs typeface="+mn-cs"/>
              </a:rPr>
              <a:t xml:space="preserve">What does </a:t>
            </a:r>
            <a:r>
              <a:rPr lang="en-US" sz="2800" i="1" kern="1200" dirty="0">
                <a:solidFill>
                  <a:schemeClr val="tx1"/>
                </a:solidFill>
                <a:latin typeface="+mn-lt"/>
                <a:ea typeface="+mn-ea"/>
                <a:cs typeface="+mn-cs"/>
              </a:rPr>
              <a:t>multiplication</a:t>
            </a:r>
            <a:r>
              <a:rPr lang="en-US" sz="2800" kern="1200" dirty="0">
                <a:solidFill>
                  <a:schemeClr val="tx1"/>
                </a:solidFill>
                <a:latin typeface="+mn-lt"/>
                <a:ea typeface="+mn-ea"/>
                <a:cs typeface="+mn-cs"/>
              </a:rPr>
              <a:t xml:space="preserve"> mean?</a:t>
            </a:r>
          </a:p>
          <a:p>
            <a:pPr algn="ctr"/>
            <a:r>
              <a:rPr lang="en-US" sz="2800" kern="1200" dirty="0">
                <a:solidFill>
                  <a:schemeClr val="tx1"/>
                </a:solidFill>
                <a:latin typeface="+mn-lt"/>
                <a:ea typeface="+mn-ea"/>
                <a:cs typeface="+mn-cs"/>
              </a:rPr>
              <a:t xml:space="preserve">What does </a:t>
            </a:r>
            <a:r>
              <a:rPr lang="en-US" sz="2800" i="1" kern="1200" dirty="0">
                <a:solidFill>
                  <a:schemeClr val="tx1"/>
                </a:solidFill>
                <a:latin typeface="+mn-lt"/>
                <a:ea typeface="+mn-ea"/>
                <a:cs typeface="+mn-cs"/>
              </a:rPr>
              <a:t>division</a:t>
            </a:r>
            <a:r>
              <a:rPr lang="en-US" sz="2800" kern="1200" dirty="0">
                <a:solidFill>
                  <a:schemeClr val="tx1"/>
                </a:solidFill>
                <a:latin typeface="+mn-lt"/>
                <a:ea typeface="+mn-ea"/>
                <a:cs typeface="+mn-cs"/>
              </a:rPr>
              <a:t xml:space="preserve"> mean?</a:t>
            </a:r>
          </a:p>
        </p:txBody>
      </p:sp>
      <p:sp>
        <p:nvSpPr>
          <p:cNvPr id="14"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4220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D6E2-B324-994D-9520-130636162EA5}"/>
              </a:ext>
            </a:extLst>
          </p:cNvPr>
          <p:cNvSpPr>
            <a:spLocks noGrp="1"/>
          </p:cNvSpPr>
          <p:nvPr>
            <p:ph type="title"/>
          </p:nvPr>
        </p:nvSpPr>
        <p:spPr/>
        <p:txBody>
          <a:bodyPr/>
          <a:lstStyle/>
          <a:p>
            <a:r>
              <a:rPr lang="en-US" dirty="0"/>
              <a:t>Multiplication &amp; Division Problem Structures</a:t>
            </a:r>
          </a:p>
        </p:txBody>
      </p:sp>
      <p:sp>
        <p:nvSpPr>
          <p:cNvPr id="4" name="Slide Number Placeholder 3"/>
          <p:cNvSpPr>
            <a:spLocks noGrp="1"/>
          </p:cNvSpPr>
          <p:nvPr>
            <p:ph type="sldNum" sz="quarter" idx="12"/>
          </p:nvPr>
        </p:nvSpPr>
        <p:spPr/>
        <p:txBody>
          <a:bodyPr/>
          <a:lstStyle/>
          <a:p>
            <a:fld id="{92E776D5-2F1F-AF4D-ADBD-1B3DDD23E66C}" type="slidenum">
              <a:rPr lang="en-US" smtClean="0"/>
              <a:t>7</a:t>
            </a:fld>
            <a:endParaRPr lang="en-US"/>
          </a:p>
        </p:txBody>
      </p:sp>
      <p:graphicFrame>
        <p:nvGraphicFramePr>
          <p:cNvPr id="3" name="Content Placeholder 3">
            <a:extLst>
              <a:ext uri="{FF2B5EF4-FFF2-40B4-BE49-F238E27FC236}">
                <a16:creationId xmlns:a16="http://schemas.microsoft.com/office/drawing/2014/main" id="{65F40928-DC0F-CB8A-A895-E3456D8D6442}"/>
              </a:ext>
            </a:extLst>
          </p:cNvPr>
          <p:cNvGraphicFramePr>
            <a:graphicFrameLocks noGrp="1"/>
          </p:cNvGraphicFramePr>
          <p:nvPr>
            <p:ph idx="1"/>
            <p:extLst>
              <p:ext uri="{D42A27DB-BD31-4B8C-83A1-F6EECF244321}">
                <p14:modId xmlns:p14="http://schemas.microsoft.com/office/powerpoint/2010/main" val="2464649637"/>
              </p:ext>
            </p:extLst>
          </p:nvPr>
        </p:nvGraphicFramePr>
        <p:xfrm>
          <a:off x="1050925" y="2007704"/>
          <a:ext cx="9810750" cy="424704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431338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EC28755-D72E-0675-7F17-CB04725FEE0D}"/>
              </a:ext>
            </a:extLst>
          </p:cNvPr>
          <p:cNvSpPr txBox="1"/>
          <p:nvPr/>
        </p:nvSpPr>
        <p:spPr>
          <a:xfrm>
            <a:off x="6229651" y="5356361"/>
            <a:ext cx="5399311" cy="954107"/>
          </a:xfrm>
          <a:prstGeom prst="rect">
            <a:avLst/>
          </a:prstGeom>
          <a:noFill/>
          <a:ln>
            <a:solidFill>
              <a:schemeClr val="tx1"/>
            </a:solidFill>
          </a:ln>
        </p:spPr>
        <p:txBody>
          <a:bodyPr wrap="square" rtlCol="0">
            <a:spAutoFit/>
          </a:bodyPr>
          <a:lstStyle/>
          <a:p>
            <a:r>
              <a:rPr lang="en-US" sz="2800" dirty="0"/>
              <a:t>A garden is 4 feet by 7 feet.       What is the area of the garden?</a:t>
            </a:r>
          </a:p>
        </p:txBody>
      </p:sp>
      <p:sp>
        <p:nvSpPr>
          <p:cNvPr id="5" name="TextBox 4">
            <a:extLst>
              <a:ext uri="{FF2B5EF4-FFF2-40B4-BE49-F238E27FC236}">
                <a16:creationId xmlns:a16="http://schemas.microsoft.com/office/drawing/2014/main" id="{0590D86D-8E04-C6A5-64A6-7E8BEA2D0764}"/>
              </a:ext>
            </a:extLst>
          </p:cNvPr>
          <p:cNvSpPr txBox="1"/>
          <p:nvPr/>
        </p:nvSpPr>
        <p:spPr>
          <a:xfrm>
            <a:off x="6229651" y="1886357"/>
            <a:ext cx="5399314" cy="1384995"/>
          </a:xfrm>
          <a:prstGeom prst="rect">
            <a:avLst/>
          </a:prstGeom>
          <a:noFill/>
          <a:ln>
            <a:solidFill>
              <a:schemeClr val="tx1"/>
            </a:solidFill>
          </a:ln>
        </p:spPr>
        <p:txBody>
          <a:bodyPr wrap="square" rtlCol="0">
            <a:spAutoFit/>
          </a:bodyPr>
          <a:lstStyle/>
          <a:p>
            <a:r>
              <a:rPr lang="en-US" sz="2800" dirty="0"/>
              <a:t>Jill picked 6 apples. Mark picked 4 times as many apples as Jill. How many apples did Mark pick?</a:t>
            </a:r>
          </a:p>
        </p:txBody>
      </p:sp>
      <p:sp>
        <p:nvSpPr>
          <p:cNvPr id="6" name="TextBox 5">
            <a:extLst>
              <a:ext uri="{FF2B5EF4-FFF2-40B4-BE49-F238E27FC236}">
                <a16:creationId xmlns:a16="http://schemas.microsoft.com/office/drawing/2014/main" id="{FBAEDC25-8EAB-3801-3CA8-86F8C0B5965B}"/>
              </a:ext>
            </a:extLst>
          </p:cNvPr>
          <p:cNvSpPr txBox="1"/>
          <p:nvPr/>
        </p:nvSpPr>
        <p:spPr>
          <a:xfrm>
            <a:off x="6229651" y="3616819"/>
            <a:ext cx="5399314" cy="1384995"/>
          </a:xfrm>
          <a:prstGeom prst="rect">
            <a:avLst/>
          </a:prstGeom>
          <a:noFill/>
          <a:ln>
            <a:solidFill>
              <a:schemeClr val="tx1"/>
            </a:solidFill>
          </a:ln>
        </p:spPr>
        <p:txBody>
          <a:bodyPr wrap="square" rtlCol="0">
            <a:spAutoFit/>
          </a:bodyPr>
          <a:lstStyle/>
          <a:p>
            <a:r>
              <a:rPr lang="en-US" sz="2800" dirty="0"/>
              <a:t>Mark had 4 bags of apples. There are 6 apples in each bag. How many apples does Mark have altogether?</a:t>
            </a:r>
          </a:p>
        </p:txBody>
      </p:sp>
      <p:sp>
        <p:nvSpPr>
          <p:cNvPr id="7" name="TextBox 6">
            <a:extLst>
              <a:ext uri="{FF2B5EF4-FFF2-40B4-BE49-F238E27FC236}">
                <a16:creationId xmlns:a16="http://schemas.microsoft.com/office/drawing/2014/main" id="{CD13F9FA-7EA0-1551-8CE8-8F0154200F87}"/>
              </a:ext>
            </a:extLst>
          </p:cNvPr>
          <p:cNvSpPr txBox="1"/>
          <p:nvPr/>
        </p:nvSpPr>
        <p:spPr>
          <a:xfrm>
            <a:off x="838195" y="1886357"/>
            <a:ext cx="5122336" cy="1384995"/>
          </a:xfrm>
          <a:prstGeom prst="rect">
            <a:avLst/>
          </a:prstGeom>
          <a:noFill/>
          <a:ln>
            <a:solidFill>
              <a:schemeClr val="tx1"/>
            </a:solidFill>
          </a:ln>
        </p:spPr>
        <p:txBody>
          <a:bodyPr wrap="square" rtlCol="0">
            <a:spAutoFit/>
          </a:bodyPr>
          <a:lstStyle/>
          <a:p>
            <a:r>
              <a:rPr lang="en-US" sz="2800" dirty="0"/>
              <a:t>A carton has 3 rows of soup cans with 5 cans in each row. How many soup cans are there?</a:t>
            </a:r>
          </a:p>
        </p:txBody>
      </p:sp>
      <p:sp>
        <p:nvSpPr>
          <p:cNvPr id="8" name="TextBox 7">
            <a:extLst>
              <a:ext uri="{FF2B5EF4-FFF2-40B4-BE49-F238E27FC236}">
                <a16:creationId xmlns:a16="http://schemas.microsoft.com/office/drawing/2014/main" id="{D31B7F72-52DE-4ECD-AF10-284856F290ED}"/>
              </a:ext>
            </a:extLst>
          </p:cNvPr>
          <p:cNvSpPr txBox="1"/>
          <p:nvPr/>
        </p:nvSpPr>
        <p:spPr>
          <a:xfrm>
            <a:off x="838198" y="3632813"/>
            <a:ext cx="5122336" cy="2677656"/>
          </a:xfrm>
          <a:prstGeom prst="rect">
            <a:avLst/>
          </a:prstGeom>
          <a:noFill/>
          <a:ln>
            <a:solidFill>
              <a:schemeClr val="tx1"/>
            </a:solidFill>
          </a:ln>
        </p:spPr>
        <p:txBody>
          <a:bodyPr wrap="square" rtlCol="0">
            <a:spAutoFit/>
          </a:bodyPr>
          <a:lstStyle/>
          <a:p>
            <a:r>
              <a:rPr lang="en-US" sz="2800" dirty="0"/>
              <a:t>Sam bought 4 pairs of pants and 3 jackets. They all can be worn together. How many different outfits consisting of a pair of pants and a jacket does Sam have?</a:t>
            </a:r>
          </a:p>
        </p:txBody>
      </p:sp>
      <p:graphicFrame>
        <p:nvGraphicFramePr>
          <p:cNvPr id="12" name="Content Placeholder 3">
            <a:extLst>
              <a:ext uri="{FF2B5EF4-FFF2-40B4-BE49-F238E27FC236}">
                <a16:creationId xmlns:a16="http://schemas.microsoft.com/office/drawing/2014/main" id="{6490897D-30F8-E4BC-5E65-A0C7273C2BF7}"/>
              </a:ext>
            </a:extLst>
          </p:cNvPr>
          <p:cNvGraphicFramePr>
            <a:graphicFrameLocks noGrp="1"/>
          </p:cNvGraphicFramePr>
          <p:nvPr>
            <p:ph idx="1"/>
            <p:extLst>
              <p:ext uri="{D42A27DB-BD31-4B8C-83A1-F6EECF244321}">
                <p14:modId xmlns:p14="http://schemas.microsoft.com/office/powerpoint/2010/main" val="2258316377"/>
              </p:ext>
            </p:extLst>
          </p:nvPr>
        </p:nvGraphicFramePr>
        <p:xfrm>
          <a:off x="838198" y="-68336"/>
          <a:ext cx="11059887" cy="19546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454968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4"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B0592F3-FC42-492F-9B61-4EFA37F0363B}"/>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dirty="0">
                <a:solidFill>
                  <a:schemeClr val="tx1"/>
                </a:solidFill>
                <a:latin typeface="+mj-lt"/>
                <a:ea typeface="+mj-ea"/>
                <a:cs typeface="+mj-cs"/>
              </a:rPr>
              <a:t>Why Care About Problem Structures?</a:t>
            </a:r>
          </a:p>
        </p:txBody>
      </p:sp>
      <p:sp>
        <p:nvSpPr>
          <p:cNvPr id="5"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97339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9">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8" name="Freeform: Shape 11">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524003" y="1999615"/>
            <a:ext cx="9144000" cy="2764028"/>
          </a:xfrm>
        </p:spPr>
        <p:txBody>
          <a:bodyPr vert="horz" lIns="91440" tIns="45720" rIns="91440" bIns="45720" rtlCol="0" anchor="ctr">
            <a:normAutofit fontScale="90000"/>
          </a:bodyPr>
          <a:lstStyle/>
          <a:p>
            <a:pPr algn="ctr"/>
            <a:r>
              <a:rPr lang="en-US" sz="7200" kern="1200" dirty="0">
                <a:solidFill>
                  <a:schemeClr val="tx1"/>
                </a:solidFill>
                <a:latin typeface="+mj-lt"/>
                <a:ea typeface="+mj-ea"/>
                <a:cs typeface="+mj-cs"/>
              </a:rPr>
              <a:t>Problem Structure, Unknown Parts, and Modeling Practice</a:t>
            </a:r>
          </a:p>
        </p:txBody>
      </p:sp>
      <p:sp>
        <p:nvSpPr>
          <p:cNvPr id="16" name="Rectangle 15">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7982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8B1EA-9CC7-036C-F487-F0474A2275B1}"/>
              </a:ext>
            </a:extLst>
          </p:cNvPr>
          <p:cNvSpPr>
            <a:spLocks noGrp="1"/>
          </p:cNvSpPr>
          <p:nvPr>
            <p:ph type="title"/>
          </p:nvPr>
        </p:nvSpPr>
        <p:spPr/>
        <p:txBody>
          <a:bodyPr/>
          <a:lstStyle/>
          <a:p>
            <a:r>
              <a:rPr lang="en-US" dirty="0"/>
              <a:t>Reminder from N101</a:t>
            </a:r>
          </a:p>
        </p:txBody>
      </p:sp>
      <p:sp>
        <p:nvSpPr>
          <p:cNvPr id="3" name="Text Placeholder 2">
            <a:extLst>
              <a:ext uri="{FF2B5EF4-FFF2-40B4-BE49-F238E27FC236}">
                <a16:creationId xmlns:a16="http://schemas.microsoft.com/office/drawing/2014/main" id="{765C19B9-536F-59C3-A17F-366BFC56256C}"/>
              </a:ext>
            </a:extLst>
          </p:cNvPr>
          <p:cNvSpPr>
            <a:spLocks noGrp="1"/>
          </p:cNvSpPr>
          <p:nvPr>
            <p:ph type="body" idx="1"/>
          </p:nvPr>
        </p:nvSpPr>
        <p:spPr>
          <a:xfrm>
            <a:off x="749300" y="4398168"/>
            <a:ext cx="10515600" cy="1500187"/>
          </a:xfrm>
        </p:spPr>
        <p:txBody>
          <a:bodyPr>
            <a:normAutofit fontScale="85000" lnSpcReduction="20000"/>
          </a:bodyPr>
          <a:lstStyle/>
          <a:p>
            <a:r>
              <a:rPr lang="en-US" dirty="0"/>
              <a:t>Sharing/partition division: Means you know the number of groups and the total BUT not the amount in each group</a:t>
            </a:r>
          </a:p>
          <a:p>
            <a:endParaRPr lang="en-US" dirty="0"/>
          </a:p>
          <a:p>
            <a:r>
              <a:rPr lang="en-US" dirty="0"/>
              <a:t>Measurement division: Means you know the number in a group and the total BUT not the number of groups</a:t>
            </a:r>
          </a:p>
        </p:txBody>
      </p:sp>
    </p:spTree>
    <p:extLst>
      <p:ext uri="{BB962C8B-B14F-4D97-AF65-F5344CB8AC3E}">
        <p14:creationId xmlns:p14="http://schemas.microsoft.com/office/powerpoint/2010/main" val="2302815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A2BDA-3795-A3A7-F12B-61664DA4E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56F413-2BB2-22C4-82FE-1F046D4168D5}"/>
              </a:ext>
            </a:extLst>
          </p:cNvPr>
          <p:cNvSpPr>
            <a:spLocks noGrp="1"/>
          </p:cNvSpPr>
          <p:nvPr>
            <p:ph type="title"/>
          </p:nvPr>
        </p:nvSpPr>
        <p:spPr/>
        <p:txBody>
          <a:bodyPr/>
          <a:lstStyle/>
          <a:p>
            <a:r>
              <a:rPr lang="en-US" dirty="0"/>
              <a:t>Reminder from N101</a:t>
            </a:r>
          </a:p>
        </p:txBody>
      </p:sp>
      <p:sp>
        <p:nvSpPr>
          <p:cNvPr id="3" name="Content Placeholder 2">
            <a:extLst>
              <a:ext uri="{FF2B5EF4-FFF2-40B4-BE49-F238E27FC236}">
                <a16:creationId xmlns:a16="http://schemas.microsoft.com/office/drawing/2014/main" id="{FE096E2F-C0D8-5C70-C18D-23F42C52D439}"/>
              </a:ext>
            </a:extLst>
          </p:cNvPr>
          <p:cNvSpPr>
            <a:spLocks noGrp="1"/>
          </p:cNvSpPr>
          <p:nvPr>
            <p:ph idx="1"/>
          </p:nvPr>
        </p:nvSpPr>
        <p:spPr>
          <a:xfrm>
            <a:off x="838200" y="1431235"/>
            <a:ext cx="10515600" cy="4745728"/>
          </a:xfrm>
        </p:spPr>
        <p:txBody>
          <a:bodyPr>
            <a:noAutofit/>
          </a:bodyPr>
          <a:lstStyle/>
          <a:p>
            <a:endParaRPr lang="en-US" sz="2000" b="1" dirty="0"/>
          </a:p>
          <a:p>
            <a:r>
              <a:rPr lang="en-US" sz="2000" b="1" dirty="0"/>
              <a:t xml:space="preserve">Sharing/partition division: </a:t>
            </a:r>
            <a:r>
              <a:rPr lang="en-US" sz="2000" dirty="0"/>
              <a:t>Means you know the number of groups and the total BUT not the amount in each group</a:t>
            </a:r>
          </a:p>
          <a:p>
            <a:endParaRPr lang="en-US" sz="2000" dirty="0"/>
          </a:p>
          <a:p>
            <a:r>
              <a:rPr lang="en-US" sz="2000" b="1" dirty="0"/>
              <a:t xml:space="preserve">Measurement division: </a:t>
            </a:r>
            <a:r>
              <a:rPr lang="en-US" sz="2000" dirty="0"/>
              <a:t>Means you know the number in a group and the total BUT not the number of groups</a:t>
            </a:r>
          </a:p>
          <a:p>
            <a:pPr marL="0" lvl="0" indent="0">
              <a:buNone/>
            </a:pPr>
            <a:endParaRPr lang="en-US" sz="1900" dirty="0">
              <a:solidFill>
                <a:srgbClr val="FF0000"/>
              </a:solidFill>
            </a:endParaRPr>
          </a:p>
        </p:txBody>
      </p:sp>
    </p:spTree>
    <p:extLst>
      <p:ext uri="{BB962C8B-B14F-4D97-AF65-F5344CB8AC3E}">
        <p14:creationId xmlns:p14="http://schemas.microsoft.com/office/powerpoint/2010/main" val="2388196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9D63-DA5F-473D-2D24-204D5089B21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6E341FE-BA36-3523-EFA3-A41378EBB8DF}"/>
              </a:ext>
            </a:extLst>
          </p:cNvPr>
          <p:cNvSpPr>
            <a:spLocks noGrp="1"/>
          </p:cNvSpPr>
          <p:nvPr>
            <p:ph type="body" idx="1"/>
          </p:nvPr>
        </p:nvSpPr>
        <p:spPr/>
        <p:txBody>
          <a:bodyPr/>
          <a:lstStyle/>
          <a:p>
            <a:endParaRPr lang="en-US"/>
          </a:p>
        </p:txBody>
      </p:sp>
      <p:pic>
        <p:nvPicPr>
          <p:cNvPr id="5" name="Picture 4" descr="A screenshot of a math test  Description automatically generated">
            <a:extLst>
              <a:ext uri="{FF2B5EF4-FFF2-40B4-BE49-F238E27FC236}">
                <a16:creationId xmlns:a16="http://schemas.microsoft.com/office/drawing/2014/main" id="{8188E56F-8F8E-FC0C-088A-230CD4AABD30}"/>
              </a:ext>
            </a:extLst>
          </p:cNvPr>
          <p:cNvPicPr>
            <a:picLocks noChangeAspect="1"/>
          </p:cNvPicPr>
          <p:nvPr/>
        </p:nvPicPr>
        <p:blipFill>
          <a:blip r:embed="rId2"/>
          <a:stretch>
            <a:fillRect/>
          </a:stretch>
        </p:blipFill>
        <p:spPr>
          <a:xfrm>
            <a:off x="844550" y="909740"/>
            <a:ext cx="10036360" cy="5413105"/>
          </a:xfrm>
          <a:prstGeom prst="rect">
            <a:avLst/>
          </a:prstGeom>
        </p:spPr>
      </p:pic>
    </p:spTree>
    <p:extLst>
      <p:ext uri="{BB962C8B-B14F-4D97-AF65-F5344CB8AC3E}">
        <p14:creationId xmlns:p14="http://schemas.microsoft.com/office/powerpoint/2010/main" val="2403905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Multiplicative Structure Problems</a:t>
            </a:r>
          </a:p>
        </p:txBody>
      </p:sp>
      <p:sp>
        <p:nvSpPr>
          <p:cNvPr id="3" name="Content Placeholder 2"/>
          <p:cNvSpPr>
            <a:spLocks noGrp="1"/>
          </p:cNvSpPr>
          <p:nvPr>
            <p:ph idx="1"/>
          </p:nvPr>
        </p:nvSpPr>
        <p:spPr>
          <a:xfrm>
            <a:off x="838200" y="1431235"/>
            <a:ext cx="10515600" cy="4745728"/>
          </a:xfrm>
        </p:spPr>
        <p:txBody>
          <a:bodyPr>
            <a:noAutofit/>
          </a:bodyPr>
          <a:lstStyle/>
          <a:p>
            <a:pPr marL="514350" lvl="0" indent="-514350">
              <a:buFont typeface="+mj-lt"/>
              <a:buAutoNum type="arabicPeriod"/>
            </a:pPr>
            <a:r>
              <a:rPr lang="en-US" sz="1800" dirty="0"/>
              <a:t xml:space="preserve">Holly has 30 marbles. She placed 5 marbles in each row. How many rows could she make? </a:t>
            </a:r>
            <a:r>
              <a:rPr lang="en-US" sz="1800" dirty="0">
                <a:solidFill>
                  <a:srgbClr val="FF0000"/>
                </a:solidFill>
              </a:rPr>
              <a:t>Array, measurement division, __ x 5 = 30</a:t>
            </a:r>
            <a:endParaRPr lang="en-US" sz="1800" dirty="0"/>
          </a:p>
          <a:p>
            <a:pPr marL="514350" lvl="0" indent="-514350">
              <a:buFont typeface="+mj-lt"/>
              <a:buAutoNum type="arabicPeriod"/>
            </a:pPr>
            <a:r>
              <a:rPr lang="en-US" sz="1800" dirty="0"/>
              <a:t xml:space="preserve">Holly has 42 marbles. She puts them into 6 rows. How many marbles are in each row? </a:t>
            </a:r>
            <a:r>
              <a:rPr lang="en-US" sz="1800" dirty="0">
                <a:solidFill>
                  <a:srgbClr val="FF0000"/>
                </a:solidFill>
              </a:rPr>
              <a:t>Array, sharing division, 6 x __ = 42</a:t>
            </a:r>
            <a:endParaRPr lang="en-US" sz="1900" dirty="0"/>
          </a:p>
          <a:p>
            <a:pPr marL="514350" lvl="0" indent="-514350">
              <a:buFont typeface="+mj-lt"/>
              <a:buAutoNum type="arabicPeriod"/>
            </a:pPr>
            <a:r>
              <a:rPr lang="en-US" sz="1800" dirty="0"/>
              <a:t xml:space="preserve">John has 28 cookies total. He has 4 packages. How many cookies are in each package? </a:t>
            </a:r>
            <a:r>
              <a:rPr lang="en-US" sz="1800" dirty="0">
                <a:solidFill>
                  <a:srgbClr val="FF0000"/>
                </a:solidFill>
              </a:rPr>
              <a:t>Equal groups, sharing division, 4 x __ = 28</a:t>
            </a:r>
            <a:endParaRPr lang="en-US" sz="1800" dirty="0"/>
          </a:p>
          <a:p>
            <a:pPr marL="514350" lvl="0" indent="-514350">
              <a:buFont typeface="+mj-lt"/>
              <a:buAutoNum type="arabicPeriod"/>
            </a:pPr>
            <a:r>
              <a:rPr lang="en-US" sz="1800" dirty="0"/>
              <a:t xml:space="preserve">Nancy had 48 books from the library. She returned 6 books each days until all her books were returned. How many days did it take? </a:t>
            </a:r>
            <a:r>
              <a:rPr lang="en-US" sz="1800" dirty="0">
                <a:solidFill>
                  <a:srgbClr val="FF0000"/>
                </a:solidFill>
              </a:rPr>
              <a:t>Equal groups, measurement division, __ x 6 = 48</a:t>
            </a:r>
            <a:r>
              <a:rPr lang="en-US" sz="1800" dirty="0"/>
              <a:t xml:space="preserve"> </a:t>
            </a:r>
          </a:p>
          <a:p>
            <a:pPr marL="514350" lvl="0" indent="-514350">
              <a:buFont typeface="+mj-lt"/>
              <a:buAutoNum type="arabicPeriod"/>
            </a:pPr>
            <a:r>
              <a:rPr lang="en-US" sz="1800" dirty="0"/>
              <a:t xml:space="preserve">John earns 3 times as much as money as Jack in a week. John earns 12 dollars a week. How much money does Jack earn in a week? </a:t>
            </a:r>
            <a:r>
              <a:rPr lang="en-US" sz="1800" dirty="0">
                <a:solidFill>
                  <a:srgbClr val="FF0000"/>
                </a:solidFill>
              </a:rPr>
              <a:t xml:space="preserve">Comparison, sharing division, 3 x __ = 12, </a:t>
            </a:r>
            <a:endParaRPr lang="en-US" sz="1800" dirty="0"/>
          </a:p>
          <a:p>
            <a:pPr marL="514350" lvl="0" indent="-514350">
              <a:buFont typeface="+mj-lt"/>
              <a:buAutoNum type="arabicPeriod"/>
            </a:pPr>
            <a:r>
              <a:rPr lang="en-US" sz="1800" dirty="0"/>
              <a:t xml:space="preserve">John earns 36 dollars in a week. Jack earns 12 dollars in a week. In a week, how many times the amount of money does John earn than Jack? </a:t>
            </a:r>
            <a:r>
              <a:rPr lang="en-US" sz="1800" dirty="0">
                <a:solidFill>
                  <a:srgbClr val="FF0000"/>
                </a:solidFill>
              </a:rPr>
              <a:t>Comparison, measurement division, __ x 12 = 36</a:t>
            </a:r>
            <a:endParaRPr lang="en-US" sz="1800" dirty="0"/>
          </a:p>
          <a:p>
            <a:pPr marL="514350" indent="-514350">
              <a:buFont typeface="+mj-lt"/>
              <a:buAutoNum type="arabicPeriod"/>
            </a:pPr>
            <a:r>
              <a:rPr lang="en-US" sz="1900" dirty="0"/>
              <a:t xml:space="preserve">My rectangular garden is 20 square feet. One side is 4 feet long. How long is the other side? </a:t>
            </a:r>
            <a:r>
              <a:rPr lang="en-US" sz="1900" dirty="0">
                <a:solidFill>
                  <a:srgbClr val="FF0000"/>
                </a:solidFill>
              </a:rPr>
              <a:t xml:space="preserve">Area; unknown side length (group size or number of groups), __ x 4 = 20 </a:t>
            </a:r>
          </a:p>
        </p:txBody>
      </p:sp>
    </p:spTree>
    <p:extLst>
      <p:ext uri="{BB962C8B-B14F-4D97-AF65-F5344CB8AC3E}">
        <p14:creationId xmlns:p14="http://schemas.microsoft.com/office/powerpoint/2010/main" val="30216616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72D7-B437-65AE-37B4-9F20FE3D7509}"/>
              </a:ext>
            </a:extLst>
          </p:cNvPr>
          <p:cNvSpPr>
            <a:spLocks noGrp="1"/>
          </p:cNvSpPr>
          <p:nvPr>
            <p:ph type="title"/>
          </p:nvPr>
        </p:nvSpPr>
        <p:spPr/>
        <p:txBody>
          <a:bodyPr/>
          <a:lstStyle/>
          <a:p>
            <a:r>
              <a:rPr lang="en-US" dirty="0"/>
              <a:t>Make Your Own Problem</a:t>
            </a:r>
          </a:p>
        </p:txBody>
      </p:sp>
      <p:sp>
        <p:nvSpPr>
          <p:cNvPr id="3" name="Content Placeholder 2">
            <a:extLst>
              <a:ext uri="{FF2B5EF4-FFF2-40B4-BE49-F238E27FC236}">
                <a16:creationId xmlns:a16="http://schemas.microsoft.com/office/drawing/2014/main" id="{F7DA50EF-8AC3-622F-A6A8-50F9F0892524}"/>
              </a:ext>
            </a:extLst>
          </p:cNvPr>
          <p:cNvSpPr>
            <a:spLocks noGrp="1"/>
          </p:cNvSpPr>
          <p:nvPr>
            <p:ph idx="1"/>
          </p:nvPr>
        </p:nvSpPr>
        <p:spPr/>
        <p:txBody>
          <a:bodyPr/>
          <a:lstStyle/>
          <a:p>
            <a:r>
              <a:rPr lang="en-US" dirty="0"/>
              <a:t xml:space="preserve">Grab a piece of big </a:t>
            </a:r>
            <a:r>
              <a:rPr lang="en-US" dirty="0" err="1"/>
              <a:t>post-it</a:t>
            </a:r>
            <a:r>
              <a:rPr lang="en-US" dirty="0"/>
              <a:t xml:space="preserve"> paper</a:t>
            </a:r>
          </a:p>
          <a:p>
            <a:r>
              <a:rPr lang="en-US" dirty="0"/>
              <a:t>Write three problems for your problem type, with all three of the possible unknown parts</a:t>
            </a:r>
          </a:p>
          <a:p>
            <a:r>
              <a:rPr lang="en-US" dirty="0"/>
              <a:t>Post your paper around the room</a:t>
            </a:r>
          </a:p>
          <a:p>
            <a:r>
              <a:rPr lang="en-US" dirty="0"/>
              <a:t xml:space="preserve">Solve ONE of the problems on a </a:t>
            </a:r>
            <a:r>
              <a:rPr lang="en-US" dirty="0" err="1"/>
              <a:t>post-it</a:t>
            </a:r>
            <a:r>
              <a:rPr lang="en-US" dirty="0"/>
              <a:t xml:space="preserve"> that you did not write. </a:t>
            </a:r>
          </a:p>
          <a:p>
            <a:endParaRPr lang="en-US" dirty="0"/>
          </a:p>
          <a:p>
            <a:endParaRPr lang="en-US" dirty="0"/>
          </a:p>
        </p:txBody>
      </p:sp>
    </p:spTree>
    <p:extLst>
      <p:ext uri="{BB962C8B-B14F-4D97-AF65-F5344CB8AC3E}">
        <p14:creationId xmlns:p14="http://schemas.microsoft.com/office/powerpoint/2010/main" val="13924462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416689-A1DA-4803-849E-F40AAEB7444E}"/>
              </a:ext>
            </a:extLst>
          </p:cNvPr>
          <p:cNvSpPr>
            <a:spLocks noGrp="1"/>
          </p:cNvSpPr>
          <p:nvPr>
            <p:ph type="title"/>
          </p:nvPr>
        </p:nvSpPr>
        <p:spPr>
          <a:xfrm>
            <a:off x="841248" y="548640"/>
            <a:ext cx="3600860" cy="5431536"/>
          </a:xfrm>
        </p:spPr>
        <p:txBody>
          <a:bodyPr>
            <a:normAutofit/>
          </a:bodyPr>
          <a:lstStyle/>
          <a:p>
            <a:r>
              <a:rPr lang="en-US" sz="5400" dirty="0"/>
              <a:t>Until Next Time…</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F0E88AD-A6C1-48AB-8036-6213F0D7C3B8}"/>
              </a:ext>
            </a:extLst>
          </p:cNvPr>
          <p:cNvSpPr>
            <a:spLocks noGrp="1"/>
          </p:cNvSpPr>
          <p:nvPr>
            <p:ph idx="1"/>
          </p:nvPr>
        </p:nvSpPr>
        <p:spPr>
          <a:xfrm>
            <a:off x="5126418" y="1231594"/>
            <a:ext cx="6828515" cy="5431536"/>
          </a:xfrm>
        </p:spPr>
        <p:txBody>
          <a:bodyPr anchor="ctr">
            <a:normAutofit/>
          </a:bodyPr>
          <a:lstStyle/>
          <a:p>
            <a:r>
              <a:rPr lang="en-US" dirty="0"/>
              <a:t>Week 10 Check-In due Friday @ 11:59pm</a:t>
            </a:r>
          </a:p>
          <a:p>
            <a:r>
              <a:rPr lang="en-US" dirty="0"/>
              <a:t>Lesson Plan 2 final and Lesson Plan 3 draft due Wed midnight, 10/29</a:t>
            </a:r>
          </a:p>
          <a:p>
            <a:r>
              <a:rPr lang="en-US" dirty="0"/>
              <a:t>Lesson Analysis Lesson 1 due Sunday 11/2</a:t>
            </a:r>
          </a:p>
          <a:p>
            <a:endParaRPr lang="en-US" dirty="0"/>
          </a:p>
          <a:p>
            <a:r>
              <a:rPr lang="en-US" dirty="0"/>
              <a:t xml:space="preserve">Read in </a:t>
            </a:r>
            <a:r>
              <a:rPr lang="en-US" dirty="0" err="1"/>
              <a:t>VdW</a:t>
            </a:r>
            <a:r>
              <a:rPr lang="en-US" dirty="0"/>
              <a:t xml:space="preserve"> Ch. 9 (pages/sections in Canvas)</a:t>
            </a:r>
          </a:p>
          <a:p>
            <a:endParaRPr lang="en-US" dirty="0"/>
          </a:p>
          <a:p>
            <a:endParaRPr lang="en-US" dirty="0"/>
          </a:p>
        </p:txBody>
      </p:sp>
    </p:spTree>
    <p:extLst>
      <p:ext uri="{BB962C8B-B14F-4D97-AF65-F5344CB8AC3E}">
        <p14:creationId xmlns:p14="http://schemas.microsoft.com/office/powerpoint/2010/main" val="42655656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D6E2-B324-994D-9520-130636162EA5}"/>
              </a:ext>
            </a:extLst>
          </p:cNvPr>
          <p:cNvSpPr>
            <a:spLocks noGrp="1"/>
          </p:cNvSpPr>
          <p:nvPr>
            <p:ph type="title"/>
          </p:nvPr>
        </p:nvSpPr>
        <p:spPr/>
        <p:txBody>
          <a:bodyPr/>
          <a:lstStyle/>
          <a:p>
            <a:r>
              <a:rPr lang="en-US" dirty="0"/>
              <a:t>Area Problems</a:t>
            </a:r>
          </a:p>
        </p:txBody>
      </p:sp>
      <p:sp>
        <p:nvSpPr>
          <p:cNvPr id="4" name="Slide Number Placeholder 3"/>
          <p:cNvSpPr>
            <a:spLocks noGrp="1"/>
          </p:cNvSpPr>
          <p:nvPr>
            <p:ph type="sldNum" sz="quarter" idx="12"/>
          </p:nvPr>
        </p:nvSpPr>
        <p:spPr/>
        <p:txBody>
          <a:bodyPr/>
          <a:lstStyle/>
          <a:p>
            <a:fld id="{92E776D5-2F1F-AF4D-ADBD-1B3DDD23E66C}" type="slidenum">
              <a:rPr lang="en-US" smtClean="0"/>
              <a:t>17</a:t>
            </a:fld>
            <a:endParaRPr lang="en-US"/>
          </a:p>
        </p:txBody>
      </p:sp>
      <p:pic>
        <p:nvPicPr>
          <p:cNvPr id="9" name="Picture 8">
            <a:extLst>
              <a:ext uri="{FF2B5EF4-FFF2-40B4-BE49-F238E27FC236}">
                <a16:creationId xmlns:a16="http://schemas.microsoft.com/office/drawing/2014/main" id="{66C5332E-E606-CB47-96DF-F7774D0641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3348659" cy="2050500"/>
          </a:xfrm>
          <a:prstGeom prst="rect">
            <a:avLst/>
          </a:prstGeom>
        </p:spPr>
      </p:pic>
      <p:pic>
        <p:nvPicPr>
          <p:cNvPr id="13" name="Picture 12">
            <a:extLst>
              <a:ext uri="{FF2B5EF4-FFF2-40B4-BE49-F238E27FC236}">
                <a16:creationId xmlns:a16="http://schemas.microsoft.com/office/drawing/2014/main" id="{96E7326F-3DBA-9C42-AAB5-4923673A16F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1932" y="1690688"/>
            <a:ext cx="3632200" cy="2235200"/>
          </a:xfrm>
          <a:prstGeom prst="rect">
            <a:avLst/>
          </a:prstGeom>
        </p:spPr>
      </p:pic>
    </p:spTree>
    <p:extLst>
      <p:ext uri="{BB962C8B-B14F-4D97-AF65-F5344CB8AC3E}">
        <p14:creationId xmlns:p14="http://schemas.microsoft.com/office/powerpoint/2010/main" val="29856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F237AC-5FB5-6C4D-96EB-F4084B5BD14B}"/>
              </a:ext>
            </a:extLst>
          </p:cNvPr>
          <p:cNvSpPr>
            <a:spLocks noGrp="1"/>
          </p:cNvSpPr>
          <p:nvPr>
            <p:ph type="title"/>
          </p:nvPr>
        </p:nvSpPr>
        <p:spPr/>
        <p:txBody>
          <a:bodyPr/>
          <a:lstStyle/>
          <a:p>
            <a:r>
              <a:rPr lang="en-US" dirty="0"/>
              <a:t>Combination Problems</a:t>
            </a:r>
          </a:p>
        </p:txBody>
      </p:sp>
      <p:pic>
        <p:nvPicPr>
          <p:cNvPr id="9" name="Picture 8">
            <a:extLst>
              <a:ext uri="{FF2B5EF4-FFF2-40B4-BE49-F238E27FC236}">
                <a16:creationId xmlns:a16="http://schemas.microsoft.com/office/drawing/2014/main" id="{829E4B7A-7538-FA4A-9CCB-7C4080CB6B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10109200" cy="1879600"/>
          </a:xfrm>
          <a:prstGeom prst="rect">
            <a:avLst/>
          </a:prstGeom>
        </p:spPr>
      </p:pic>
    </p:spTree>
    <p:extLst>
      <p:ext uri="{BB962C8B-B14F-4D97-AF65-F5344CB8AC3E}">
        <p14:creationId xmlns:p14="http://schemas.microsoft.com/office/powerpoint/2010/main" val="11183612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F383903-37A7-B84C-A3D2-AD12635E6580}"/>
              </a:ext>
            </a:extLst>
          </p:cNvPr>
          <p:cNvSpPr>
            <a:spLocks noGrp="1"/>
          </p:cNvSpPr>
          <p:nvPr>
            <p:ph type="title"/>
          </p:nvPr>
        </p:nvSpPr>
        <p:spPr/>
        <p:txBody>
          <a:bodyPr/>
          <a:lstStyle/>
          <a:p>
            <a:r>
              <a:rPr lang="en-US" dirty="0"/>
              <a:t>Equal-Group Problems</a:t>
            </a:r>
          </a:p>
        </p:txBody>
      </p:sp>
      <p:pic>
        <p:nvPicPr>
          <p:cNvPr id="12" name="Picture 11">
            <a:extLst>
              <a:ext uri="{FF2B5EF4-FFF2-40B4-BE49-F238E27FC236}">
                <a16:creationId xmlns:a16="http://schemas.microsoft.com/office/drawing/2014/main" id="{EE6FD0BB-8D4E-D747-8CA6-203BE15648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1" y="1690688"/>
            <a:ext cx="4880354" cy="2439118"/>
          </a:xfrm>
          <a:prstGeom prst="rect">
            <a:avLst/>
          </a:prstGeom>
        </p:spPr>
      </p:pic>
      <p:sp>
        <p:nvSpPr>
          <p:cNvPr id="3" name="TextBox 2">
            <a:extLst>
              <a:ext uri="{FF2B5EF4-FFF2-40B4-BE49-F238E27FC236}">
                <a16:creationId xmlns:a16="http://schemas.microsoft.com/office/drawing/2014/main" id="{5B8122C2-FD35-6A12-D459-C52398177FB5}"/>
              </a:ext>
            </a:extLst>
          </p:cNvPr>
          <p:cNvSpPr txBox="1"/>
          <p:nvPr/>
        </p:nvSpPr>
        <p:spPr>
          <a:xfrm>
            <a:off x="838200" y="4376470"/>
            <a:ext cx="7080068" cy="1631216"/>
          </a:xfrm>
          <a:prstGeom prst="rect">
            <a:avLst/>
          </a:prstGeom>
          <a:noFill/>
        </p:spPr>
        <p:txBody>
          <a:bodyPr wrap="square" rtlCol="0">
            <a:spAutoFit/>
          </a:bodyPr>
          <a:lstStyle/>
          <a:p>
            <a:pPr marL="285750" indent="-285750">
              <a:buFont typeface="Arial" panose="020B0604020202020204" pitchFamily="34" charset="0"/>
              <a:buChar char="•"/>
            </a:pPr>
            <a:r>
              <a:rPr lang="en-US" sz="2400" dirty="0"/>
              <a:t xml:space="preserve">Product unknown: </a:t>
            </a:r>
            <a:r>
              <a:rPr lang="en-US" sz="2400" b="1" dirty="0"/>
              <a:t>Multiplication</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2400" dirty="0"/>
              <a:t xml:space="preserve">Group size unknown: </a:t>
            </a:r>
            <a:r>
              <a:rPr lang="en-US" sz="2400" b="1" dirty="0"/>
              <a:t>Partition division (sharing)</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2400" dirty="0"/>
              <a:t xml:space="preserve">Number of groups unknown: </a:t>
            </a:r>
            <a:r>
              <a:rPr lang="en-US" sz="2400" b="1" dirty="0"/>
              <a:t>Measurement division</a:t>
            </a:r>
          </a:p>
        </p:txBody>
      </p:sp>
    </p:spTree>
    <p:extLst>
      <p:ext uri="{BB962C8B-B14F-4D97-AF65-F5344CB8AC3E}">
        <p14:creationId xmlns:p14="http://schemas.microsoft.com/office/powerpoint/2010/main" val="1524621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E9791-9A6F-A846-A044-0E1959C38D80}"/>
              </a:ext>
            </a:extLst>
          </p:cNvPr>
          <p:cNvSpPr>
            <a:spLocks noGrp="1"/>
          </p:cNvSpPr>
          <p:nvPr>
            <p:ph type="title"/>
          </p:nvPr>
        </p:nvSpPr>
        <p:spPr/>
        <p:txBody>
          <a:bodyPr/>
          <a:lstStyle/>
          <a:p>
            <a:r>
              <a:rPr lang="en-US" dirty="0"/>
              <a:t>Comparison Problems</a:t>
            </a:r>
          </a:p>
        </p:txBody>
      </p:sp>
      <p:pic>
        <p:nvPicPr>
          <p:cNvPr id="9" name="Picture 8">
            <a:extLst>
              <a:ext uri="{FF2B5EF4-FFF2-40B4-BE49-F238E27FC236}">
                <a16:creationId xmlns:a16="http://schemas.microsoft.com/office/drawing/2014/main" id="{26E50D36-CC44-2F45-B410-7090C7072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690688"/>
            <a:ext cx="5691149" cy="2255479"/>
          </a:xfrm>
          <a:prstGeom prst="rect">
            <a:avLst/>
          </a:prstGeom>
        </p:spPr>
      </p:pic>
      <p:sp>
        <p:nvSpPr>
          <p:cNvPr id="4" name="TextBox 3">
            <a:extLst>
              <a:ext uri="{FF2B5EF4-FFF2-40B4-BE49-F238E27FC236}">
                <a16:creationId xmlns:a16="http://schemas.microsoft.com/office/drawing/2014/main" id="{822D521D-0195-4BFD-7831-50DAAC9621B3}"/>
              </a:ext>
            </a:extLst>
          </p:cNvPr>
          <p:cNvSpPr txBox="1"/>
          <p:nvPr/>
        </p:nvSpPr>
        <p:spPr>
          <a:xfrm>
            <a:off x="838200" y="4494986"/>
            <a:ext cx="7080068" cy="1631216"/>
          </a:xfrm>
          <a:prstGeom prst="rect">
            <a:avLst/>
          </a:prstGeom>
          <a:noFill/>
        </p:spPr>
        <p:txBody>
          <a:bodyPr wrap="square" rtlCol="0">
            <a:spAutoFit/>
          </a:bodyPr>
          <a:lstStyle/>
          <a:p>
            <a:pPr marL="285750" indent="-285750">
              <a:buFont typeface="Arial" panose="020B0604020202020204" pitchFamily="34" charset="0"/>
              <a:buChar char="•"/>
            </a:pPr>
            <a:r>
              <a:rPr lang="en-US" sz="2400" dirty="0"/>
              <a:t xml:space="preserve">Product unknown: </a:t>
            </a:r>
            <a:r>
              <a:rPr lang="en-US" sz="2400" b="1" dirty="0"/>
              <a:t>Multiplication</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2400" dirty="0"/>
              <a:t xml:space="preserve">Group size unknown: </a:t>
            </a:r>
            <a:r>
              <a:rPr lang="en-US" sz="2400" b="1" dirty="0"/>
              <a:t>Partition division (sharing)</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2400" dirty="0"/>
              <a:t xml:space="preserve">Number of groups unknown: </a:t>
            </a:r>
            <a:r>
              <a:rPr lang="en-US" sz="2400" b="1" dirty="0"/>
              <a:t>Measurement division</a:t>
            </a:r>
          </a:p>
        </p:txBody>
      </p:sp>
    </p:spTree>
    <p:extLst>
      <p:ext uri="{BB962C8B-B14F-4D97-AF65-F5344CB8AC3E}">
        <p14:creationId xmlns:p14="http://schemas.microsoft.com/office/powerpoint/2010/main" val="16115003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CD6E2-B324-994D-9520-130636162EA5}"/>
              </a:ext>
            </a:extLst>
          </p:cNvPr>
          <p:cNvSpPr>
            <a:spLocks noGrp="1"/>
          </p:cNvSpPr>
          <p:nvPr>
            <p:ph type="title"/>
          </p:nvPr>
        </p:nvSpPr>
        <p:spPr/>
        <p:txBody>
          <a:bodyPr/>
          <a:lstStyle/>
          <a:p>
            <a:r>
              <a:rPr lang="en-US" dirty="0"/>
              <a:t>Array Problems</a:t>
            </a:r>
          </a:p>
        </p:txBody>
      </p:sp>
      <p:pic>
        <p:nvPicPr>
          <p:cNvPr id="7" name="Content Placeholder 6">
            <a:extLst>
              <a:ext uri="{FF2B5EF4-FFF2-40B4-BE49-F238E27FC236}">
                <a16:creationId xmlns:a16="http://schemas.microsoft.com/office/drawing/2014/main" id="{5C2B5377-2EAD-F14B-A714-C5FCE6776A1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342717" y="1690687"/>
            <a:ext cx="3714750" cy="2502163"/>
          </a:xfrm>
        </p:spPr>
      </p:pic>
      <p:pic>
        <p:nvPicPr>
          <p:cNvPr id="11" name="Picture 10">
            <a:extLst>
              <a:ext uri="{FF2B5EF4-FFF2-40B4-BE49-F238E27FC236}">
                <a16:creationId xmlns:a16="http://schemas.microsoft.com/office/drawing/2014/main" id="{6CB6C957-ABE7-D147-9CE5-EB52039697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1690688"/>
            <a:ext cx="5029200" cy="2222500"/>
          </a:xfrm>
          <a:prstGeom prst="rect">
            <a:avLst/>
          </a:prstGeom>
        </p:spPr>
      </p:pic>
      <p:sp>
        <p:nvSpPr>
          <p:cNvPr id="4" name="TextBox 3">
            <a:extLst>
              <a:ext uri="{FF2B5EF4-FFF2-40B4-BE49-F238E27FC236}">
                <a16:creationId xmlns:a16="http://schemas.microsoft.com/office/drawing/2014/main" id="{5178FE39-A812-A8C9-5321-F935D7A3B118}"/>
              </a:ext>
            </a:extLst>
          </p:cNvPr>
          <p:cNvSpPr txBox="1"/>
          <p:nvPr/>
        </p:nvSpPr>
        <p:spPr>
          <a:xfrm>
            <a:off x="838200" y="4446131"/>
            <a:ext cx="7080068" cy="1631216"/>
          </a:xfrm>
          <a:prstGeom prst="rect">
            <a:avLst/>
          </a:prstGeom>
          <a:noFill/>
        </p:spPr>
        <p:txBody>
          <a:bodyPr wrap="square" rtlCol="0">
            <a:spAutoFit/>
          </a:bodyPr>
          <a:lstStyle/>
          <a:p>
            <a:pPr marL="285750" indent="-285750">
              <a:buFont typeface="Arial" panose="020B0604020202020204" pitchFamily="34" charset="0"/>
              <a:buChar char="•"/>
            </a:pPr>
            <a:r>
              <a:rPr lang="en-US" sz="2400" dirty="0"/>
              <a:t xml:space="preserve">Product unknown: </a:t>
            </a:r>
            <a:r>
              <a:rPr lang="en-US" sz="2400" b="1" dirty="0"/>
              <a:t>Multiplication</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2400" dirty="0"/>
              <a:t xml:space="preserve">Group size unknown: </a:t>
            </a:r>
            <a:r>
              <a:rPr lang="en-US" sz="2400" b="1" dirty="0"/>
              <a:t>Partition division (sharing)</a:t>
            </a:r>
          </a:p>
          <a:p>
            <a:pPr marL="285750" indent="-285750">
              <a:buFont typeface="Arial" panose="020B0604020202020204" pitchFamily="34" charset="0"/>
              <a:buChar char="•"/>
            </a:pPr>
            <a:endParaRPr lang="en-US" sz="1400" b="1" dirty="0"/>
          </a:p>
          <a:p>
            <a:pPr marL="285750" indent="-285750">
              <a:buFont typeface="Arial" panose="020B0604020202020204" pitchFamily="34" charset="0"/>
              <a:buChar char="•"/>
            </a:pPr>
            <a:r>
              <a:rPr lang="en-US" sz="2400" dirty="0"/>
              <a:t xml:space="preserve">Number of groups unknown: </a:t>
            </a:r>
            <a:r>
              <a:rPr lang="en-US" sz="2400" b="1" dirty="0"/>
              <a:t>Measurement division</a:t>
            </a:r>
          </a:p>
        </p:txBody>
      </p:sp>
    </p:spTree>
    <p:extLst>
      <p:ext uri="{BB962C8B-B14F-4D97-AF65-F5344CB8AC3E}">
        <p14:creationId xmlns:p14="http://schemas.microsoft.com/office/powerpoint/2010/main" val="120886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white rectangular grid with black text  Description automatically generated">
            <a:extLst>
              <a:ext uri="{FF2B5EF4-FFF2-40B4-BE49-F238E27FC236}">
                <a16:creationId xmlns:a16="http://schemas.microsoft.com/office/drawing/2014/main" id="{E7214B64-DF53-1C2A-B777-ECA0E286EE91}"/>
              </a:ext>
            </a:extLst>
          </p:cNvPr>
          <p:cNvPicPr>
            <a:picLocks noChangeAspect="1"/>
          </p:cNvPicPr>
          <p:nvPr/>
        </p:nvPicPr>
        <p:blipFill>
          <a:blip r:embed="rId2"/>
          <a:stretch>
            <a:fillRect/>
          </a:stretch>
        </p:blipFill>
        <p:spPr>
          <a:xfrm>
            <a:off x="2014633" y="643467"/>
            <a:ext cx="8162733" cy="5571066"/>
          </a:xfrm>
          <a:prstGeom prst="rect">
            <a:avLst/>
          </a:prstGeom>
        </p:spPr>
      </p:pic>
    </p:spTree>
    <p:extLst>
      <p:ext uri="{BB962C8B-B14F-4D97-AF65-F5344CB8AC3E}">
        <p14:creationId xmlns:p14="http://schemas.microsoft.com/office/powerpoint/2010/main" val="6406621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1" name="Freeform: Shape 10">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Multiplication Properties</a:t>
            </a:r>
          </a:p>
        </p:txBody>
      </p:sp>
      <p:sp>
        <p:nvSpPr>
          <p:cNvPr id="13" name="Rectangle 12">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26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C7101-1B20-F441-93F4-7FB957E749B0}"/>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sz="4400" kern="1200">
                <a:solidFill>
                  <a:schemeClr val="tx1"/>
                </a:solidFill>
                <a:latin typeface="+mj-lt"/>
                <a:ea typeface="+mj-ea"/>
                <a:cs typeface="+mj-cs"/>
              </a:rPr>
              <a:t>Commutativity and Associativity</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7F217C32-D6C5-9F46-B4DD-DA70B301B1A2}"/>
              </a:ext>
            </a:extLst>
          </p:cNvPr>
          <p:cNvSpPr>
            <a:spLocks noGrp="1"/>
          </p:cNvSpPr>
          <p:nvPr>
            <p:ph type="body" idx="1"/>
          </p:nvPr>
        </p:nvSpPr>
        <p:spPr>
          <a:xfrm>
            <a:off x="838200" y="4360078"/>
            <a:ext cx="10502915" cy="1498378"/>
          </a:xfrm>
        </p:spPr>
        <p:txBody>
          <a:bodyPr>
            <a:normAutofit/>
          </a:bodyPr>
          <a:lstStyle/>
          <a:p>
            <a:pPr defTabSz="905256">
              <a:spcBef>
                <a:spcPts val="990"/>
              </a:spcBef>
            </a:pPr>
            <a:endParaRPr lang="en-US" sz="2376" kern="1200">
              <a:solidFill>
                <a:schemeClr val="tx1"/>
              </a:solidFill>
              <a:latin typeface="+mn-lt"/>
              <a:ea typeface="+mn-ea"/>
              <a:cs typeface="+mn-cs"/>
            </a:endParaRPr>
          </a:p>
          <a:p>
            <a:pPr defTabSz="905256">
              <a:spcBef>
                <a:spcPts val="990"/>
              </a:spcBef>
            </a:pPr>
            <a:endParaRPr lang="en-US" sz="2376" kern="1200">
              <a:solidFill>
                <a:schemeClr val="tx1"/>
              </a:solidFill>
              <a:latin typeface="+mn-lt"/>
              <a:ea typeface="+mn-ea"/>
              <a:cs typeface="+mn-cs"/>
            </a:endParaRPr>
          </a:p>
          <a:p>
            <a:pPr defTabSz="905256">
              <a:spcBef>
                <a:spcPts val="990"/>
              </a:spcBef>
            </a:pPr>
            <a:r>
              <a:rPr lang="en-US" sz="2376" kern="1200">
                <a:solidFill>
                  <a:schemeClr val="tx1"/>
                </a:solidFill>
                <a:latin typeface="+mn-lt"/>
                <a:ea typeface="+mn-ea"/>
                <a:cs typeface="+mn-cs"/>
              </a:rPr>
              <a:t>Commutative Property</a:t>
            </a:r>
            <a:endParaRPr lang="en-US">
              <a:solidFill>
                <a:schemeClr val="tx1"/>
              </a:solidFill>
            </a:endParaRPr>
          </a:p>
        </p:txBody>
      </p:sp>
      <p:pic>
        <p:nvPicPr>
          <p:cNvPr id="8" name="Picture 7">
            <a:extLst>
              <a:ext uri="{FF2B5EF4-FFF2-40B4-BE49-F238E27FC236}">
                <a16:creationId xmlns:a16="http://schemas.microsoft.com/office/drawing/2014/main" id="{C1DC2E39-69E1-904B-8D23-4F48917C238A}"/>
              </a:ext>
            </a:extLst>
          </p:cNvPr>
          <p:cNvPicPr>
            <a:picLocks noChangeAspect="1"/>
          </p:cNvPicPr>
          <p:nvPr/>
        </p:nvPicPr>
        <p:blipFill>
          <a:blip r:embed="rId3"/>
          <a:stretch>
            <a:fillRect/>
          </a:stretch>
        </p:blipFill>
        <p:spPr>
          <a:xfrm rot="16200000">
            <a:off x="2114036" y="1075766"/>
            <a:ext cx="2247900" cy="4799569"/>
          </a:xfrm>
          <a:prstGeom prst="rect">
            <a:avLst/>
          </a:prstGeom>
        </p:spPr>
      </p:pic>
      <p:sp>
        <p:nvSpPr>
          <p:cNvPr id="12" name="TextBox 11">
            <a:extLst>
              <a:ext uri="{FF2B5EF4-FFF2-40B4-BE49-F238E27FC236}">
                <a16:creationId xmlns:a16="http://schemas.microsoft.com/office/drawing/2014/main" id="{4CA304FE-CC6C-2948-B183-1B4945BC4D90}"/>
              </a:ext>
            </a:extLst>
          </p:cNvPr>
          <p:cNvSpPr txBox="1"/>
          <p:nvPr/>
        </p:nvSpPr>
        <p:spPr>
          <a:xfrm>
            <a:off x="8026472" y="5109267"/>
            <a:ext cx="2841711" cy="461108"/>
          </a:xfrm>
          <a:prstGeom prst="rect">
            <a:avLst/>
          </a:prstGeom>
          <a:noFill/>
        </p:spPr>
        <p:txBody>
          <a:bodyPr wrap="square">
            <a:spAutoFit/>
          </a:bodyPr>
          <a:lstStyle/>
          <a:p>
            <a:pPr defTabSz="905256">
              <a:spcAft>
                <a:spcPts val="600"/>
              </a:spcAft>
            </a:pPr>
            <a:r>
              <a:rPr lang="en-US" sz="2376" kern="1200">
                <a:solidFill>
                  <a:schemeClr val="tx1"/>
                </a:solidFill>
                <a:latin typeface="+mn-lt"/>
                <a:ea typeface="+mn-ea"/>
                <a:cs typeface="+mn-cs"/>
              </a:rPr>
              <a:t xml:space="preserve">Associative Property </a:t>
            </a:r>
            <a:endParaRPr lang="en-US" sz="2400">
              <a:solidFill>
                <a:schemeClr val="tx1"/>
              </a:solidFill>
            </a:endParaRPr>
          </a:p>
        </p:txBody>
      </p:sp>
      <p:pic>
        <p:nvPicPr>
          <p:cNvPr id="13" name="Picture 12">
            <a:extLst>
              <a:ext uri="{FF2B5EF4-FFF2-40B4-BE49-F238E27FC236}">
                <a16:creationId xmlns:a16="http://schemas.microsoft.com/office/drawing/2014/main" id="{F215F1F4-BCD2-054A-BECE-15837750940D}"/>
              </a:ext>
            </a:extLst>
          </p:cNvPr>
          <p:cNvPicPr>
            <a:picLocks noChangeAspect="1"/>
          </p:cNvPicPr>
          <p:nvPr/>
        </p:nvPicPr>
        <p:blipFill>
          <a:blip r:embed="rId4"/>
          <a:stretch>
            <a:fillRect/>
          </a:stretch>
        </p:blipFill>
        <p:spPr>
          <a:xfrm>
            <a:off x="6560573" y="2518609"/>
            <a:ext cx="4793227" cy="2080892"/>
          </a:xfrm>
          <a:prstGeom prst="rect">
            <a:avLst/>
          </a:prstGeom>
        </p:spPr>
      </p:pic>
    </p:spTree>
    <p:extLst>
      <p:ext uri="{BB962C8B-B14F-4D97-AF65-F5344CB8AC3E}">
        <p14:creationId xmlns:p14="http://schemas.microsoft.com/office/powerpoint/2010/main" val="31404468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white and black page with text  Description automatically generated with medium confidence">
            <a:extLst>
              <a:ext uri="{FF2B5EF4-FFF2-40B4-BE49-F238E27FC236}">
                <a16:creationId xmlns:a16="http://schemas.microsoft.com/office/drawing/2014/main" id="{79F710DD-18AF-4310-12B7-0E5DBD05D8FD}"/>
              </a:ext>
            </a:extLst>
          </p:cNvPr>
          <p:cNvPicPr>
            <a:picLocks noChangeAspect="1"/>
          </p:cNvPicPr>
          <p:nvPr/>
        </p:nvPicPr>
        <p:blipFill>
          <a:blip r:embed="rId2"/>
          <a:stretch>
            <a:fillRect/>
          </a:stretch>
        </p:blipFill>
        <p:spPr>
          <a:xfrm>
            <a:off x="1621249" y="643467"/>
            <a:ext cx="8949502" cy="5571066"/>
          </a:xfrm>
          <a:prstGeom prst="rect">
            <a:avLst/>
          </a:prstGeom>
        </p:spPr>
      </p:pic>
    </p:spTree>
    <p:extLst>
      <p:ext uri="{BB962C8B-B14F-4D97-AF65-F5344CB8AC3E}">
        <p14:creationId xmlns:p14="http://schemas.microsoft.com/office/powerpoint/2010/main" val="2791960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C7101-1B20-F441-93F4-7FB957E749B0}"/>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sz="4400" kern="1200" dirty="0">
                <a:solidFill>
                  <a:schemeClr val="tx1"/>
                </a:solidFill>
                <a:latin typeface="+mj-lt"/>
                <a:ea typeface="+mj-ea"/>
                <a:cs typeface="+mj-cs"/>
              </a:rPr>
              <a:t>Distributive Property</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pic>
        <p:nvPicPr>
          <p:cNvPr id="6" name="Picture 5">
            <a:extLst>
              <a:ext uri="{FF2B5EF4-FFF2-40B4-BE49-F238E27FC236}">
                <a16:creationId xmlns:a16="http://schemas.microsoft.com/office/drawing/2014/main" id="{0799545A-F6D2-87FC-CC40-7CAE1C5B58A5}"/>
              </a:ext>
            </a:extLst>
          </p:cNvPr>
          <p:cNvPicPr>
            <a:picLocks noChangeAspect="1"/>
          </p:cNvPicPr>
          <p:nvPr/>
        </p:nvPicPr>
        <p:blipFill rotWithShape="1">
          <a:blip r:embed="rId3"/>
          <a:srcRect b="46477"/>
          <a:stretch/>
        </p:blipFill>
        <p:spPr>
          <a:xfrm>
            <a:off x="1255218" y="2323712"/>
            <a:ext cx="4840782" cy="3212754"/>
          </a:xfrm>
          <a:prstGeom prst="rect">
            <a:avLst/>
          </a:prstGeom>
        </p:spPr>
      </p:pic>
      <p:pic>
        <p:nvPicPr>
          <p:cNvPr id="9" name="Picture 8">
            <a:extLst>
              <a:ext uri="{FF2B5EF4-FFF2-40B4-BE49-F238E27FC236}">
                <a16:creationId xmlns:a16="http://schemas.microsoft.com/office/drawing/2014/main" id="{95EF2C7D-6EED-17C2-462B-38D006B26597}"/>
              </a:ext>
            </a:extLst>
          </p:cNvPr>
          <p:cNvPicPr>
            <a:picLocks noChangeAspect="1"/>
          </p:cNvPicPr>
          <p:nvPr/>
        </p:nvPicPr>
        <p:blipFill rotWithShape="1">
          <a:blip r:embed="rId3"/>
          <a:srcRect t="53000"/>
          <a:stretch/>
        </p:blipFill>
        <p:spPr>
          <a:xfrm>
            <a:off x="6418039" y="2616397"/>
            <a:ext cx="4704663" cy="2741883"/>
          </a:xfrm>
          <a:prstGeom prst="rect">
            <a:avLst/>
          </a:prstGeom>
        </p:spPr>
      </p:pic>
    </p:spTree>
    <p:extLst>
      <p:ext uri="{BB962C8B-B14F-4D97-AF65-F5344CB8AC3E}">
        <p14:creationId xmlns:p14="http://schemas.microsoft.com/office/powerpoint/2010/main" val="37674543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math problem  Description automatically generated">
            <a:extLst>
              <a:ext uri="{FF2B5EF4-FFF2-40B4-BE49-F238E27FC236}">
                <a16:creationId xmlns:a16="http://schemas.microsoft.com/office/drawing/2014/main" id="{0338B7F5-B824-A5A2-2162-238D5170093A}"/>
              </a:ext>
            </a:extLst>
          </p:cNvPr>
          <p:cNvPicPr>
            <a:picLocks noChangeAspect="1"/>
          </p:cNvPicPr>
          <p:nvPr/>
        </p:nvPicPr>
        <p:blipFill>
          <a:blip r:embed="rId2"/>
          <a:stretch>
            <a:fillRect/>
          </a:stretch>
        </p:blipFill>
        <p:spPr>
          <a:xfrm>
            <a:off x="2044315" y="643467"/>
            <a:ext cx="8103369" cy="5571066"/>
          </a:xfrm>
          <a:prstGeom prst="rect">
            <a:avLst/>
          </a:prstGeom>
        </p:spPr>
      </p:pic>
    </p:spTree>
    <p:extLst>
      <p:ext uri="{BB962C8B-B14F-4D97-AF65-F5344CB8AC3E}">
        <p14:creationId xmlns:p14="http://schemas.microsoft.com/office/powerpoint/2010/main" val="40498941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3" name="Freeform: Shape 32">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5" name="Freeform: Shape 34">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itle 6">
            <a:extLst>
              <a:ext uri="{FF2B5EF4-FFF2-40B4-BE49-F238E27FC236}">
                <a16:creationId xmlns:a16="http://schemas.microsoft.com/office/drawing/2014/main" id="{26711519-36FF-4A5A-9F64-5ED596024ECF}"/>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Problem Solving</a:t>
            </a:r>
          </a:p>
        </p:txBody>
      </p:sp>
      <p:sp>
        <p:nvSpPr>
          <p:cNvPr id="37" name="Rectangle 36">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44599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C7101-1B20-F441-93F4-7FB957E749B0}"/>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sz="4400" kern="1200" dirty="0" err="1">
                <a:solidFill>
                  <a:schemeClr val="tx1"/>
                </a:solidFill>
                <a:latin typeface="+mj-lt"/>
                <a:ea typeface="+mj-ea"/>
                <a:cs typeface="+mj-cs"/>
              </a:rPr>
              <a:t>VdW</a:t>
            </a:r>
            <a:r>
              <a:rPr lang="en-US" sz="4400" kern="1200" dirty="0">
                <a:solidFill>
                  <a:schemeClr val="tx1"/>
                </a:solidFill>
                <a:latin typeface="+mj-lt"/>
                <a:ea typeface="+mj-ea"/>
                <a:cs typeface="+mj-cs"/>
              </a:rPr>
              <a:t xml:space="preserve"> advocates for:</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Text Placeholder 2">
            <a:extLst>
              <a:ext uri="{FF2B5EF4-FFF2-40B4-BE49-F238E27FC236}">
                <a16:creationId xmlns:a16="http://schemas.microsoft.com/office/drawing/2014/main" id="{51C13A3B-98DD-4C16-5E58-7FC732527D36}"/>
              </a:ext>
            </a:extLst>
          </p:cNvPr>
          <p:cNvSpPr>
            <a:spLocks noGrp="1"/>
          </p:cNvSpPr>
          <p:nvPr>
            <p:ph type="body" idx="1"/>
          </p:nvPr>
        </p:nvSpPr>
        <p:spPr>
          <a:xfrm>
            <a:off x="831850" y="2091894"/>
            <a:ext cx="10515600" cy="4503777"/>
          </a:xfrm>
        </p:spPr>
        <p:txBody>
          <a:bodyPr>
            <a:normAutofit/>
          </a:bodyPr>
          <a:lstStyle/>
          <a:p>
            <a:r>
              <a:rPr lang="en-US" sz="2600" dirty="0">
                <a:solidFill>
                  <a:schemeClr val="tx1"/>
                </a:solidFill>
              </a:rPr>
              <a:t>Thinking about the answer before solving the problem:</a:t>
            </a:r>
          </a:p>
          <a:p>
            <a:pPr marL="342900" indent="-342900">
              <a:buFont typeface="Arial" panose="020B0604020202020204" pitchFamily="34" charset="0"/>
              <a:buChar char="•"/>
            </a:pPr>
            <a:r>
              <a:rPr lang="en-US" sz="2200" dirty="0">
                <a:solidFill>
                  <a:schemeClr val="tx1"/>
                </a:solidFill>
              </a:rPr>
              <a:t>What is happening in this problem?</a:t>
            </a:r>
          </a:p>
          <a:p>
            <a:pPr marL="342900" indent="-342900">
              <a:buFont typeface="Arial" panose="020B0604020202020204" pitchFamily="34" charset="0"/>
              <a:buChar char="•"/>
            </a:pPr>
            <a:r>
              <a:rPr lang="en-US" sz="2200" dirty="0">
                <a:solidFill>
                  <a:schemeClr val="tx1"/>
                </a:solidFill>
              </a:rPr>
              <a:t>Is there any extra information we don’t need?</a:t>
            </a:r>
          </a:p>
          <a:p>
            <a:pPr marL="342900" indent="-342900">
              <a:buFont typeface="Arial" panose="020B0604020202020204" pitchFamily="34" charset="0"/>
              <a:buChar char="•"/>
            </a:pPr>
            <a:r>
              <a:rPr lang="en-US" sz="2200" dirty="0">
                <a:solidFill>
                  <a:schemeClr val="tx1"/>
                </a:solidFill>
              </a:rPr>
              <a:t>What will the answer tell us?</a:t>
            </a:r>
          </a:p>
          <a:p>
            <a:pPr marL="342900" indent="-342900">
              <a:buFont typeface="Arial" panose="020B0604020202020204" pitchFamily="34" charset="0"/>
              <a:buChar char="•"/>
            </a:pPr>
            <a:r>
              <a:rPr lang="en-US" sz="2200" dirty="0">
                <a:solidFill>
                  <a:schemeClr val="tx1"/>
                </a:solidFill>
              </a:rPr>
              <a:t>About how large or small will the answer be? Is that a large or small amount?</a:t>
            </a:r>
          </a:p>
          <a:p>
            <a:pPr marL="342900" indent="-342900">
              <a:buFont typeface="Arial" panose="020B0604020202020204" pitchFamily="34" charset="0"/>
              <a:buChar char="•"/>
            </a:pPr>
            <a:endParaRPr lang="en-US" sz="2200" dirty="0">
              <a:solidFill>
                <a:schemeClr val="tx1"/>
              </a:solidFill>
            </a:endParaRPr>
          </a:p>
          <a:p>
            <a:r>
              <a:rPr lang="en-US" sz="2600" dirty="0">
                <a:solidFill>
                  <a:schemeClr val="tx1"/>
                </a:solidFill>
              </a:rPr>
              <a:t>Let’s try the above:</a:t>
            </a:r>
          </a:p>
          <a:p>
            <a:pPr>
              <a:lnSpc>
                <a:spcPct val="100000"/>
              </a:lnSpc>
            </a:pPr>
            <a:r>
              <a:rPr lang="en-US" sz="2600" dirty="0">
                <a:solidFill>
                  <a:schemeClr val="tx1"/>
                </a:solidFill>
              </a:rPr>
              <a:t xml:space="preserve">The Marsal company had 165 widgets. The company bought 275 widgets wholesale for $3.69 each. In the first month, the company sold 205 widgets at $4.99 each. How much did the company make or lose on the widgets? </a:t>
            </a:r>
            <a:endParaRPr lang="en-US" sz="2600" dirty="0"/>
          </a:p>
          <a:p>
            <a:pPr marL="342900" indent="-342900">
              <a:buFont typeface="Arial" panose="020B0604020202020204" pitchFamily="34" charset="0"/>
              <a:buChar char="•"/>
            </a:pPr>
            <a:endParaRPr lang="en-US" sz="2200" dirty="0"/>
          </a:p>
          <a:p>
            <a:pPr marL="342900" indent="-342900">
              <a:buFont typeface="Arial" panose="020B0604020202020204" pitchFamily="34" charset="0"/>
              <a:buChar char="•"/>
            </a:pPr>
            <a:endParaRPr lang="en-US" sz="2200" dirty="0"/>
          </a:p>
        </p:txBody>
      </p:sp>
    </p:spTree>
    <p:extLst>
      <p:ext uri="{BB962C8B-B14F-4D97-AF65-F5344CB8AC3E}">
        <p14:creationId xmlns:p14="http://schemas.microsoft.com/office/powerpoint/2010/main" val="473226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screenshot of a question  Description automatically generated">
            <a:extLst>
              <a:ext uri="{FF2B5EF4-FFF2-40B4-BE49-F238E27FC236}">
                <a16:creationId xmlns:a16="http://schemas.microsoft.com/office/drawing/2014/main" id="{7D3E4E63-92AA-9848-F3EE-5B0E9B3D6E40}"/>
              </a:ext>
            </a:extLst>
          </p:cNvPr>
          <p:cNvPicPr>
            <a:picLocks noChangeAspect="1"/>
          </p:cNvPicPr>
          <p:nvPr/>
        </p:nvPicPr>
        <p:blipFill>
          <a:blip r:embed="rId2"/>
          <a:stretch>
            <a:fillRect/>
          </a:stretch>
        </p:blipFill>
        <p:spPr>
          <a:xfrm>
            <a:off x="1843278" y="643467"/>
            <a:ext cx="8505444" cy="5571066"/>
          </a:xfrm>
          <a:prstGeom prst="rect">
            <a:avLst/>
          </a:prstGeom>
        </p:spPr>
      </p:pic>
    </p:spTree>
    <p:extLst>
      <p:ext uri="{BB962C8B-B14F-4D97-AF65-F5344CB8AC3E}">
        <p14:creationId xmlns:p14="http://schemas.microsoft.com/office/powerpoint/2010/main" val="10016551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8C7101-1B20-F441-93F4-7FB957E749B0}"/>
              </a:ext>
            </a:extLst>
          </p:cNvPr>
          <p:cNvSpPr>
            <a:spLocks noGrp="1"/>
          </p:cNvSpPr>
          <p:nvPr>
            <p:ph type="title"/>
          </p:nvPr>
        </p:nvSpPr>
        <p:spPr>
          <a:xfrm>
            <a:off x="841248" y="256032"/>
            <a:ext cx="10506456" cy="1014984"/>
          </a:xfrm>
        </p:spPr>
        <p:txBody>
          <a:bodyPr vert="horz" lIns="91440" tIns="45720" rIns="91440" bIns="45720" rtlCol="0" anchor="b">
            <a:normAutofit/>
          </a:bodyPr>
          <a:lstStyle/>
          <a:p>
            <a:r>
              <a:rPr lang="en-US" sz="4400" kern="1200" dirty="0" err="1">
                <a:solidFill>
                  <a:schemeClr val="tx1"/>
                </a:solidFill>
                <a:latin typeface="+mj-lt"/>
                <a:ea typeface="+mj-ea"/>
                <a:cs typeface="+mj-cs"/>
              </a:rPr>
              <a:t>VdW</a:t>
            </a:r>
            <a:r>
              <a:rPr lang="en-US" sz="4400" kern="1200" dirty="0">
                <a:solidFill>
                  <a:schemeClr val="tx1"/>
                </a:solidFill>
                <a:latin typeface="+mj-lt"/>
                <a:ea typeface="+mj-ea"/>
                <a:cs typeface="+mj-cs"/>
              </a:rPr>
              <a:t xml:space="preserve"> advocates for:</a:t>
            </a:r>
          </a:p>
        </p:txBody>
      </p:sp>
      <p:sp>
        <p:nvSpPr>
          <p:cNvPr id="20" name="Rectangle 1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2" name="Rectangle 2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0" name="Text Placeholder 2">
            <a:extLst>
              <a:ext uri="{FF2B5EF4-FFF2-40B4-BE49-F238E27FC236}">
                <a16:creationId xmlns:a16="http://schemas.microsoft.com/office/drawing/2014/main" id="{ECC3787C-8ED6-B78C-2D36-C799C32FDB6B}"/>
              </a:ext>
            </a:extLst>
          </p:cNvPr>
          <p:cNvSpPr>
            <a:spLocks noGrp="1"/>
          </p:cNvSpPr>
          <p:nvPr>
            <p:ph type="body" idx="1"/>
          </p:nvPr>
        </p:nvSpPr>
        <p:spPr>
          <a:xfrm>
            <a:off x="831850" y="1915297"/>
            <a:ext cx="10515600" cy="4942703"/>
          </a:xfrm>
        </p:spPr>
        <p:txBody>
          <a:bodyPr>
            <a:normAutofit lnSpcReduction="10000"/>
          </a:bodyPr>
          <a:lstStyle/>
          <a:p>
            <a:r>
              <a:rPr lang="en-US" sz="2600" dirty="0">
                <a:solidFill>
                  <a:schemeClr val="tx1"/>
                </a:solidFill>
              </a:rPr>
              <a:t>Working a simpler problem:</a:t>
            </a:r>
          </a:p>
          <a:p>
            <a:pPr marL="342900" indent="-342900">
              <a:buFont typeface="Arial" panose="020B0604020202020204" pitchFamily="34" charset="0"/>
              <a:buChar char="•"/>
            </a:pPr>
            <a:r>
              <a:rPr lang="en-US" sz="2200" dirty="0">
                <a:solidFill>
                  <a:schemeClr val="tx1"/>
                </a:solidFill>
              </a:rPr>
              <a:t>Substitute small whole numbers for all relevant numbers in the problem.</a:t>
            </a:r>
          </a:p>
          <a:p>
            <a:pPr marL="342900" indent="-342900">
              <a:buFont typeface="Arial" panose="020B0604020202020204" pitchFamily="34" charset="0"/>
              <a:buChar char="•"/>
            </a:pPr>
            <a:r>
              <a:rPr lang="en-US" sz="2200" dirty="0">
                <a:solidFill>
                  <a:schemeClr val="tx1"/>
                </a:solidFill>
              </a:rPr>
              <a:t>Model (counters, drawings, numbers lines, bar diagrams, arrays) using the new numbers</a:t>
            </a:r>
          </a:p>
          <a:p>
            <a:pPr marL="342900" indent="-342900">
              <a:buFont typeface="Arial" panose="020B0604020202020204" pitchFamily="34" charset="0"/>
              <a:buChar char="•"/>
            </a:pPr>
            <a:r>
              <a:rPr lang="en-US" sz="2200" dirty="0">
                <a:solidFill>
                  <a:schemeClr val="tx1"/>
                </a:solidFill>
              </a:rPr>
              <a:t>Write an equation that solves the simpler version of the problem</a:t>
            </a:r>
          </a:p>
          <a:p>
            <a:pPr marL="342900" indent="-342900">
              <a:buFont typeface="Arial" panose="020B0604020202020204" pitchFamily="34" charset="0"/>
              <a:buChar char="•"/>
            </a:pPr>
            <a:r>
              <a:rPr lang="en-US" sz="2200" dirty="0">
                <a:solidFill>
                  <a:schemeClr val="tx1"/>
                </a:solidFill>
              </a:rPr>
              <a:t>Write the corresponding equation, substituting back the original numbers</a:t>
            </a:r>
          </a:p>
          <a:p>
            <a:pPr marL="342900" indent="-342900">
              <a:buFont typeface="Arial" panose="020B0604020202020204" pitchFamily="34" charset="0"/>
              <a:buChar char="•"/>
            </a:pPr>
            <a:r>
              <a:rPr lang="en-US" sz="2200" dirty="0">
                <a:solidFill>
                  <a:schemeClr val="tx1"/>
                </a:solidFill>
              </a:rPr>
              <a:t>Calculate</a:t>
            </a:r>
          </a:p>
          <a:p>
            <a:pPr marL="342900" indent="-342900">
              <a:buFont typeface="Arial" panose="020B0604020202020204" pitchFamily="34" charset="0"/>
              <a:buChar char="•"/>
            </a:pPr>
            <a:r>
              <a:rPr lang="en-US" sz="2200" dirty="0">
                <a:solidFill>
                  <a:schemeClr val="tx1"/>
                </a:solidFill>
              </a:rPr>
              <a:t>Write the answer is a complete sentence, and decide whether it makes sense</a:t>
            </a:r>
          </a:p>
          <a:p>
            <a:pPr marL="342900" indent="-342900">
              <a:buFont typeface="Arial" panose="020B0604020202020204" pitchFamily="34" charset="0"/>
              <a:buChar char="•"/>
            </a:pPr>
            <a:endParaRPr lang="en-US" sz="1800" dirty="0">
              <a:solidFill>
                <a:schemeClr val="tx1"/>
              </a:solidFill>
            </a:endParaRPr>
          </a:p>
          <a:p>
            <a:r>
              <a:rPr lang="en-US" sz="2600" dirty="0">
                <a:solidFill>
                  <a:schemeClr val="tx1"/>
                </a:solidFill>
              </a:rPr>
              <a:t>Let’s try the above:</a:t>
            </a:r>
          </a:p>
          <a:p>
            <a:pPr>
              <a:lnSpc>
                <a:spcPct val="110000"/>
              </a:lnSpc>
            </a:pPr>
            <a:r>
              <a:rPr lang="en-US" sz="2600" dirty="0">
                <a:solidFill>
                  <a:schemeClr val="tx1"/>
                </a:solidFill>
              </a:rPr>
              <a:t xml:space="preserve">The Marsal company had 165 widgets. The company bought 275 widgets wholesale for $3.69 each. In the first month, the company sold 205 widgets at $4.99 each. How much did the company make or lose on the widgets? </a:t>
            </a:r>
          </a:p>
          <a:p>
            <a:endParaRPr lang="en-US" sz="1800" dirty="0"/>
          </a:p>
          <a:p>
            <a:endParaRPr lang="en-US" dirty="0"/>
          </a:p>
        </p:txBody>
      </p:sp>
    </p:spTree>
    <p:extLst>
      <p:ext uri="{BB962C8B-B14F-4D97-AF65-F5344CB8AC3E}">
        <p14:creationId xmlns:p14="http://schemas.microsoft.com/office/powerpoint/2010/main" val="913299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7665</TotalTime>
  <Words>1475</Words>
  <Application>Microsoft Macintosh PowerPoint</Application>
  <PresentationFormat>Widescreen</PresentationFormat>
  <Paragraphs>170</Paragraphs>
  <Slides>31</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Calibri Light</vt:lpstr>
      <vt:lpstr>Office Theme</vt:lpstr>
      <vt:lpstr>Multiplication and Division Operation Sense</vt:lpstr>
      <vt:lpstr>Agenda</vt:lpstr>
      <vt:lpstr>Semantic vs Calculation Equations &amp; Process Standards</vt:lpstr>
      <vt:lpstr>Vertical Articulation: Grade 2-3</vt:lpstr>
      <vt:lpstr>Vertical Articulation: Grade 2-3</vt:lpstr>
      <vt:lpstr>What does operation sense mean?</vt:lpstr>
      <vt:lpstr>Multiplication &amp; Division Problem Structures</vt:lpstr>
      <vt:lpstr>PowerPoint Presentation</vt:lpstr>
      <vt:lpstr>Why Care About Problem Structures?</vt:lpstr>
      <vt:lpstr>Problem Structure, Unknown Parts, and Modeling Practice</vt:lpstr>
      <vt:lpstr>Reminder from N101</vt:lpstr>
      <vt:lpstr>Reminder from N101</vt:lpstr>
      <vt:lpstr>PowerPoint Presentation</vt:lpstr>
      <vt:lpstr>Multiplicative Structure Problems</vt:lpstr>
      <vt:lpstr>Make Your Own Problem</vt:lpstr>
      <vt:lpstr>Until Next Time…</vt:lpstr>
      <vt:lpstr>Area Problems</vt:lpstr>
      <vt:lpstr>Combination Problems</vt:lpstr>
      <vt:lpstr>Equal-Group Problems</vt:lpstr>
      <vt:lpstr>Comparison Problems</vt:lpstr>
      <vt:lpstr>Array Problems</vt:lpstr>
      <vt:lpstr>PowerPoint Presentation</vt:lpstr>
      <vt:lpstr>Multiplication Properties</vt:lpstr>
      <vt:lpstr>Commutativity and Associativity</vt:lpstr>
      <vt:lpstr>PowerPoint Presentation</vt:lpstr>
      <vt:lpstr>Distributive Property</vt:lpstr>
      <vt:lpstr>PowerPoint Presentation</vt:lpstr>
      <vt:lpstr>Problem Solving</vt:lpstr>
      <vt:lpstr>VdW advocates for:</vt:lpstr>
      <vt:lpstr>PowerPoint Presentation</vt:lpstr>
      <vt:lpstr>VdW advocates for: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Basic Facts</dc:title>
  <dc:creator>Tillema, Erik</dc:creator>
  <cp:lastModifiedBy>Tillema, Erik</cp:lastModifiedBy>
  <cp:revision>27</cp:revision>
  <dcterms:created xsi:type="dcterms:W3CDTF">2020-11-02T13:31:05Z</dcterms:created>
  <dcterms:modified xsi:type="dcterms:W3CDTF">2025-10-29T16:05:11Z</dcterms:modified>
</cp:coreProperties>
</file>