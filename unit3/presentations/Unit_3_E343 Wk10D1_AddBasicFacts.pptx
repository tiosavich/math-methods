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0.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12.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notesMasterIdLst>
    <p:notesMasterId r:id="rId19"/>
  </p:notesMasterIdLst>
  <p:sldIdLst>
    <p:sldId id="256" r:id="rId2"/>
    <p:sldId id="382" r:id="rId3"/>
    <p:sldId id="386" r:id="rId4"/>
    <p:sldId id="387" r:id="rId5"/>
    <p:sldId id="385" r:id="rId6"/>
    <p:sldId id="381" r:id="rId7"/>
    <p:sldId id="380" r:id="rId8"/>
    <p:sldId id="388" r:id="rId9"/>
    <p:sldId id="367" r:id="rId10"/>
    <p:sldId id="376" r:id="rId11"/>
    <p:sldId id="377" r:id="rId12"/>
    <p:sldId id="374" r:id="rId13"/>
    <p:sldId id="264" r:id="rId14"/>
    <p:sldId id="262" r:id="rId15"/>
    <p:sldId id="383" r:id="rId16"/>
    <p:sldId id="379" r:id="rId17"/>
    <p:sldId id="38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23699"/>
    <p:restoredTop sz="80959"/>
  </p:normalViewPr>
  <p:slideViewPr>
    <p:cSldViewPr snapToGrid="0" snapToObjects="1">
      <p:cViewPr varScale="1">
        <p:scale>
          <a:sx n="97" d="100"/>
          <a:sy n="97" d="100"/>
        </p:scale>
        <p:origin x="1088" y="19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_rels/data4.xml.rels><?xml version="1.0" encoding="UTF-8"?><Relationships xmlns="http://schemas.openxmlformats.org/package/2006/relationships"><Relationship Id="rId3" Type="http://schemas.openxmlformats.org/officeDocument/2006/relationships/image" Target="../media/image6.svg"/><Relationship Id="rId2" Type="http://schemas.openxmlformats.org/officeDocument/2006/relationships/image" Target="../media/image5.svg"/><Relationship Id="rId1" Type="http://schemas.openxmlformats.org/officeDocument/2006/relationships/hyperlink" Target="https://iu.mediaspace.kaltura.com/media/t/1_we5lzr9q" TargetMode="External"/><Relationship Id="rId5" Type="http://schemas.openxmlformats.org/officeDocument/2006/relationships/image" Target="../media/image8.svg"/><Relationship Id="rId4" Type="http://schemas.openxmlformats.org/officeDocument/2006/relationships/image" Target="../media/image7.svg"/></Relationships>
</file>

<file path=ppt/diagrams/_rels/drawing4.xml.rels><?xml version="1.0" encoding="UTF-8"?><Relationships xmlns="http://schemas.openxmlformats.org/package/2006/relationships"><Relationship Id="rId3" Type="http://schemas.openxmlformats.org/officeDocument/2006/relationships/image" Target="../media/image7.svg"/><Relationship Id="rId2" Type="http://schemas.openxmlformats.org/officeDocument/2006/relationships/image" Target="../media/image6.svg"/><Relationship Id="rId1" Type="http://schemas.openxmlformats.org/officeDocument/2006/relationships/image" Target="../media/image5.svg"/><Relationship Id="rId5" Type="http://schemas.openxmlformats.org/officeDocument/2006/relationships/hyperlink" Target="https://iu.mediaspace.kaltura.com/media/t/1_we5lzr9q" TargetMode="External"/><Relationship Id="rId4" Type="http://schemas.openxmlformats.org/officeDocument/2006/relationships/image" Target="../media/image8.svg"/></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icon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F4C3AA92-265A-4D45-B307-B1035EA16A8C}" type="doc">
      <dgm:prSet loTypeId="urn:microsoft.com/office/officeart/2005/8/layout/hProcess9" loCatId="" qsTypeId="urn:microsoft.com/office/officeart/2005/8/quickstyle/simple1" qsCatId="simple" csTypeId="urn:microsoft.com/office/officeart/2005/8/colors/colorful1" csCatId="colorful" phldr="1"/>
      <dgm:spPr/>
    </dgm:pt>
    <dgm:pt modelId="{D9E0707D-201E-2348-9D91-260CE2D68B3C}">
      <dgm:prSet phldrT="[Text]"/>
      <dgm:spPr/>
      <dgm:t xml:space="preserve">
        <a:bodyPr/>
        <a:lstStyle/>
        <a:p>
          <a:r>
            <a:rPr lang="en-US" dirty="0"/>
            <a:t>Phase 1: Counting Strategies</a:t>
          </a:r>
        </a:p>
      </dgm:t>
    </dgm:pt>
    <dgm:pt modelId="{DA489E6E-88F9-8241-9868-9C62918A3927}" type="parTrans" cxnId="{0B6A5866-7832-A842-A109-E7DB6CCDD385}">
      <dgm:prSet/>
      <dgm:spPr/>
      <dgm:t xml:space="preserve">
        <a:bodyPr/>
        <a:lstStyle/>
        <a:p>
          <a:endParaRPr lang="en-US"/>
        </a:p>
      </dgm:t>
    </dgm:pt>
    <dgm:pt modelId="{CDA06645-0BEE-6C42-B952-433231F93171}" type="sibTrans" cxnId="{0B6A5866-7832-A842-A109-E7DB6CCDD385}">
      <dgm:prSet/>
      <dgm:spPr/>
      <dgm:t xml:space="preserve">
        <a:bodyPr/>
        <a:lstStyle/>
        <a:p>
          <a:endParaRPr lang="en-US"/>
        </a:p>
      </dgm:t>
    </dgm:pt>
    <dgm:pt modelId="{17C506D6-A9BB-2D4D-A5DE-3CC8DFEA6C1A}">
      <dgm:prSet phldrT="[Text]"/>
      <dgm:spPr/>
      <dgm:t xml:space="preserve">
        <a:bodyPr/>
        <a:lstStyle/>
        <a:p>
          <a:r>
            <a:rPr lang="en-US" dirty="0"/>
            <a:t>Phase 2: Reasoning Strategies</a:t>
          </a:r>
        </a:p>
      </dgm:t>
    </dgm:pt>
    <dgm:pt modelId="{E5E61C54-8C59-C24C-AD7E-B63FDD0BF19D}" type="parTrans" cxnId="{4469ABF6-D4C2-7442-8B11-31DCA74CD7C1}">
      <dgm:prSet/>
      <dgm:spPr/>
      <dgm:t xml:space="preserve">
        <a:bodyPr/>
        <a:lstStyle/>
        <a:p>
          <a:endParaRPr lang="en-US"/>
        </a:p>
      </dgm:t>
    </dgm:pt>
    <dgm:pt modelId="{1A72519A-25A9-BB47-B005-16B617C949B5}" type="sibTrans" cxnId="{4469ABF6-D4C2-7442-8B11-31DCA74CD7C1}">
      <dgm:prSet/>
      <dgm:spPr/>
      <dgm:t xml:space="preserve">
        <a:bodyPr/>
        <a:lstStyle/>
        <a:p>
          <a:endParaRPr lang="en-US"/>
        </a:p>
      </dgm:t>
    </dgm:pt>
    <dgm:pt modelId="{C69C5882-3DB8-0544-9FBE-6A0C4831DE47}">
      <dgm:prSet phldrT="[Text]"/>
      <dgm:spPr/>
      <dgm:t xml:space="preserve">
        <a:bodyPr/>
        <a:lstStyle/>
        <a:p>
          <a:r>
            <a:rPr lang="en-US" dirty="0"/>
            <a:t xml:space="preserve">Phase 3: Mastery!           </a:t>
          </a:r>
          <a:r>
            <a:rPr lang="en-US" dirty="0">
              <a:solidFill>
                <a:schemeClr val="accent4"/>
              </a:solidFill>
            </a:rPr>
            <a:t>.</a:t>
          </a:r>
        </a:p>
      </dgm:t>
    </dgm:pt>
    <dgm:pt modelId="{30BCA188-BBCC-0548-8A0A-461CFBE8427B}" type="parTrans" cxnId="{56ED0AAC-B53C-BF41-8823-0F5F22C24E28}">
      <dgm:prSet/>
      <dgm:spPr/>
      <dgm:t xml:space="preserve">
        <a:bodyPr/>
        <a:lstStyle/>
        <a:p>
          <a:endParaRPr lang="en-US"/>
        </a:p>
      </dgm:t>
    </dgm:pt>
    <dgm:pt modelId="{2B3CC4A1-E388-D64A-A4A5-EE44426B08EA}" type="sibTrans" cxnId="{56ED0AAC-B53C-BF41-8823-0F5F22C24E28}">
      <dgm:prSet/>
      <dgm:spPr/>
      <dgm:t xml:space="preserve">
        <a:bodyPr/>
        <a:lstStyle/>
        <a:p>
          <a:endParaRPr lang="en-US"/>
        </a:p>
      </dgm:t>
    </dgm:pt>
    <dgm:pt modelId="{10ABFDE7-9714-F841-8D9E-4A58D2FD8F3E}" type="pres">
      <dgm:prSet presAssocID="{F4C3AA92-265A-4D45-B307-B1035EA16A8C}" presName="CompostProcess" presStyleCnt="0">
        <dgm:presLayoutVars>
          <dgm:dir/>
          <dgm:resizeHandles val="exact"/>
        </dgm:presLayoutVars>
      </dgm:prSet>
      <dgm:spPr/>
    </dgm:pt>
    <dgm:pt modelId="{CDA22900-AA0D-FC4B-92C2-878ED95864A8}" type="pres">
      <dgm:prSet presAssocID="{F4C3AA92-265A-4D45-B307-B1035EA16A8C}" presName="arrow" presStyleLbl="bgShp" presStyleIdx="0" presStyleCnt="1" custScaleY="89339"/>
      <dgm:spPr/>
    </dgm:pt>
    <dgm:pt modelId="{C575BFDC-D242-B24E-9EB0-BC503AE8C3D8}" type="pres">
      <dgm:prSet presAssocID="{F4C3AA92-265A-4D45-B307-B1035EA16A8C}" presName="linearProcess" presStyleCnt="0"/>
      <dgm:spPr/>
    </dgm:pt>
    <dgm:pt modelId="{397F5562-44C2-6A44-8BC3-084CFB397752}" type="pres">
      <dgm:prSet presAssocID="{D9E0707D-201E-2348-9D91-260CE2D68B3C}" presName="textNode" presStyleLbl="node1" presStyleIdx="0" presStyleCnt="3" custScaleX="73748">
        <dgm:presLayoutVars>
          <dgm:bulletEnabled val="1"/>
        </dgm:presLayoutVars>
      </dgm:prSet>
      <dgm:spPr/>
    </dgm:pt>
    <dgm:pt modelId="{84238AA5-5B29-E543-9C37-635AE644FFE9}" type="pres">
      <dgm:prSet presAssocID="{CDA06645-0BEE-6C42-B952-433231F93171}" presName="sibTrans" presStyleCnt="0"/>
      <dgm:spPr/>
    </dgm:pt>
    <dgm:pt modelId="{572D7943-3057-B747-A6EE-4F902D812A5F}" type="pres">
      <dgm:prSet presAssocID="{17C506D6-A9BB-2D4D-A5DE-3CC8DFEA6C1A}" presName="textNode" presStyleLbl="node1" presStyleIdx="1" presStyleCnt="3" custScaleX="69836">
        <dgm:presLayoutVars>
          <dgm:bulletEnabled val="1"/>
        </dgm:presLayoutVars>
      </dgm:prSet>
      <dgm:spPr/>
    </dgm:pt>
    <dgm:pt modelId="{15A54AFA-DC41-0445-AA20-045DDA585292}" type="pres">
      <dgm:prSet presAssocID="{1A72519A-25A9-BB47-B005-16B617C949B5}" presName="sibTrans" presStyleCnt="0"/>
      <dgm:spPr/>
    </dgm:pt>
    <dgm:pt modelId="{8321C8D1-AE30-E24A-B033-83328E633B45}" type="pres">
      <dgm:prSet presAssocID="{C69C5882-3DB8-0544-9FBE-6A0C4831DE47}" presName="textNode" presStyleLbl="node1" presStyleIdx="2" presStyleCnt="3" custScaleX="68867">
        <dgm:presLayoutVars>
          <dgm:bulletEnabled val="1"/>
        </dgm:presLayoutVars>
      </dgm:prSet>
      <dgm:spPr/>
    </dgm:pt>
  </dgm:ptLst>
  <dgm:cxnLst>
    <dgm:cxn modelId="{F9EE5A31-21E1-0D47-AA32-FA894D255F4C}" type="presOf" srcId="{17C506D6-A9BB-2D4D-A5DE-3CC8DFEA6C1A}" destId="{572D7943-3057-B747-A6EE-4F902D812A5F}" srcOrd="0" destOrd="0" presId="urn:microsoft.com/office/officeart/2005/8/layout/hProcess9"/>
    <dgm:cxn modelId="{B8232F3B-6670-CE41-993A-DB52960001C5}" type="presOf" srcId="{F4C3AA92-265A-4D45-B307-B1035EA16A8C}" destId="{10ABFDE7-9714-F841-8D9E-4A58D2FD8F3E}" srcOrd="0" destOrd="0" presId="urn:microsoft.com/office/officeart/2005/8/layout/hProcess9"/>
    <dgm:cxn modelId="{4DA5C13E-BF37-8A4C-81E0-D49AAF8A2FFC}" type="presOf" srcId="{D9E0707D-201E-2348-9D91-260CE2D68B3C}" destId="{397F5562-44C2-6A44-8BC3-084CFB397752}" srcOrd="0" destOrd="0" presId="urn:microsoft.com/office/officeart/2005/8/layout/hProcess9"/>
    <dgm:cxn modelId="{0B6A5866-7832-A842-A109-E7DB6CCDD385}" srcId="{F4C3AA92-265A-4D45-B307-B1035EA16A8C}" destId="{D9E0707D-201E-2348-9D91-260CE2D68B3C}" srcOrd="0" destOrd="0" parTransId="{DA489E6E-88F9-8241-9868-9C62918A3927}" sibTransId="{CDA06645-0BEE-6C42-B952-433231F93171}"/>
    <dgm:cxn modelId="{B8082799-B443-5846-BEE1-8008AD24878E}" type="presOf" srcId="{C69C5882-3DB8-0544-9FBE-6A0C4831DE47}" destId="{8321C8D1-AE30-E24A-B033-83328E633B45}" srcOrd="0" destOrd="0" presId="urn:microsoft.com/office/officeart/2005/8/layout/hProcess9"/>
    <dgm:cxn modelId="{56ED0AAC-B53C-BF41-8823-0F5F22C24E28}" srcId="{F4C3AA92-265A-4D45-B307-B1035EA16A8C}" destId="{C69C5882-3DB8-0544-9FBE-6A0C4831DE47}" srcOrd="2" destOrd="0" parTransId="{30BCA188-BBCC-0548-8A0A-461CFBE8427B}" sibTransId="{2B3CC4A1-E388-D64A-A4A5-EE44426B08EA}"/>
    <dgm:cxn modelId="{4469ABF6-D4C2-7442-8B11-31DCA74CD7C1}" srcId="{F4C3AA92-265A-4D45-B307-B1035EA16A8C}" destId="{17C506D6-A9BB-2D4D-A5DE-3CC8DFEA6C1A}" srcOrd="1" destOrd="0" parTransId="{E5E61C54-8C59-C24C-AD7E-B63FDD0BF19D}" sibTransId="{1A72519A-25A9-BB47-B005-16B617C949B5}"/>
    <dgm:cxn modelId="{EED1CF86-92A6-5B40-AB3F-A6B3A9DF1396}" type="presParOf" srcId="{10ABFDE7-9714-F841-8D9E-4A58D2FD8F3E}" destId="{CDA22900-AA0D-FC4B-92C2-878ED95864A8}" srcOrd="0" destOrd="0" presId="urn:microsoft.com/office/officeart/2005/8/layout/hProcess9"/>
    <dgm:cxn modelId="{3574DC62-12E3-0C40-ABE0-CA5FFE94218B}" type="presParOf" srcId="{10ABFDE7-9714-F841-8D9E-4A58D2FD8F3E}" destId="{C575BFDC-D242-B24E-9EB0-BC503AE8C3D8}" srcOrd="1" destOrd="0" presId="urn:microsoft.com/office/officeart/2005/8/layout/hProcess9"/>
    <dgm:cxn modelId="{B80F1398-3F94-0A4F-95A0-4E5BB5CC44B6}" type="presParOf" srcId="{C575BFDC-D242-B24E-9EB0-BC503AE8C3D8}" destId="{397F5562-44C2-6A44-8BC3-084CFB397752}" srcOrd="0" destOrd="0" presId="urn:microsoft.com/office/officeart/2005/8/layout/hProcess9"/>
    <dgm:cxn modelId="{90A15BA2-7251-BE40-8171-46609FCFA7D2}" type="presParOf" srcId="{C575BFDC-D242-B24E-9EB0-BC503AE8C3D8}" destId="{84238AA5-5B29-E543-9C37-635AE644FFE9}" srcOrd="1" destOrd="0" presId="urn:microsoft.com/office/officeart/2005/8/layout/hProcess9"/>
    <dgm:cxn modelId="{349B69D7-9BDB-0C48-81D0-101AA890885D}" type="presParOf" srcId="{C575BFDC-D242-B24E-9EB0-BC503AE8C3D8}" destId="{572D7943-3057-B747-A6EE-4F902D812A5F}" srcOrd="2" destOrd="0" presId="urn:microsoft.com/office/officeart/2005/8/layout/hProcess9"/>
    <dgm:cxn modelId="{9DE95139-CDA0-EF4F-A1F7-BE74FDD63DC4}" type="presParOf" srcId="{C575BFDC-D242-B24E-9EB0-BC503AE8C3D8}" destId="{15A54AFA-DC41-0445-AA20-045DDA585292}" srcOrd="3" destOrd="0" presId="urn:microsoft.com/office/officeart/2005/8/layout/hProcess9"/>
    <dgm:cxn modelId="{6BCD1AA1-DE93-334E-BEAE-4D595E2DE0C0}" type="presParOf" srcId="{C575BFDC-D242-B24E-9EB0-BC503AE8C3D8}" destId="{8321C8D1-AE30-E24A-B033-83328E633B45}" srcOrd="4"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F4C3AA92-265A-4D45-B307-B1035EA16A8C}" type="doc">
      <dgm:prSet loTypeId="urn:microsoft.com/office/officeart/2005/8/layout/hProcess9" loCatId="" qsTypeId="urn:microsoft.com/office/officeart/2005/8/quickstyle/simple1" qsCatId="simple" csTypeId="urn:microsoft.com/office/officeart/2005/8/colors/colorful1" csCatId="colorful" phldr="1"/>
      <dgm:spPr/>
    </dgm:pt>
    <dgm:pt modelId="{D9E0707D-201E-2348-9D91-260CE2D68B3C}">
      <dgm:prSet phldrT="[Text]"/>
      <dgm:spPr/>
      <dgm:t xml:space="preserve">
        <a:bodyPr/>
        <a:lstStyle/>
        <a:p>
          <a:r>
            <a:rPr lang="en-US" dirty="0"/>
            <a:t>Phase 1: Counting Strategies</a:t>
          </a:r>
        </a:p>
      </dgm:t>
    </dgm:pt>
    <dgm:pt modelId="{DA489E6E-88F9-8241-9868-9C62918A3927}" type="parTrans" cxnId="{0B6A5866-7832-A842-A109-E7DB6CCDD385}">
      <dgm:prSet/>
      <dgm:spPr/>
      <dgm:t xml:space="preserve">
        <a:bodyPr/>
        <a:lstStyle/>
        <a:p>
          <a:endParaRPr lang="en-US"/>
        </a:p>
      </dgm:t>
    </dgm:pt>
    <dgm:pt modelId="{CDA06645-0BEE-6C42-B952-433231F93171}" type="sibTrans" cxnId="{0B6A5866-7832-A842-A109-E7DB6CCDD385}">
      <dgm:prSet/>
      <dgm:spPr/>
      <dgm:t xml:space="preserve">
        <a:bodyPr/>
        <a:lstStyle/>
        <a:p>
          <a:endParaRPr lang="en-US"/>
        </a:p>
      </dgm:t>
    </dgm:pt>
    <dgm:pt modelId="{17C506D6-A9BB-2D4D-A5DE-3CC8DFEA6C1A}">
      <dgm:prSet phldrT="[Text]"/>
      <dgm:spPr/>
      <dgm:t xml:space="preserve">
        <a:bodyPr/>
        <a:lstStyle/>
        <a:p>
          <a:r>
            <a:rPr lang="en-US" dirty="0"/>
            <a:t>Phase 2: Reasoning Strategies</a:t>
          </a:r>
        </a:p>
      </dgm:t>
    </dgm:pt>
    <dgm:pt modelId="{E5E61C54-8C59-C24C-AD7E-B63FDD0BF19D}" type="parTrans" cxnId="{4469ABF6-D4C2-7442-8B11-31DCA74CD7C1}">
      <dgm:prSet/>
      <dgm:spPr/>
      <dgm:t xml:space="preserve">
        <a:bodyPr/>
        <a:lstStyle/>
        <a:p>
          <a:endParaRPr lang="en-US"/>
        </a:p>
      </dgm:t>
    </dgm:pt>
    <dgm:pt modelId="{1A72519A-25A9-BB47-B005-16B617C949B5}" type="sibTrans" cxnId="{4469ABF6-D4C2-7442-8B11-31DCA74CD7C1}">
      <dgm:prSet/>
      <dgm:spPr/>
      <dgm:t xml:space="preserve">
        <a:bodyPr/>
        <a:lstStyle/>
        <a:p>
          <a:endParaRPr lang="en-US"/>
        </a:p>
      </dgm:t>
    </dgm:pt>
    <dgm:pt modelId="{C69C5882-3DB8-0544-9FBE-6A0C4831DE47}">
      <dgm:prSet phldrT="[Text]"/>
      <dgm:spPr/>
      <dgm:t xml:space="preserve">
        <a:bodyPr/>
        <a:lstStyle/>
        <a:p>
          <a:r>
            <a:rPr lang="en-US" dirty="0"/>
            <a:t xml:space="preserve">Phase 3: Mastery!           </a:t>
          </a:r>
          <a:r>
            <a:rPr lang="en-US" dirty="0">
              <a:solidFill>
                <a:schemeClr val="accent4"/>
              </a:solidFill>
            </a:rPr>
            <a:t>.</a:t>
          </a:r>
        </a:p>
      </dgm:t>
    </dgm:pt>
    <dgm:pt modelId="{30BCA188-BBCC-0548-8A0A-461CFBE8427B}" type="parTrans" cxnId="{56ED0AAC-B53C-BF41-8823-0F5F22C24E28}">
      <dgm:prSet/>
      <dgm:spPr/>
      <dgm:t xml:space="preserve">
        <a:bodyPr/>
        <a:lstStyle/>
        <a:p>
          <a:endParaRPr lang="en-US"/>
        </a:p>
      </dgm:t>
    </dgm:pt>
    <dgm:pt modelId="{2B3CC4A1-E388-D64A-A4A5-EE44426B08EA}" type="sibTrans" cxnId="{56ED0AAC-B53C-BF41-8823-0F5F22C24E28}">
      <dgm:prSet/>
      <dgm:spPr/>
      <dgm:t xml:space="preserve">
        <a:bodyPr/>
        <a:lstStyle/>
        <a:p>
          <a:endParaRPr lang="en-US"/>
        </a:p>
      </dgm:t>
    </dgm:pt>
    <dgm:pt modelId="{10ABFDE7-9714-F841-8D9E-4A58D2FD8F3E}" type="pres">
      <dgm:prSet presAssocID="{F4C3AA92-265A-4D45-B307-B1035EA16A8C}" presName="CompostProcess" presStyleCnt="0">
        <dgm:presLayoutVars>
          <dgm:dir/>
          <dgm:resizeHandles val="exact"/>
        </dgm:presLayoutVars>
      </dgm:prSet>
      <dgm:spPr/>
    </dgm:pt>
    <dgm:pt modelId="{CDA22900-AA0D-FC4B-92C2-878ED95864A8}" type="pres">
      <dgm:prSet presAssocID="{F4C3AA92-265A-4D45-B307-B1035EA16A8C}" presName="arrow" presStyleLbl="bgShp" presStyleIdx="0" presStyleCnt="1" custScaleY="89339"/>
      <dgm:spPr/>
    </dgm:pt>
    <dgm:pt modelId="{C575BFDC-D242-B24E-9EB0-BC503AE8C3D8}" type="pres">
      <dgm:prSet presAssocID="{F4C3AA92-265A-4D45-B307-B1035EA16A8C}" presName="linearProcess" presStyleCnt="0"/>
      <dgm:spPr/>
    </dgm:pt>
    <dgm:pt modelId="{397F5562-44C2-6A44-8BC3-084CFB397752}" type="pres">
      <dgm:prSet presAssocID="{D9E0707D-201E-2348-9D91-260CE2D68B3C}" presName="textNode" presStyleLbl="node1" presStyleIdx="0" presStyleCnt="3" custScaleX="73748">
        <dgm:presLayoutVars>
          <dgm:bulletEnabled val="1"/>
        </dgm:presLayoutVars>
      </dgm:prSet>
      <dgm:spPr/>
    </dgm:pt>
    <dgm:pt modelId="{84238AA5-5B29-E543-9C37-635AE644FFE9}" type="pres">
      <dgm:prSet presAssocID="{CDA06645-0BEE-6C42-B952-433231F93171}" presName="sibTrans" presStyleCnt="0"/>
      <dgm:spPr/>
    </dgm:pt>
    <dgm:pt modelId="{572D7943-3057-B747-A6EE-4F902D812A5F}" type="pres">
      <dgm:prSet presAssocID="{17C506D6-A9BB-2D4D-A5DE-3CC8DFEA6C1A}" presName="textNode" presStyleLbl="node1" presStyleIdx="1" presStyleCnt="3" custScaleX="69836">
        <dgm:presLayoutVars>
          <dgm:bulletEnabled val="1"/>
        </dgm:presLayoutVars>
      </dgm:prSet>
      <dgm:spPr/>
    </dgm:pt>
    <dgm:pt modelId="{15A54AFA-DC41-0445-AA20-045DDA585292}" type="pres">
      <dgm:prSet presAssocID="{1A72519A-25A9-BB47-B005-16B617C949B5}" presName="sibTrans" presStyleCnt="0"/>
      <dgm:spPr/>
    </dgm:pt>
    <dgm:pt modelId="{8321C8D1-AE30-E24A-B033-83328E633B45}" type="pres">
      <dgm:prSet presAssocID="{C69C5882-3DB8-0544-9FBE-6A0C4831DE47}" presName="textNode" presStyleLbl="node1" presStyleIdx="2" presStyleCnt="3" custScaleX="68867">
        <dgm:presLayoutVars>
          <dgm:bulletEnabled val="1"/>
        </dgm:presLayoutVars>
      </dgm:prSet>
      <dgm:spPr/>
    </dgm:pt>
  </dgm:ptLst>
  <dgm:cxnLst>
    <dgm:cxn modelId="{F9EE5A31-21E1-0D47-AA32-FA894D255F4C}" type="presOf" srcId="{17C506D6-A9BB-2D4D-A5DE-3CC8DFEA6C1A}" destId="{572D7943-3057-B747-A6EE-4F902D812A5F}" srcOrd="0" destOrd="0" presId="urn:microsoft.com/office/officeart/2005/8/layout/hProcess9"/>
    <dgm:cxn modelId="{B8232F3B-6670-CE41-993A-DB52960001C5}" type="presOf" srcId="{F4C3AA92-265A-4D45-B307-B1035EA16A8C}" destId="{10ABFDE7-9714-F841-8D9E-4A58D2FD8F3E}" srcOrd="0" destOrd="0" presId="urn:microsoft.com/office/officeart/2005/8/layout/hProcess9"/>
    <dgm:cxn modelId="{4DA5C13E-BF37-8A4C-81E0-D49AAF8A2FFC}" type="presOf" srcId="{D9E0707D-201E-2348-9D91-260CE2D68B3C}" destId="{397F5562-44C2-6A44-8BC3-084CFB397752}" srcOrd="0" destOrd="0" presId="urn:microsoft.com/office/officeart/2005/8/layout/hProcess9"/>
    <dgm:cxn modelId="{0B6A5866-7832-A842-A109-E7DB6CCDD385}" srcId="{F4C3AA92-265A-4D45-B307-B1035EA16A8C}" destId="{D9E0707D-201E-2348-9D91-260CE2D68B3C}" srcOrd="0" destOrd="0" parTransId="{DA489E6E-88F9-8241-9868-9C62918A3927}" sibTransId="{CDA06645-0BEE-6C42-B952-433231F93171}"/>
    <dgm:cxn modelId="{B8082799-B443-5846-BEE1-8008AD24878E}" type="presOf" srcId="{C69C5882-3DB8-0544-9FBE-6A0C4831DE47}" destId="{8321C8D1-AE30-E24A-B033-83328E633B45}" srcOrd="0" destOrd="0" presId="urn:microsoft.com/office/officeart/2005/8/layout/hProcess9"/>
    <dgm:cxn modelId="{56ED0AAC-B53C-BF41-8823-0F5F22C24E28}" srcId="{F4C3AA92-265A-4D45-B307-B1035EA16A8C}" destId="{C69C5882-3DB8-0544-9FBE-6A0C4831DE47}" srcOrd="2" destOrd="0" parTransId="{30BCA188-BBCC-0548-8A0A-461CFBE8427B}" sibTransId="{2B3CC4A1-E388-D64A-A4A5-EE44426B08EA}"/>
    <dgm:cxn modelId="{4469ABF6-D4C2-7442-8B11-31DCA74CD7C1}" srcId="{F4C3AA92-265A-4D45-B307-B1035EA16A8C}" destId="{17C506D6-A9BB-2D4D-A5DE-3CC8DFEA6C1A}" srcOrd="1" destOrd="0" parTransId="{E5E61C54-8C59-C24C-AD7E-B63FDD0BF19D}" sibTransId="{1A72519A-25A9-BB47-B005-16B617C949B5}"/>
    <dgm:cxn modelId="{EED1CF86-92A6-5B40-AB3F-A6B3A9DF1396}" type="presParOf" srcId="{10ABFDE7-9714-F841-8D9E-4A58D2FD8F3E}" destId="{CDA22900-AA0D-FC4B-92C2-878ED95864A8}" srcOrd="0" destOrd="0" presId="urn:microsoft.com/office/officeart/2005/8/layout/hProcess9"/>
    <dgm:cxn modelId="{3574DC62-12E3-0C40-ABE0-CA5FFE94218B}" type="presParOf" srcId="{10ABFDE7-9714-F841-8D9E-4A58D2FD8F3E}" destId="{C575BFDC-D242-B24E-9EB0-BC503AE8C3D8}" srcOrd="1" destOrd="0" presId="urn:microsoft.com/office/officeart/2005/8/layout/hProcess9"/>
    <dgm:cxn modelId="{B80F1398-3F94-0A4F-95A0-4E5BB5CC44B6}" type="presParOf" srcId="{C575BFDC-D242-B24E-9EB0-BC503AE8C3D8}" destId="{397F5562-44C2-6A44-8BC3-084CFB397752}" srcOrd="0" destOrd="0" presId="urn:microsoft.com/office/officeart/2005/8/layout/hProcess9"/>
    <dgm:cxn modelId="{90A15BA2-7251-BE40-8171-46609FCFA7D2}" type="presParOf" srcId="{C575BFDC-D242-B24E-9EB0-BC503AE8C3D8}" destId="{84238AA5-5B29-E543-9C37-635AE644FFE9}" srcOrd="1" destOrd="0" presId="urn:microsoft.com/office/officeart/2005/8/layout/hProcess9"/>
    <dgm:cxn modelId="{349B69D7-9BDB-0C48-81D0-101AA890885D}" type="presParOf" srcId="{C575BFDC-D242-B24E-9EB0-BC503AE8C3D8}" destId="{572D7943-3057-B747-A6EE-4F902D812A5F}" srcOrd="2" destOrd="0" presId="urn:microsoft.com/office/officeart/2005/8/layout/hProcess9"/>
    <dgm:cxn modelId="{9DE95139-CDA0-EF4F-A1F7-BE74FDD63DC4}" type="presParOf" srcId="{C575BFDC-D242-B24E-9EB0-BC503AE8C3D8}" destId="{15A54AFA-DC41-0445-AA20-045DDA585292}" srcOrd="3" destOrd="0" presId="urn:microsoft.com/office/officeart/2005/8/layout/hProcess9"/>
    <dgm:cxn modelId="{6BCD1AA1-DE93-334E-BEAE-4D595E2DE0C0}" type="presParOf" srcId="{C575BFDC-D242-B24E-9EB0-BC503AE8C3D8}" destId="{8321C8D1-AE30-E24A-B033-83328E633B45}" srcOrd="4"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4C3AA92-265A-4D45-B307-B1035EA16A8C}" type="doc">
      <dgm:prSet loTypeId="urn:microsoft.com/office/officeart/2005/8/layout/hProcess9" loCatId="" qsTypeId="urn:microsoft.com/office/officeart/2005/8/quickstyle/simple1" qsCatId="simple" csTypeId="urn:microsoft.com/office/officeart/2005/8/colors/colorful1" csCatId="colorful" phldr="1"/>
      <dgm:spPr/>
    </dgm:pt>
    <dgm:pt modelId="{D9E0707D-201E-2348-9D91-260CE2D68B3C}">
      <dgm:prSet phldrT="[Text]"/>
      <dgm:spPr/>
      <dgm:t xml:space="preserve">
        <a:bodyPr/>
        <a:lstStyle/>
        <a:p>
          <a:r>
            <a:rPr lang="en-US" dirty="0"/>
            <a:t>Phase 1: Counting Strategies</a:t>
          </a:r>
        </a:p>
      </dgm:t>
    </dgm:pt>
    <dgm:pt modelId="{DA489E6E-88F9-8241-9868-9C62918A3927}" type="parTrans" cxnId="{0B6A5866-7832-A842-A109-E7DB6CCDD385}">
      <dgm:prSet/>
      <dgm:spPr/>
      <dgm:t xml:space="preserve">
        <a:bodyPr/>
        <a:lstStyle/>
        <a:p>
          <a:endParaRPr lang="en-US"/>
        </a:p>
      </dgm:t>
    </dgm:pt>
    <dgm:pt modelId="{CDA06645-0BEE-6C42-B952-433231F93171}" type="sibTrans" cxnId="{0B6A5866-7832-A842-A109-E7DB6CCDD385}">
      <dgm:prSet/>
      <dgm:spPr/>
      <dgm:t xml:space="preserve">
        <a:bodyPr/>
        <a:lstStyle/>
        <a:p>
          <a:endParaRPr lang="en-US"/>
        </a:p>
      </dgm:t>
    </dgm:pt>
    <dgm:pt modelId="{C69C5882-3DB8-0544-9FBE-6A0C4831DE47}">
      <dgm:prSet phldrT="[Text]"/>
      <dgm:spPr/>
      <dgm:t xml:space="preserve">
        <a:bodyPr/>
        <a:lstStyle/>
        <a:p>
          <a:r>
            <a:rPr lang="en-US" dirty="0"/>
            <a:t>Phase 3: Mastery</a:t>
          </a:r>
          <a:endParaRPr lang="en-US" dirty="0">
            <a:solidFill>
              <a:schemeClr val="accent4"/>
            </a:solidFill>
          </a:endParaRPr>
        </a:p>
      </dgm:t>
    </dgm:pt>
    <dgm:pt modelId="{30BCA188-BBCC-0548-8A0A-461CFBE8427B}" type="parTrans" cxnId="{56ED0AAC-B53C-BF41-8823-0F5F22C24E28}">
      <dgm:prSet/>
      <dgm:spPr/>
      <dgm:t xml:space="preserve">
        <a:bodyPr/>
        <a:lstStyle/>
        <a:p>
          <a:endParaRPr lang="en-US"/>
        </a:p>
      </dgm:t>
    </dgm:pt>
    <dgm:pt modelId="{2B3CC4A1-E388-D64A-A4A5-EE44426B08EA}" type="sibTrans" cxnId="{56ED0AAC-B53C-BF41-8823-0F5F22C24E28}">
      <dgm:prSet/>
      <dgm:spPr/>
      <dgm:t xml:space="preserve">
        <a:bodyPr/>
        <a:lstStyle/>
        <a:p>
          <a:endParaRPr lang="en-US"/>
        </a:p>
      </dgm:t>
    </dgm:pt>
    <dgm:pt modelId="{17C506D6-A9BB-2D4D-A5DE-3CC8DFEA6C1A}">
      <dgm:prSet phldrT="[Text]"/>
      <dgm:spPr>
        <a:ln w="12700">
          <a:solidFill>
            <a:schemeClr val="bg1"/>
          </a:solidFill>
        </a:ln>
      </dgm:spPr>
      <dgm:t xml:space="preserve">
        <a:bodyPr/>
        <a:lstStyle/>
        <a:p>
          <a:r>
            <a:rPr lang="en-US" dirty="0"/>
            <a:t>Phase 2: Reasoning Strategies</a:t>
          </a:r>
        </a:p>
      </dgm:t>
    </dgm:pt>
    <dgm:pt modelId="{1A72519A-25A9-BB47-B005-16B617C949B5}" type="sibTrans" cxnId="{4469ABF6-D4C2-7442-8B11-31DCA74CD7C1}">
      <dgm:prSet/>
      <dgm:spPr/>
      <dgm:t xml:space="preserve">
        <a:bodyPr/>
        <a:lstStyle/>
        <a:p>
          <a:endParaRPr lang="en-US"/>
        </a:p>
      </dgm:t>
    </dgm:pt>
    <dgm:pt modelId="{E5E61C54-8C59-C24C-AD7E-B63FDD0BF19D}" type="parTrans" cxnId="{4469ABF6-D4C2-7442-8B11-31DCA74CD7C1}">
      <dgm:prSet/>
      <dgm:spPr/>
      <dgm:t xml:space="preserve">
        <a:bodyPr/>
        <a:lstStyle/>
        <a:p>
          <a:endParaRPr lang="en-US"/>
        </a:p>
      </dgm:t>
    </dgm:pt>
    <dgm:pt modelId="{10ABFDE7-9714-F841-8D9E-4A58D2FD8F3E}" type="pres">
      <dgm:prSet presAssocID="{F4C3AA92-265A-4D45-B307-B1035EA16A8C}" presName="CompostProcess" presStyleCnt="0">
        <dgm:presLayoutVars>
          <dgm:dir/>
          <dgm:resizeHandles val="exact"/>
        </dgm:presLayoutVars>
      </dgm:prSet>
      <dgm:spPr/>
    </dgm:pt>
    <dgm:pt modelId="{CDA22900-AA0D-FC4B-92C2-878ED95864A8}" type="pres">
      <dgm:prSet presAssocID="{F4C3AA92-265A-4D45-B307-B1035EA16A8C}" presName="arrow" presStyleLbl="bgShp" presStyleIdx="0" presStyleCnt="1" custScaleY="89339"/>
      <dgm:spPr/>
    </dgm:pt>
    <dgm:pt modelId="{C575BFDC-D242-B24E-9EB0-BC503AE8C3D8}" type="pres">
      <dgm:prSet presAssocID="{F4C3AA92-265A-4D45-B307-B1035EA16A8C}" presName="linearProcess" presStyleCnt="0"/>
      <dgm:spPr/>
    </dgm:pt>
    <dgm:pt modelId="{397F5562-44C2-6A44-8BC3-084CFB397752}" type="pres">
      <dgm:prSet presAssocID="{D9E0707D-201E-2348-9D91-260CE2D68B3C}" presName="textNode" presStyleLbl="node1" presStyleIdx="0" presStyleCnt="3">
        <dgm:presLayoutVars>
          <dgm:bulletEnabled val="1"/>
        </dgm:presLayoutVars>
      </dgm:prSet>
      <dgm:spPr/>
    </dgm:pt>
    <dgm:pt modelId="{84238AA5-5B29-E543-9C37-635AE644FFE9}" type="pres">
      <dgm:prSet presAssocID="{CDA06645-0BEE-6C42-B952-433231F93171}" presName="sibTrans" presStyleCnt="0"/>
      <dgm:spPr/>
    </dgm:pt>
    <dgm:pt modelId="{572D7943-3057-B747-A6EE-4F902D812A5F}" type="pres">
      <dgm:prSet presAssocID="{17C506D6-A9BB-2D4D-A5DE-3CC8DFEA6C1A}" presName="textNode" presStyleLbl="node1" presStyleIdx="1" presStyleCnt="3">
        <dgm:presLayoutVars>
          <dgm:bulletEnabled val="1"/>
        </dgm:presLayoutVars>
      </dgm:prSet>
      <dgm:spPr/>
    </dgm:pt>
    <dgm:pt modelId="{15A54AFA-DC41-0445-AA20-045DDA585292}" type="pres">
      <dgm:prSet presAssocID="{1A72519A-25A9-BB47-B005-16B617C949B5}" presName="sibTrans" presStyleCnt="0"/>
      <dgm:spPr/>
    </dgm:pt>
    <dgm:pt modelId="{8321C8D1-AE30-E24A-B033-83328E633B45}" type="pres">
      <dgm:prSet presAssocID="{C69C5882-3DB8-0544-9FBE-6A0C4831DE47}" presName="textNode" presStyleLbl="node1" presStyleIdx="2" presStyleCnt="3">
        <dgm:presLayoutVars>
          <dgm:bulletEnabled val="1"/>
        </dgm:presLayoutVars>
      </dgm:prSet>
      <dgm:spPr/>
    </dgm:pt>
  </dgm:ptLst>
  <dgm:cxnLst>
    <dgm:cxn modelId="{F9EE5A31-21E1-0D47-AA32-FA894D255F4C}" type="presOf" srcId="{17C506D6-A9BB-2D4D-A5DE-3CC8DFEA6C1A}" destId="{572D7943-3057-B747-A6EE-4F902D812A5F}" srcOrd="0" destOrd="0" presId="urn:microsoft.com/office/officeart/2005/8/layout/hProcess9"/>
    <dgm:cxn modelId="{B8232F3B-6670-CE41-993A-DB52960001C5}" type="presOf" srcId="{F4C3AA92-265A-4D45-B307-B1035EA16A8C}" destId="{10ABFDE7-9714-F841-8D9E-4A58D2FD8F3E}" srcOrd="0" destOrd="0" presId="urn:microsoft.com/office/officeart/2005/8/layout/hProcess9"/>
    <dgm:cxn modelId="{4DA5C13E-BF37-8A4C-81E0-D49AAF8A2FFC}" type="presOf" srcId="{D9E0707D-201E-2348-9D91-260CE2D68B3C}" destId="{397F5562-44C2-6A44-8BC3-084CFB397752}" srcOrd="0" destOrd="0" presId="urn:microsoft.com/office/officeart/2005/8/layout/hProcess9"/>
    <dgm:cxn modelId="{0B6A5866-7832-A842-A109-E7DB6CCDD385}" srcId="{F4C3AA92-265A-4D45-B307-B1035EA16A8C}" destId="{D9E0707D-201E-2348-9D91-260CE2D68B3C}" srcOrd="0" destOrd="0" parTransId="{DA489E6E-88F9-8241-9868-9C62918A3927}" sibTransId="{CDA06645-0BEE-6C42-B952-433231F93171}"/>
    <dgm:cxn modelId="{B8082799-B443-5846-BEE1-8008AD24878E}" type="presOf" srcId="{C69C5882-3DB8-0544-9FBE-6A0C4831DE47}" destId="{8321C8D1-AE30-E24A-B033-83328E633B45}" srcOrd="0" destOrd="0" presId="urn:microsoft.com/office/officeart/2005/8/layout/hProcess9"/>
    <dgm:cxn modelId="{56ED0AAC-B53C-BF41-8823-0F5F22C24E28}" srcId="{F4C3AA92-265A-4D45-B307-B1035EA16A8C}" destId="{C69C5882-3DB8-0544-9FBE-6A0C4831DE47}" srcOrd="2" destOrd="0" parTransId="{30BCA188-BBCC-0548-8A0A-461CFBE8427B}" sibTransId="{2B3CC4A1-E388-D64A-A4A5-EE44426B08EA}"/>
    <dgm:cxn modelId="{4469ABF6-D4C2-7442-8B11-31DCA74CD7C1}" srcId="{F4C3AA92-265A-4D45-B307-B1035EA16A8C}" destId="{17C506D6-A9BB-2D4D-A5DE-3CC8DFEA6C1A}" srcOrd="1" destOrd="0" parTransId="{E5E61C54-8C59-C24C-AD7E-B63FDD0BF19D}" sibTransId="{1A72519A-25A9-BB47-B005-16B617C949B5}"/>
    <dgm:cxn modelId="{EED1CF86-92A6-5B40-AB3F-A6B3A9DF1396}" type="presParOf" srcId="{10ABFDE7-9714-F841-8D9E-4A58D2FD8F3E}" destId="{CDA22900-AA0D-FC4B-92C2-878ED95864A8}" srcOrd="0" destOrd="0" presId="urn:microsoft.com/office/officeart/2005/8/layout/hProcess9"/>
    <dgm:cxn modelId="{3574DC62-12E3-0C40-ABE0-CA5FFE94218B}" type="presParOf" srcId="{10ABFDE7-9714-F841-8D9E-4A58D2FD8F3E}" destId="{C575BFDC-D242-B24E-9EB0-BC503AE8C3D8}" srcOrd="1" destOrd="0" presId="urn:microsoft.com/office/officeart/2005/8/layout/hProcess9"/>
    <dgm:cxn modelId="{B80F1398-3F94-0A4F-95A0-4E5BB5CC44B6}" type="presParOf" srcId="{C575BFDC-D242-B24E-9EB0-BC503AE8C3D8}" destId="{397F5562-44C2-6A44-8BC3-084CFB397752}" srcOrd="0" destOrd="0" presId="urn:microsoft.com/office/officeart/2005/8/layout/hProcess9"/>
    <dgm:cxn modelId="{90A15BA2-7251-BE40-8171-46609FCFA7D2}" type="presParOf" srcId="{C575BFDC-D242-B24E-9EB0-BC503AE8C3D8}" destId="{84238AA5-5B29-E543-9C37-635AE644FFE9}" srcOrd="1" destOrd="0" presId="urn:microsoft.com/office/officeart/2005/8/layout/hProcess9"/>
    <dgm:cxn modelId="{349B69D7-9BDB-0C48-81D0-101AA890885D}" type="presParOf" srcId="{C575BFDC-D242-B24E-9EB0-BC503AE8C3D8}" destId="{572D7943-3057-B747-A6EE-4F902D812A5F}" srcOrd="2" destOrd="0" presId="urn:microsoft.com/office/officeart/2005/8/layout/hProcess9"/>
    <dgm:cxn modelId="{9DE95139-CDA0-EF4F-A1F7-BE74FDD63DC4}" type="presParOf" srcId="{C575BFDC-D242-B24E-9EB0-BC503AE8C3D8}" destId="{15A54AFA-DC41-0445-AA20-045DDA585292}" srcOrd="3" destOrd="0" presId="urn:microsoft.com/office/officeart/2005/8/layout/hProcess9"/>
    <dgm:cxn modelId="{6BCD1AA1-DE93-334E-BEAE-4D595E2DE0C0}" type="presParOf" srcId="{C575BFDC-D242-B24E-9EB0-BC503AE8C3D8}" destId="{8321C8D1-AE30-E24A-B033-83328E633B45}" srcOrd="4" destOrd="0" presId="urn:microsoft.com/office/officeart/2005/8/layout/hProcess9"/>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9850AFE6-1294-4380-BE1C-895DE217996F}" type="doc">
      <dgm:prSet loTypeId="urn:microsoft.com/office/officeart/2018/2/layout/IconCircleList" loCatId="icon" qsTypeId="urn:microsoft.com/office/officeart/2005/8/quickstyle/simple1" qsCatId="simple" csTypeId="urn:microsoft.com/office/officeart/2018/5/colors/Iconchunking_neutralicon_colorful1" csCatId="colorful" phldr="1"/>
      <dgm:spPr/>
      <dgm:t xml:space="preserve">
        <a:bodyPr/>
        <a:lstStyle/>
        <a:p>
          <a:endParaRPr lang="en-US"/>
        </a:p>
      </dgm:t>
    </dgm:pt>
    <dgm:pt modelId="{F8234B13-B7E2-4614-B86B-CF98F9279465}">
      <dgm:prSet/>
      <dgm:spPr/>
      <dgm:t xml:space="preserve">
        <a:bodyPr/>
        <a:lstStyle/>
        <a:p>
          <a:r>
            <a:rPr lang="en-US"/>
            <a:t>Each teacher at your table: Claim a strategy</a:t>
          </a:r>
        </a:p>
      </dgm:t>
    </dgm:pt>
    <dgm:pt modelId="{A6ED3FE4-72D2-46E1-99B8-2B6B5FBD75CB}" type="parTrans" cxnId="{3336B6FE-E340-4799-9EE4-8DFF4BAAA036}">
      <dgm:prSet/>
      <dgm:spPr/>
      <dgm:t xml:space="preserve">
        <a:bodyPr/>
        <a:lstStyle/>
        <a:p>
          <a:endParaRPr lang="en-US"/>
        </a:p>
      </dgm:t>
    </dgm:pt>
    <dgm:pt modelId="{80A0375E-F7E8-402C-9869-AF40448275C1}" type="sibTrans" cxnId="{3336B6FE-E340-4799-9EE4-8DFF4BAAA036}">
      <dgm:prSet/>
      <dgm:spPr/>
      <dgm:t xml:space="preserve">
        <a:bodyPr/>
        <a:lstStyle/>
        <a:p>
          <a:endParaRPr lang="en-US"/>
        </a:p>
      </dgm:t>
    </dgm:pt>
    <dgm:pt modelId="{D11BCA98-FBC2-4A5E-ADE0-2D17F71E6931}">
      <dgm:prSet/>
      <dgm:spPr/>
      <dgm:t xml:space="preserve">
        <a:bodyPr/>
        <a:lstStyle/>
        <a:p>
          <a:r>
            <a:rPr lang="en-US"/>
            <a:t>Become an expert on your strategy. (Use the page numbers on your paper.)</a:t>
          </a:r>
        </a:p>
      </dgm:t>
    </dgm:pt>
    <dgm:pt modelId="{CAA2675F-2A32-49D9-AB49-9D4ACB94BECF}" type="parTrans" cxnId="{5329FA58-D5E4-489B-B545-DE3E5A9E351B}">
      <dgm:prSet/>
      <dgm:spPr/>
      <dgm:t xml:space="preserve">
        <a:bodyPr/>
        <a:lstStyle/>
        <a:p>
          <a:endParaRPr lang="en-US"/>
        </a:p>
      </dgm:t>
    </dgm:pt>
    <dgm:pt modelId="{913C8ED0-4164-40C2-BDBF-4FEFE8E31BA4}" type="sibTrans" cxnId="{5329FA58-D5E4-489B-B545-DE3E5A9E351B}">
      <dgm:prSet/>
      <dgm:spPr/>
      <dgm:t xml:space="preserve">
        <a:bodyPr/>
        <a:lstStyle/>
        <a:p>
          <a:endParaRPr lang="en-US"/>
        </a:p>
      </dgm:t>
    </dgm:pt>
    <dgm:pt modelId="{03DC6907-57A5-424D-B40B-9C0D842915F8}">
      <dgm:prSet/>
      <dgm:spPr/>
      <dgm:t xml:space="preserve">
        <a:bodyPr/>
        <a:lstStyle/>
        <a:p>
          <a:r>
            <a:rPr lang="en-US"/>
            <a:t>Go around the table describing strategies to the group</a:t>
          </a:r>
        </a:p>
      </dgm:t>
    </dgm:pt>
    <dgm:pt modelId="{5BF541DF-2628-49E1-92FE-BB4BB4721229}" type="parTrans" cxnId="{DE1BFF1E-C69E-4AB7-A6C1-F62586A3121E}">
      <dgm:prSet/>
      <dgm:spPr/>
      <dgm:t xml:space="preserve">
        <a:bodyPr/>
        <a:lstStyle/>
        <a:p>
          <a:endParaRPr lang="en-US"/>
        </a:p>
      </dgm:t>
    </dgm:pt>
    <dgm:pt modelId="{2A7E44EF-2517-42E3-9482-08860F4C7B27}" type="sibTrans" cxnId="{DE1BFF1E-C69E-4AB7-A6C1-F62586A3121E}">
      <dgm:prSet/>
      <dgm:spPr/>
      <dgm:t xml:space="preserve">
        <a:bodyPr/>
        <a:lstStyle/>
        <a:p>
          <a:endParaRPr lang="en-US"/>
        </a:p>
      </dgm:t>
    </dgm:pt>
    <dgm:pt modelId="{E5F86CE1-195D-4D0F-A018-D7B8D997FFC9}">
      <dgm:prSet/>
      <dgm:spPr/>
      <dgm:t xml:space="preserve">
        <a:bodyPr/>
        <a:lstStyle/>
        <a:p>
          <a:r>
            <a:rPr lang="en-US" dirty="0">
              <a:hlinkClick xmlns:r="http://schemas.openxmlformats.org/officeDocument/2006/relationships" r:id="rId1"/>
            </a:rPr>
            <a:t>We’ll watch the video together</a:t>
          </a:r>
          <a:endParaRPr lang="en-US" dirty="0"/>
        </a:p>
      </dgm:t>
    </dgm:pt>
    <dgm:pt modelId="{A9817F11-2E9E-403B-8B0B-4066B0AF333A}" type="parTrans" cxnId="{CC176015-688B-40DA-B15F-4EC9FA9C5200}">
      <dgm:prSet/>
      <dgm:spPr/>
      <dgm:t xml:space="preserve">
        <a:bodyPr/>
        <a:lstStyle/>
        <a:p>
          <a:endParaRPr lang="en-US"/>
        </a:p>
      </dgm:t>
    </dgm:pt>
    <dgm:pt modelId="{6477A252-32C4-4DEB-BC9B-804642F80213}" type="sibTrans" cxnId="{CC176015-688B-40DA-B15F-4EC9FA9C5200}">
      <dgm:prSet/>
      <dgm:spPr/>
      <dgm:t xml:space="preserve">
        <a:bodyPr/>
        <a:lstStyle/>
        <a:p>
          <a:endParaRPr lang="en-US"/>
        </a:p>
      </dgm:t>
    </dgm:pt>
    <dgm:pt modelId="{2A2DBA05-F44A-47DE-8FF1-E4CF302D8D3E}" type="pres">
      <dgm:prSet presAssocID="{9850AFE6-1294-4380-BE1C-895DE217996F}" presName="root" presStyleCnt="0">
        <dgm:presLayoutVars>
          <dgm:dir/>
          <dgm:resizeHandles val="exact"/>
        </dgm:presLayoutVars>
      </dgm:prSet>
      <dgm:spPr/>
    </dgm:pt>
    <dgm:pt modelId="{051A9956-33C4-43D0-A445-6141AEA4FFB1}" type="pres">
      <dgm:prSet presAssocID="{9850AFE6-1294-4380-BE1C-895DE217996F}" presName="container" presStyleCnt="0">
        <dgm:presLayoutVars>
          <dgm:dir/>
          <dgm:resizeHandles val="exact"/>
        </dgm:presLayoutVars>
      </dgm:prSet>
      <dgm:spPr/>
    </dgm:pt>
    <dgm:pt modelId="{AA5431E9-9A24-41B4-A783-6C50910C075D}" type="pres">
      <dgm:prSet presAssocID="{F8234B13-B7E2-4614-B86B-CF98F9279465}" presName="compNode" presStyleCnt="0"/>
      <dgm:spPr/>
    </dgm:pt>
    <dgm:pt modelId="{6F2553AA-7663-4FA6-90FB-7C78AD3787B5}" type="pres">
      <dgm:prSet presAssocID="{F8234B13-B7E2-4614-B86B-CF98F9279465}" presName="iconBgRect" presStyleLbl="bgShp" presStyleIdx="0" presStyleCnt="4"/>
      <dgm:spPr/>
    </dgm:pt>
    <dgm:pt modelId="{3795BF95-164D-49DE-8CFD-255B5FE611BB}" type="pres">
      <dgm:prSet presAssocID="{F8234B13-B7E2-4614-B86B-CF98F9279465}"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Classroom"/>
        </a:ext>
      </dgm:extLst>
    </dgm:pt>
    <dgm:pt modelId="{AFB00373-2A40-4FF5-91A4-B03EC6C93909}" type="pres">
      <dgm:prSet presAssocID="{F8234B13-B7E2-4614-B86B-CF98F9279465}" presName="spaceRect" presStyleCnt="0"/>
      <dgm:spPr/>
    </dgm:pt>
    <dgm:pt modelId="{8B5C8D5E-43C9-4AFB-BC1F-BF3198E21A27}" type="pres">
      <dgm:prSet presAssocID="{F8234B13-B7E2-4614-B86B-CF98F9279465}" presName="textRect" presStyleLbl="revTx" presStyleIdx="0" presStyleCnt="4">
        <dgm:presLayoutVars>
          <dgm:chMax val="1"/>
          <dgm:chPref val="1"/>
        </dgm:presLayoutVars>
      </dgm:prSet>
      <dgm:spPr/>
    </dgm:pt>
    <dgm:pt modelId="{25EA6EDA-C6CF-4A41-AC99-948DCC65A252}" type="pres">
      <dgm:prSet presAssocID="{80A0375E-F7E8-402C-9869-AF40448275C1}" presName="sibTrans" presStyleLbl="sibTrans2D1" presStyleIdx="0" presStyleCnt="0"/>
      <dgm:spPr/>
    </dgm:pt>
    <dgm:pt modelId="{F244606B-5819-45F6-A2EC-A7E1EA2B9792}" type="pres">
      <dgm:prSet presAssocID="{D11BCA98-FBC2-4A5E-ADE0-2D17F71E6931}" presName="compNode" presStyleCnt="0"/>
      <dgm:spPr/>
    </dgm:pt>
    <dgm:pt modelId="{0E1C60EC-7943-4894-B8E5-D8DEF10DB88A}" type="pres">
      <dgm:prSet presAssocID="{D11BCA98-FBC2-4A5E-ADE0-2D17F71E6931}" presName="iconBgRect" presStyleLbl="bgShp" presStyleIdx="1" presStyleCnt="4"/>
      <dgm:spPr/>
    </dgm:pt>
    <dgm:pt modelId="{4FC07E95-F968-4AD2-BEB2-FDFDD808879B}" type="pres">
      <dgm:prSet presAssocID="{D11BCA98-FBC2-4A5E-ADE0-2D17F71E6931}"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a:noFill/>
        </a:ln>
      </dgm:spPr>
      <dgm:extLst>
        <a:ext uri="{E40237B7-FDA0-4F09-8148-C483321AD2D9}">
          <dgm14:cNvPr xmlns:dgm14="http://schemas.microsoft.com/office/drawing/2010/diagram" id="0" name="" descr="Document"/>
        </a:ext>
      </dgm:extLst>
    </dgm:pt>
    <dgm:pt modelId="{28A3AEE1-BF2F-45FC-97A2-62C13C82F2E1}" type="pres">
      <dgm:prSet presAssocID="{D11BCA98-FBC2-4A5E-ADE0-2D17F71E6931}" presName="spaceRect" presStyleCnt="0"/>
      <dgm:spPr/>
    </dgm:pt>
    <dgm:pt modelId="{6904572E-6BFD-4EE7-9642-326C69DEB57F}" type="pres">
      <dgm:prSet presAssocID="{D11BCA98-FBC2-4A5E-ADE0-2D17F71E6931}" presName="textRect" presStyleLbl="revTx" presStyleIdx="1" presStyleCnt="4">
        <dgm:presLayoutVars>
          <dgm:chMax val="1"/>
          <dgm:chPref val="1"/>
        </dgm:presLayoutVars>
      </dgm:prSet>
      <dgm:spPr/>
    </dgm:pt>
    <dgm:pt modelId="{DE626103-D5E8-469F-A597-EBD03F7D30D9}" type="pres">
      <dgm:prSet presAssocID="{913C8ED0-4164-40C2-BDBF-4FEFE8E31BA4}" presName="sibTrans" presStyleLbl="sibTrans2D1" presStyleIdx="0" presStyleCnt="0"/>
      <dgm:spPr/>
    </dgm:pt>
    <dgm:pt modelId="{1905AA91-7BDA-428A-932D-2AA47E166F02}" type="pres">
      <dgm:prSet presAssocID="{03DC6907-57A5-424D-B40B-9C0D842915F8}" presName="compNode" presStyleCnt="0"/>
      <dgm:spPr/>
    </dgm:pt>
    <dgm:pt modelId="{CEA09B74-A7FD-4534-9BAA-553F183E0F73}" type="pres">
      <dgm:prSet presAssocID="{03DC6907-57A5-424D-B40B-9C0D842915F8}" presName="iconBgRect" presStyleLbl="bgShp" presStyleIdx="2" presStyleCnt="4"/>
      <dgm:spPr/>
    </dgm:pt>
    <dgm:pt modelId="{948EAB6A-70CF-44F1-B3DF-C026B5D13A56}" type="pres">
      <dgm:prSet presAssocID="{03DC6907-57A5-424D-B40B-9C0D842915F8}"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Users"/>
        </a:ext>
      </dgm:extLst>
    </dgm:pt>
    <dgm:pt modelId="{2E5506B5-4795-4DCC-AEA5-5903F032BFBE}" type="pres">
      <dgm:prSet presAssocID="{03DC6907-57A5-424D-B40B-9C0D842915F8}" presName="spaceRect" presStyleCnt="0"/>
      <dgm:spPr/>
    </dgm:pt>
    <dgm:pt modelId="{BDDA03FB-0BBB-4047-B7CB-9FC2281FF87B}" type="pres">
      <dgm:prSet presAssocID="{03DC6907-57A5-424D-B40B-9C0D842915F8}" presName="textRect" presStyleLbl="revTx" presStyleIdx="2" presStyleCnt="4">
        <dgm:presLayoutVars>
          <dgm:chMax val="1"/>
          <dgm:chPref val="1"/>
        </dgm:presLayoutVars>
      </dgm:prSet>
      <dgm:spPr/>
    </dgm:pt>
    <dgm:pt modelId="{660CF5E3-ED2A-4523-9064-2F3CA10D2020}" type="pres">
      <dgm:prSet presAssocID="{2A7E44EF-2517-42E3-9482-08860F4C7B27}" presName="sibTrans" presStyleLbl="sibTrans2D1" presStyleIdx="0" presStyleCnt="0"/>
      <dgm:spPr/>
    </dgm:pt>
    <dgm:pt modelId="{1C322F96-01B0-405A-B912-2C653440BCBA}" type="pres">
      <dgm:prSet presAssocID="{E5F86CE1-195D-4D0F-A018-D7B8D997FFC9}" presName="compNode" presStyleCnt="0"/>
      <dgm:spPr/>
    </dgm:pt>
    <dgm:pt modelId="{1EBCCD9F-3807-4401-9698-BE89C7700938}" type="pres">
      <dgm:prSet presAssocID="{E5F86CE1-195D-4D0F-A018-D7B8D997FFC9}" presName="iconBgRect" presStyleLbl="bgShp" presStyleIdx="3" presStyleCnt="4"/>
      <dgm:spPr/>
    </dgm:pt>
    <dgm:pt modelId="{BAC78B43-482F-49EF-AA5F-14C7F103D50B}" type="pres">
      <dgm:prSet presAssocID="{E5F86CE1-195D-4D0F-A018-D7B8D997FFC9}"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a:blipFill>
        <a:ln>
          <a:noFill/>
        </a:ln>
      </dgm:spPr>
      <dgm:extLst>
        <a:ext uri="{E40237B7-FDA0-4F09-8148-C483321AD2D9}">
          <dgm14:cNvPr xmlns:dgm14="http://schemas.microsoft.com/office/drawing/2010/diagram" id="0" name="" descr="Video camera"/>
        </a:ext>
      </dgm:extLst>
    </dgm:pt>
    <dgm:pt modelId="{DF1FA004-E42D-45C3-A662-51F6556A030A}" type="pres">
      <dgm:prSet presAssocID="{E5F86CE1-195D-4D0F-A018-D7B8D997FFC9}" presName="spaceRect" presStyleCnt="0"/>
      <dgm:spPr/>
    </dgm:pt>
    <dgm:pt modelId="{97ABA382-E743-471C-BA07-A9436A439883}" type="pres">
      <dgm:prSet presAssocID="{E5F86CE1-195D-4D0F-A018-D7B8D997FFC9}" presName="textRect" presStyleLbl="revTx" presStyleIdx="3" presStyleCnt="4">
        <dgm:presLayoutVars>
          <dgm:chMax val="1"/>
          <dgm:chPref val="1"/>
        </dgm:presLayoutVars>
      </dgm:prSet>
      <dgm:spPr/>
    </dgm:pt>
  </dgm:ptLst>
  <dgm:cxnLst>
    <dgm:cxn modelId="{04442D05-DAAC-4366-8099-E17A90556375}" type="presOf" srcId="{F8234B13-B7E2-4614-B86B-CF98F9279465}" destId="{8B5C8D5E-43C9-4AFB-BC1F-BF3198E21A27}" srcOrd="0" destOrd="0" presId="urn:microsoft.com/office/officeart/2018/2/layout/IconCircleList"/>
    <dgm:cxn modelId="{CC176015-688B-40DA-B15F-4EC9FA9C5200}" srcId="{9850AFE6-1294-4380-BE1C-895DE217996F}" destId="{E5F86CE1-195D-4D0F-A018-D7B8D997FFC9}" srcOrd="3" destOrd="0" parTransId="{A9817F11-2E9E-403B-8B0B-4066B0AF333A}" sibTransId="{6477A252-32C4-4DEB-BC9B-804642F80213}"/>
    <dgm:cxn modelId="{92A1D81B-4DCF-4A53-BAA0-66488303017D}" type="presOf" srcId="{9850AFE6-1294-4380-BE1C-895DE217996F}" destId="{2A2DBA05-F44A-47DE-8FF1-E4CF302D8D3E}" srcOrd="0" destOrd="0" presId="urn:microsoft.com/office/officeart/2018/2/layout/IconCircleList"/>
    <dgm:cxn modelId="{DE1BFF1E-C69E-4AB7-A6C1-F62586A3121E}" srcId="{9850AFE6-1294-4380-BE1C-895DE217996F}" destId="{03DC6907-57A5-424D-B40B-9C0D842915F8}" srcOrd="2" destOrd="0" parTransId="{5BF541DF-2628-49E1-92FE-BB4BB4721229}" sibTransId="{2A7E44EF-2517-42E3-9482-08860F4C7B27}"/>
    <dgm:cxn modelId="{5329FA58-D5E4-489B-B545-DE3E5A9E351B}" srcId="{9850AFE6-1294-4380-BE1C-895DE217996F}" destId="{D11BCA98-FBC2-4A5E-ADE0-2D17F71E6931}" srcOrd="1" destOrd="0" parTransId="{CAA2675F-2A32-49D9-AB49-9D4ACB94BECF}" sibTransId="{913C8ED0-4164-40C2-BDBF-4FEFE8E31BA4}"/>
    <dgm:cxn modelId="{07253A86-6F3F-4CBC-90A6-FECC27DC1A5B}" type="presOf" srcId="{80A0375E-F7E8-402C-9869-AF40448275C1}" destId="{25EA6EDA-C6CF-4A41-AC99-948DCC65A252}" srcOrd="0" destOrd="0" presId="urn:microsoft.com/office/officeart/2018/2/layout/IconCircleList"/>
    <dgm:cxn modelId="{A8DA059A-4751-425F-B055-2DEE41B4F8E3}" type="presOf" srcId="{913C8ED0-4164-40C2-BDBF-4FEFE8E31BA4}" destId="{DE626103-D5E8-469F-A597-EBD03F7D30D9}" srcOrd="0" destOrd="0" presId="urn:microsoft.com/office/officeart/2018/2/layout/IconCircleList"/>
    <dgm:cxn modelId="{295BEDA9-A035-412A-A874-2236C92C09AC}" type="presOf" srcId="{03DC6907-57A5-424D-B40B-9C0D842915F8}" destId="{BDDA03FB-0BBB-4047-B7CB-9FC2281FF87B}" srcOrd="0" destOrd="0" presId="urn:microsoft.com/office/officeart/2018/2/layout/IconCircleList"/>
    <dgm:cxn modelId="{D5F33CAC-E382-44D0-87C1-E80EE37A56C3}" type="presOf" srcId="{E5F86CE1-195D-4D0F-A018-D7B8D997FFC9}" destId="{97ABA382-E743-471C-BA07-A9436A439883}" srcOrd="0" destOrd="0" presId="urn:microsoft.com/office/officeart/2018/2/layout/IconCircleList"/>
    <dgm:cxn modelId="{0015BDD7-68B7-4B9F-A300-1394EAF4134A}" type="presOf" srcId="{D11BCA98-FBC2-4A5E-ADE0-2D17F71E6931}" destId="{6904572E-6BFD-4EE7-9642-326C69DEB57F}" srcOrd="0" destOrd="0" presId="urn:microsoft.com/office/officeart/2018/2/layout/IconCircleList"/>
    <dgm:cxn modelId="{AFEAD8EB-5DFC-484C-8CB4-0707239C4CF7}" type="presOf" srcId="{2A7E44EF-2517-42E3-9482-08860F4C7B27}" destId="{660CF5E3-ED2A-4523-9064-2F3CA10D2020}" srcOrd="0" destOrd="0" presId="urn:microsoft.com/office/officeart/2018/2/layout/IconCircleList"/>
    <dgm:cxn modelId="{3336B6FE-E340-4799-9EE4-8DFF4BAAA036}" srcId="{9850AFE6-1294-4380-BE1C-895DE217996F}" destId="{F8234B13-B7E2-4614-B86B-CF98F9279465}" srcOrd="0" destOrd="0" parTransId="{A6ED3FE4-72D2-46E1-99B8-2B6B5FBD75CB}" sibTransId="{80A0375E-F7E8-402C-9869-AF40448275C1}"/>
    <dgm:cxn modelId="{7FE8F8E6-55BF-460C-854A-C5E81C660E4A}" type="presParOf" srcId="{2A2DBA05-F44A-47DE-8FF1-E4CF302D8D3E}" destId="{051A9956-33C4-43D0-A445-6141AEA4FFB1}" srcOrd="0" destOrd="0" presId="urn:microsoft.com/office/officeart/2018/2/layout/IconCircleList"/>
    <dgm:cxn modelId="{FA90755B-521A-40D2-A27F-FE4E7E72EB9A}" type="presParOf" srcId="{051A9956-33C4-43D0-A445-6141AEA4FFB1}" destId="{AA5431E9-9A24-41B4-A783-6C50910C075D}" srcOrd="0" destOrd="0" presId="urn:microsoft.com/office/officeart/2018/2/layout/IconCircleList"/>
    <dgm:cxn modelId="{9D026134-D1F4-4386-A43C-CAD690303313}" type="presParOf" srcId="{AA5431E9-9A24-41B4-A783-6C50910C075D}" destId="{6F2553AA-7663-4FA6-90FB-7C78AD3787B5}" srcOrd="0" destOrd="0" presId="urn:microsoft.com/office/officeart/2018/2/layout/IconCircleList"/>
    <dgm:cxn modelId="{2EEEC6D6-703E-4ADF-8A33-71055193359C}" type="presParOf" srcId="{AA5431E9-9A24-41B4-A783-6C50910C075D}" destId="{3795BF95-164D-49DE-8CFD-255B5FE611BB}" srcOrd="1" destOrd="0" presId="urn:microsoft.com/office/officeart/2018/2/layout/IconCircleList"/>
    <dgm:cxn modelId="{00646B66-7AD4-4703-BD0B-8931DE718F88}" type="presParOf" srcId="{AA5431E9-9A24-41B4-A783-6C50910C075D}" destId="{AFB00373-2A40-4FF5-91A4-B03EC6C93909}" srcOrd="2" destOrd="0" presId="urn:microsoft.com/office/officeart/2018/2/layout/IconCircleList"/>
    <dgm:cxn modelId="{19F83E84-DAF6-4026-B63B-BAE80184C7F4}" type="presParOf" srcId="{AA5431E9-9A24-41B4-A783-6C50910C075D}" destId="{8B5C8D5E-43C9-4AFB-BC1F-BF3198E21A27}" srcOrd="3" destOrd="0" presId="urn:microsoft.com/office/officeart/2018/2/layout/IconCircleList"/>
    <dgm:cxn modelId="{E5B34918-2004-4272-94E6-1FF22111D1F9}" type="presParOf" srcId="{051A9956-33C4-43D0-A445-6141AEA4FFB1}" destId="{25EA6EDA-C6CF-4A41-AC99-948DCC65A252}" srcOrd="1" destOrd="0" presId="urn:microsoft.com/office/officeart/2018/2/layout/IconCircleList"/>
    <dgm:cxn modelId="{4D8A9C2B-C304-4BEC-90A2-4C7E040EC840}" type="presParOf" srcId="{051A9956-33C4-43D0-A445-6141AEA4FFB1}" destId="{F244606B-5819-45F6-A2EC-A7E1EA2B9792}" srcOrd="2" destOrd="0" presId="urn:microsoft.com/office/officeart/2018/2/layout/IconCircleList"/>
    <dgm:cxn modelId="{DCB34812-B148-46DD-95F2-62F80C8C6497}" type="presParOf" srcId="{F244606B-5819-45F6-A2EC-A7E1EA2B9792}" destId="{0E1C60EC-7943-4894-B8E5-D8DEF10DB88A}" srcOrd="0" destOrd="0" presId="urn:microsoft.com/office/officeart/2018/2/layout/IconCircleList"/>
    <dgm:cxn modelId="{6AE4667C-97C9-4FD1-816B-B1EBD84437DA}" type="presParOf" srcId="{F244606B-5819-45F6-A2EC-A7E1EA2B9792}" destId="{4FC07E95-F968-4AD2-BEB2-FDFDD808879B}" srcOrd="1" destOrd="0" presId="urn:microsoft.com/office/officeart/2018/2/layout/IconCircleList"/>
    <dgm:cxn modelId="{39E7BB6A-6067-40E2-86BA-50A4E5CC4A71}" type="presParOf" srcId="{F244606B-5819-45F6-A2EC-A7E1EA2B9792}" destId="{28A3AEE1-BF2F-45FC-97A2-62C13C82F2E1}" srcOrd="2" destOrd="0" presId="urn:microsoft.com/office/officeart/2018/2/layout/IconCircleList"/>
    <dgm:cxn modelId="{7C0FF64D-0B36-4911-B9BC-0990766E02AF}" type="presParOf" srcId="{F244606B-5819-45F6-A2EC-A7E1EA2B9792}" destId="{6904572E-6BFD-4EE7-9642-326C69DEB57F}" srcOrd="3" destOrd="0" presId="urn:microsoft.com/office/officeart/2018/2/layout/IconCircleList"/>
    <dgm:cxn modelId="{4DF3F168-794F-4F85-B9A5-5BA9697C3637}" type="presParOf" srcId="{051A9956-33C4-43D0-A445-6141AEA4FFB1}" destId="{DE626103-D5E8-469F-A597-EBD03F7D30D9}" srcOrd="3" destOrd="0" presId="urn:microsoft.com/office/officeart/2018/2/layout/IconCircleList"/>
    <dgm:cxn modelId="{F5097933-6715-4DE1-B49F-14746211A347}" type="presParOf" srcId="{051A9956-33C4-43D0-A445-6141AEA4FFB1}" destId="{1905AA91-7BDA-428A-932D-2AA47E166F02}" srcOrd="4" destOrd="0" presId="urn:microsoft.com/office/officeart/2018/2/layout/IconCircleList"/>
    <dgm:cxn modelId="{94AD0F52-0ADB-45E2-8C62-18CDBE19AB77}" type="presParOf" srcId="{1905AA91-7BDA-428A-932D-2AA47E166F02}" destId="{CEA09B74-A7FD-4534-9BAA-553F183E0F73}" srcOrd="0" destOrd="0" presId="urn:microsoft.com/office/officeart/2018/2/layout/IconCircleList"/>
    <dgm:cxn modelId="{40EDDB6E-3B5F-45E8-B5FC-AFCDB430DC82}" type="presParOf" srcId="{1905AA91-7BDA-428A-932D-2AA47E166F02}" destId="{948EAB6A-70CF-44F1-B3DF-C026B5D13A56}" srcOrd="1" destOrd="0" presId="urn:microsoft.com/office/officeart/2018/2/layout/IconCircleList"/>
    <dgm:cxn modelId="{722B244D-979C-4525-A5BF-47A4852075D0}" type="presParOf" srcId="{1905AA91-7BDA-428A-932D-2AA47E166F02}" destId="{2E5506B5-4795-4DCC-AEA5-5903F032BFBE}" srcOrd="2" destOrd="0" presId="urn:microsoft.com/office/officeart/2018/2/layout/IconCircleList"/>
    <dgm:cxn modelId="{702F8E7A-21AD-4DB3-AA4C-16452EE37148}" type="presParOf" srcId="{1905AA91-7BDA-428A-932D-2AA47E166F02}" destId="{BDDA03FB-0BBB-4047-B7CB-9FC2281FF87B}" srcOrd="3" destOrd="0" presId="urn:microsoft.com/office/officeart/2018/2/layout/IconCircleList"/>
    <dgm:cxn modelId="{2A6EBE31-4E23-4A1E-97C7-6ED220EDABDB}" type="presParOf" srcId="{051A9956-33C4-43D0-A445-6141AEA4FFB1}" destId="{660CF5E3-ED2A-4523-9064-2F3CA10D2020}" srcOrd="5" destOrd="0" presId="urn:microsoft.com/office/officeart/2018/2/layout/IconCircleList"/>
    <dgm:cxn modelId="{AE6F88C0-1E5C-4F26-B279-07570811E511}" type="presParOf" srcId="{051A9956-33C4-43D0-A445-6141AEA4FFB1}" destId="{1C322F96-01B0-405A-B912-2C653440BCBA}" srcOrd="6" destOrd="0" presId="urn:microsoft.com/office/officeart/2018/2/layout/IconCircleList"/>
    <dgm:cxn modelId="{50362598-D909-4902-9DC3-F8EF4F116355}" type="presParOf" srcId="{1C322F96-01B0-405A-B912-2C653440BCBA}" destId="{1EBCCD9F-3807-4401-9698-BE89C7700938}" srcOrd="0" destOrd="0" presId="urn:microsoft.com/office/officeart/2018/2/layout/IconCircleList"/>
    <dgm:cxn modelId="{FB6A6D38-8639-4511-9067-5CEE6BE6D5A9}" type="presParOf" srcId="{1C322F96-01B0-405A-B912-2C653440BCBA}" destId="{BAC78B43-482F-49EF-AA5F-14C7F103D50B}" srcOrd="1" destOrd="0" presId="urn:microsoft.com/office/officeart/2018/2/layout/IconCircleList"/>
    <dgm:cxn modelId="{EE54E467-ECD8-41EB-82F7-5B4BF8B99438}" type="presParOf" srcId="{1C322F96-01B0-405A-B912-2C653440BCBA}" destId="{DF1FA004-E42D-45C3-A662-51F6556A030A}" srcOrd="2" destOrd="0" presId="urn:microsoft.com/office/officeart/2018/2/layout/IconCircleList"/>
    <dgm:cxn modelId="{2024658C-E5D3-4363-B17A-E0A7ED6F8B1D}" type="presParOf" srcId="{1C322F96-01B0-405A-B912-2C653440BCBA}" destId="{97ABA382-E743-471C-BA07-A9436A439883}"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A22900-AA0D-FC4B-92C2-878ED95864A8}">
      <dsp:nvSpPr>
        <dsp:cNvPr id="0" name=""/>
        <dsp:cNvSpPr/>
      </dsp:nvSpPr>
      <dsp:spPr>
        <a:xfrm>
          <a:off x="551978" y="141847"/>
          <a:ext cx="6255756" cy="2377352"/>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7F5562-44C2-6A44-8BC3-084CFB397752}">
      <dsp:nvSpPr>
        <dsp:cNvPr id="0" name=""/>
        <dsp:cNvSpPr/>
      </dsp:nvSpPr>
      <dsp:spPr>
        <a:xfrm>
          <a:off x="998166" y="798314"/>
          <a:ext cx="1747021" cy="106441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Phase 1: Counting Strategies</a:t>
          </a:r>
        </a:p>
      </dsp:txBody>
      <dsp:txXfrm>
        <a:off x="1050127" y="850275"/>
        <a:ext cx="1643099" cy="960496"/>
      </dsp:txXfrm>
    </dsp:sp>
    <dsp:sp modelId="{572D7943-3057-B747-A6EE-4F902D812A5F}">
      <dsp:nvSpPr>
        <dsp:cNvPr id="0" name=""/>
        <dsp:cNvSpPr/>
      </dsp:nvSpPr>
      <dsp:spPr>
        <a:xfrm>
          <a:off x="2910494" y="798314"/>
          <a:ext cx="1654350" cy="106441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Phase 2: Reasoning Strategies</a:t>
          </a:r>
        </a:p>
      </dsp:txBody>
      <dsp:txXfrm>
        <a:off x="2962455" y="850275"/>
        <a:ext cx="1550428" cy="960496"/>
      </dsp:txXfrm>
    </dsp:sp>
    <dsp:sp modelId="{8321C8D1-AE30-E24A-B033-83328E633B45}">
      <dsp:nvSpPr>
        <dsp:cNvPr id="0" name=""/>
        <dsp:cNvSpPr/>
      </dsp:nvSpPr>
      <dsp:spPr>
        <a:xfrm>
          <a:off x="4730150" y="798314"/>
          <a:ext cx="1631395" cy="1064418"/>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 xml:space="preserve">Phase 3: Mastery!           </a:t>
          </a:r>
          <a:r>
            <a:rPr lang="en-US" sz="1900" kern="1200" dirty="0">
              <a:solidFill>
                <a:schemeClr val="accent4"/>
              </a:solidFill>
            </a:rPr>
            <a:t>.</a:t>
          </a:r>
        </a:p>
      </dsp:txBody>
      <dsp:txXfrm>
        <a:off x="4782111" y="850275"/>
        <a:ext cx="1527473" cy="960496"/>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A22900-AA0D-FC4B-92C2-878ED95864A8}">
      <dsp:nvSpPr>
        <dsp:cNvPr id="0" name=""/>
        <dsp:cNvSpPr/>
      </dsp:nvSpPr>
      <dsp:spPr>
        <a:xfrm>
          <a:off x="551978" y="141847"/>
          <a:ext cx="6255756" cy="2377352"/>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7F5562-44C2-6A44-8BC3-084CFB397752}">
      <dsp:nvSpPr>
        <dsp:cNvPr id="0" name=""/>
        <dsp:cNvSpPr/>
      </dsp:nvSpPr>
      <dsp:spPr>
        <a:xfrm>
          <a:off x="998166" y="798314"/>
          <a:ext cx="1747021" cy="106441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Phase 1: Counting Strategies</a:t>
          </a:r>
        </a:p>
      </dsp:txBody>
      <dsp:txXfrm>
        <a:off x="1050127" y="850275"/>
        <a:ext cx="1643099" cy="960496"/>
      </dsp:txXfrm>
    </dsp:sp>
    <dsp:sp modelId="{572D7943-3057-B747-A6EE-4F902D812A5F}">
      <dsp:nvSpPr>
        <dsp:cNvPr id="0" name=""/>
        <dsp:cNvSpPr/>
      </dsp:nvSpPr>
      <dsp:spPr>
        <a:xfrm>
          <a:off x="2910494" y="798314"/>
          <a:ext cx="1654350" cy="1064418"/>
        </a:xfrm>
        <a:prstGeom prst="round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Phase 2: Reasoning Strategies</a:t>
          </a:r>
        </a:p>
      </dsp:txBody>
      <dsp:txXfrm>
        <a:off x="2962455" y="850275"/>
        <a:ext cx="1550428" cy="960496"/>
      </dsp:txXfrm>
    </dsp:sp>
    <dsp:sp modelId="{8321C8D1-AE30-E24A-B033-83328E633B45}">
      <dsp:nvSpPr>
        <dsp:cNvPr id="0" name=""/>
        <dsp:cNvSpPr/>
      </dsp:nvSpPr>
      <dsp:spPr>
        <a:xfrm>
          <a:off x="4730150" y="798314"/>
          <a:ext cx="1631395" cy="1064418"/>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2390" tIns="72390" rIns="72390" bIns="72390" numCol="1" spcCol="1270" anchor="ctr" anchorCtr="0">
          <a:noAutofit/>
        </a:bodyPr>
        <a:lstStyle/>
        <a:p>
          <a:pPr marL="0" lvl="0" indent="0" algn="ctr" defTabSz="844550">
            <a:lnSpc>
              <a:spcPct val="90000"/>
            </a:lnSpc>
            <a:spcBef>
              <a:spcPct val="0"/>
            </a:spcBef>
            <a:spcAft>
              <a:spcPct val="35000"/>
            </a:spcAft>
            <a:buNone/>
          </a:pPr>
          <a:r>
            <a:rPr lang="en-US" sz="1900" kern="1200" dirty="0"/>
            <a:t xml:space="preserve">Phase 3: Mastery!           </a:t>
          </a:r>
          <a:r>
            <a:rPr lang="en-US" sz="1900" kern="1200" dirty="0">
              <a:solidFill>
                <a:schemeClr val="accent4"/>
              </a:solidFill>
            </a:rPr>
            <a:t>.</a:t>
          </a:r>
        </a:p>
      </dsp:txBody>
      <dsp:txXfrm>
        <a:off x="4782111" y="850275"/>
        <a:ext cx="1527473" cy="960496"/>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DA22900-AA0D-FC4B-92C2-878ED95864A8}">
      <dsp:nvSpPr>
        <dsp:cNvPr id="0" name=""/>
        <dsp:cNvSpPr/>
      </dsp:nvSpPr>
      <dsp:spPr>
        <a:xfrm>
          <a:off x="412278" y="124245"/>
          <a:ext cx="4672489" cy="2082355"/>
        </a:xfrm>
        <a:prstGeom prst="rightArrow">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97F5562-44C2-6A44-8BC3-084CFB397752}">
      <dsp:nvSpPr>
        <dsp:cNvPr id="0" name=""/>
        <dsp:cNvSpPr/>
      </dsp:nvSpPr>
      <dsp:spPr>
        <a:xfrm>
          <a:off x="186276" y="699254"/>
          <a:ext cx="1649113" cy="932338"/>
        </a:xfrm>
        <a:prstGeom prst="round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Phase 1: Counting Strategies</a:t>
          </a:r>
        </a:p>
      </dsp:txBody>
      <dsp:txXfrm>
        <a:off x="231789" y="744767"/>
        <a:ext cx="1558087" cy="841312"/>
      </dsp:txXfrm>
    </dsp:sp>
    <dsp:sp modelId="{572D7943-3057-B747-A6EE-4F902D812A5F}">
      <dsp:nvSpPr>
        <dsp:cNvPr id="0" name=""/>
        <dsp:cNvSpPr/>
      </dsp:nvSpPr>
      <dsp:spPr>
        <a:xfrm>
          <a:off x="1923966" y="699254"/>
          <a:ext cx="1649113" cy="932338"/>
        </a:xfrm>
        <a:prstGeom prst="roundRect">
          <a:avLst/>
        </a:prstGeom>
        <a:solidFill>
          <a:schemeClr val="accent3">
            <a:hueOff val="0"/>
            <a:satOff val="0"/>
            <a:lumOff val="0"/>
            <a:alphaOff val="0"/>
          </a:schemeClr>
        </a:solidFill>
        <a:ln w="12700" cap="flat" cmpd="sng" algn="ctr">
          <a:solidFill>
            <a:schemeClr val="bg1"/>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Phase 2: Reasoning Strategies</a:t>
          </a:r>
        </a:p>
      </dsp:txBody>
      <dsp:txXfrm>
        <a:off x="1969479" y="744767"/>
        <a:ext cx="1558087" cy="841312"/>
      </dsp:txXfrm>
    </dsp:sp>
    <dsp:sp modelId="{8321C8D1-AE30-E24A-B033-83328E633B45}">
      <dsp:nvSpPr>
        <dsp:cNvPr id="0" name=""/>
        <dsp:cNvSpPr/>
      </dsp:nvSpPr>
      <dsp:spPr>
        <a:xfrm>
          <a:off x="3661655" y="699254"/>
          <a:ext cx="1649113" cy="932338"/>
        </a:xfrm>
        <a:prstGeom prst="round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dirty="0"/>
            <a:t>Phase 3: Mastery</a:t>
          </a:r>
          <a:endParaRPr lang="en-US" sz="1700" kern="1200" dirty="0">
            <a:solidFill>
              <a:schemeClr val="accent4"/>
            </a:solidFill>
          </a:endParaRPr>
        </a:p>
      </dsp:txBody>
      <dsp:txXfrm>
        <a:off x="3707168" y="744767"/>
        <a:ext cx="1558087" cy="84131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2553AA-7663-4FA6-90FB-7C78AD3787B5}">
      <dsp:nvSpPr>
        <dsp:cNvPr id="0" name=""/>
        <dsp:cNvSpPr/>
      </dsp:nvSpPr>
      <dsp:spPr>
        <a:xfrm>
          <a:off x="212335" y="469890"/>
          <a:ext cx="1335915" cy="1335915"/>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795BF95-164D-49DE-8CFD-255B5FE611BB}">
      <dsp:nvSpPr>
        <dsp:cNvPr id="0" name=""/>
        <dsp:cNvSpPr/>
      </dsp:nvSpPr>
      <dsp:spPr>
        <a:xfrm>
          <a:off x="492877"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B5C8D5E-43C9-4AFB-BC1F-BF3198E21A27}">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Each teacher at your table: Claim a strategy</a:t>
          </a:r>
        </a:p>
      </dsp:txBody>
      <dsp:txXfrm>
        <a:off x="1834517" y="469890"/>
        <a:ext cx="3148942" cy="1335915"/>
      </dsp:txXfrm>
    </dsp:sp>
    <dsp:sp modelId="{0E1C60EC-7943-4894-B8E5-D8DEF10DB88A}">
      <dsp:nvSpPr>
        <dsp:cNvPr id="0" name=""/>
        <dsp:cNvSpPr/>
      </dsp:nvSpPr>
      <dsp:spPr>
        <a:xfrm>
          <a:off x="5532139" y="469890"/>
          <a:ext cx="1335915" cy="1335915"/>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FC07E95-F968-4AD2-BEB2-FDFDD808879B}">
      <dsp:nvSpPr>
        <dsp:cNvPr id="0" name=""/>
        <dsp:cNvSpPr/>
      </dsp:nvSpPr>
      <dsp:spPr>
        <a:xfrm>
          <a:off x="5812681"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904572E-6BFD-4EE7-9642-326C69DEB57F}">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Become an expert on your strategy. (Use the page numbers on your paper.)</a:t>
          </a:r>
        </a:p>
      </dsp:txBody>
      <dsp:txXfrm>
        <a:off x="7154322" y="469890"/>
        <a:ext cx="3148942" cy="1335915"/>
      </dsp:txXfrm>
    </dsp:sp>
    <dsp:sp modelId="{CEA09B74-A7FD-4534-9BAA-553F183E0F73}">
      <dsp:nvSpPr>
        <dsp:cNvPr id="0" name=""/>
        <dsp:cNvSpPr/>
      </dsp:nvSpPr>
      <dsp:spPr>
        <a:xfrm>
          <a:off x="212335" y="2545532"/>
          <a:ext cx="1335915" cy="1335915"/>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48EAB6A-70CF-44F1-B3DF-C026B5D13A56}">
      <dsp:nvSpPr>
        <dsp:cNvPr id="0" name=""/>
        <dsp:cNvSpPr/>
      </dsp:nvSpPr>
      <dsp:spPr>
        <a:xfrm>
          <a:off x="492877"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BDDA03FB-0BBB-4047-B7CB-9FC2281FF87B}">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a:t>Go around the table describing strategies to the group</a:t>
          </a:r>
        </a:p>
      </dsp:txBody>
      <dsp:txXfrm>
        <a:off x="1834517" y="2545532"/>
        <a:ext cx="3148942" cy="1335915"/>
      </dsp:txXfrm>
    </dsp:sp>
    <dsp:sp modelId="{1EBCCD9F-3807-4401-9698-BE89C7700938}">
      <dsp:nvSpPr>
        <dsp:cNvPr id="0" name=""/>
        <dsp:cNvSpPr/>
      </dsp:nvSpPr>
      <dsp:spPr>
        <a:xfrm>
          <a:off x="5532139" y="2545532"/>
          <a:ext cx="1335915" cy="1335915"/>
        </a:xfrm>
        <a:prstGeom prst="ellipse">
          <a:avLst/>
        </a:prstGeom>
        <a:solidFill>
          <a:schemeClr val="accent5">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AC78B43-482F-49EF-AA5F-14C7F103D50B}">
      <dsp:nvSpPr>
        <dsp:cNvPr id="0" name=""/>
        <dsp:cNvSpPr/>
      </dsp:nvSpPr>
      <dsp:spPr>
        <a:xfrm>
          <a:off x="5812681"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7ABA382-E743-471C-BA07-A9436A439883}">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1022350">
            <a:lnSpc>
              <a:spcPct val="90000"/>
            </a:lnSpc>
            <a:spcBef>
              <a:spcPct val="0"/>
            </a:spcBef>
            <a:spcAft>
              <a:spcPct val="35000"/>
            </a:spcAft>
            <a:buNone/>
          </a:pPr>
          <a:r>
            <a:rPr lang="en-US" sz="2300" kern="1200" dirty="0">
              <a:hlinkClick xmlns:r="http://schemas.openxmlformats.org/officeDocument/2006/relationships" r:id="rId5"/>
            </a:rPr>
            <a:t>We’ll watch the video together</a:t>
          </a:r>
          <a:endParaRPr lang="en-US" sz="2300" kern="1200" dirty="0"/>
        </a:p>
      </dsp:txBody>
      <dsp:txXfrm>
        <a:off x="7154322" y="2545532"/>
        <a:ext cx="3148942" cy="1335915"/>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2.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3.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F3CB4DD-60EE-3142-8785-30BA2F188BE1}" type="datetimeFigureOut">
              <a:rPr lang="en-US" smtClean="0"/>
              <a:t>3/23/26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332089A-177E-394B-A286-CEFB8CB1D01F}" type="slidenum">
              <a:rPr lang="en-US" smtClean="0"/>
              <a:t>‹#›</a:t>
            </a:fld>
            <a:endParaRPr lang="en-US"/>
          </a:p>
        </p:txBody>
      </p:sp>
    </p:spTree>
    <p:extLst>
      <p:ext uri="{BB962C8B-B14F-4D97-AF65-F5344CB8AC3E}">
        <p14:creationId xmlns:p14="http://schemas.microsoft.com/office/powerpoint/2010/main" val="10607165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students and set the stage for today's session. This class brings together understanding of how students develop fact fluency and how number talks support this development. Today students will:</a:t>
            </a:r>
          </a:p>
          <a:p>
            <a:r>
              <a:rPr lang="en-US" dirty="0"/>
              <a:t>• Participate in a number talk as learners (experiencing the routine firsthand)</a:t>
            </a:r>
          </a:p>
          <a:p>
            <a:r>
              <a:rPr lang="en-US" dirty="0"/>
              <a:t>• Learn features of fact fluency and options for teaching it</a:t>
            </a:r>
          </a:p>
          <a:p>
            <a:r>
              <a:rPr lang="en-US" dirty="0"/>
              <a:t>• Watch and analyze teacher moves during a number talk video</a:t>
            </a:r>
          </a:p>
          <a:p>
            <a:r>
              <a:rPr lang="en-US" dirty="0"/>
              <a:t>• Practice facilitating a subtraction number talk themselves</a:t>
            </a:r>
          </a:p>
          <a:p>
            <a:r>
              <a:rPr lang="en-US" dirty="0"/>
              <a:t>Timing: Full 50-minute session with activities embedded throughout.</a:t>
            </a:r>
          </a:p>
        </p:txBody>
      </p:sp>
      <p:sp>
        <p:nvSpPr>
          <p:cNvPr id="4" name="Slide Number Placeholder 3"/>
          <p:cNvSpPr>
            <a:spLocks noGrp="1"/>
          </p:cNvSpPr>
          <p:nvPr>
            <p:ph type="sldNum" sz="quarter" idx="5"/>
          </p:nvPr>
        </p:nvSpPr>
        <p:spPr/>
        <p:txBody>
          <a:bodyPr/>
          <a:lstStyle/>
          <a:p>
            <a:fld id="{D332089A-177E-394B-A286-CEFB8CB1D01F}" type="slidenum">
              <a:rPr lang="en-US" smtClean="0"/>
              <a:t>1</a:t>
            </a:fld>
            <a:endParaRPr lang="en-US"/>
          </a:p>
        </p:txBody>
      </p:sp>
    </p:spTree>
    <p:extLst>
      <p:ext uri="{BB962C8B-B14F-4D97-AF65-F5344CB8AC3E}">
        <ns2:creationId val="2141607165"/>
      </p:ext>
    </p:extLst>
  </p:cSld>
  <p:clrMapOvr>
    <a:masterClrMapping/>
  </p:clrMapOvr>
</p:notes>
</file>

<file path=ppt/notesSlides/notesSlide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Review today's agenda to orient students to the flow.</a:t>
            </a:r>
          </a:p>
          <a:p>
            <a:r>
              <a:rPr lang="en-US" dirty="0"/>
              <a:t>Part 1 (First 15 min): Lead the class through the definitions and standards connection for fact fluency. Emphasize: knowing facts ≠ memorizing facts; fluency comes from strategy development.</a:t>
            </a:r>
          </a:p>
          <a:p>
            <a:r>
              <a:rPr lang="en-US" dirty="0"/>
              <a:t>Part 2 (Next 30 min): Model a number talk using a 7-dot pattern. Review components of a number talk. Show the 8+6 video twice: first viewing focuses on student strategies; second viewing focuses on teacher moves.</a:t>
            </a:r>
          </a:p>
          <a:p>
            <a:r>
              <a:rPr lang="en-US" dirty="0"/>
              <a:t>Part 3 (Next 20 min): Students work in small groups to model a subtraction number talk together.</a:t>
            </a:r>
          </a:p>
          <a:p>
            <a:r>
              <a:rPr lang="en-US" dirty="0"/>
              <a:t>Part 4 (Final 5 min): Brief discussion on assessing basic facts.</a:t>
            </a:r>
          </a:p>
          <a:p>
            <a:r>
              <a:rPr lang="en-US" dirty="0"/>
              <a:t>Emphasize throughout: number talks are quick, daily routines that build both number sense AND fact fluency.</a:t>
            </a:r>
          </a:p>
        </p:txBody>
      </p:sp>
      <p:sp>
        <p:nvSpPr>
          <p:cNvPr id="4" name="Slide Number Placeholder 3"/>
          <p:cNvSpPr>
            <a:spLocks noGrp="1"/>
          </p:cNvSpPr>
          <p:nvPr>
            <p:ph type="sldNum" sz="quarter" idx="5"/>
          </p:nvPr>
        </p:nvSpPr>
        <p:spPr/>
        <p:txBody>
          <a:bodyPr/>
          <a:lstStyle/>
          <a:p>
            <a:fld id="{D332089A-177E-394B-A286-CEFB8CB1D01F}" type="slidenum">
              <a:rPr lang="en-US" smtClean="0"/>
              <a:t>2</a:t>
            </a:fld>
            <a:endParaRPr lang="en-US"/>
          </a:p>
        </p:txBody>
      </p:sp>
    </p:spTree>
    <p:extLst>
      <p:ext uri="{BB962C8B-B14F-4D97-AF65-F5344CB8AC3E}">
        <ns2:creationId val="3247757336"/>
      </p:ext>
    </p:extLst>
  </p:cSld>
  <p:clrMapOvr>
    <a:masterClrMapping/>
  </p:clrMapOvr>
</p:notes>
</file>

<file path=ppt/notesSlides/notesSlide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Define a number talk as a structured but open-ended routine. Key components to highlight:</a:t>
            </a:r>
          </a:p>
          <a:p>
            <a:r>
              <a:rPr lang="en-US" dirty="0"/>
              <a:t>• Computation task given mentally (no pencil/paper for students initially)</a:t>
            </a:r>
          </a:p>
          <a:p>
            <a:r>
              <a:rPr lang="en-US" dirty="0"/>
              <a:t>• Teacher does NOT model strategies first—students discover them</a:t>
            </a:r>
          </a:p>
          <a:p>
            <a:r>
              <a:rPr lang="en-US" dirty="0"/>
              <a:t>• Takes 5-10 minutes (can be done daily)</a:t>
            </a:r>
          </a:p>
          <a:p>
            <a:r>
              <a:rPr lang="en-US" dirty="0"/>
              <a:t>• Focuses on number sense, flexible computation, and building fluency through strategy</a:t>
            </a:r>
          </a:p>
          <a:p>
            <a:r>
              <a:rPr lang="en-US" dirty="0"/>
              <a:t>• Builds a classroom culture of mathematical thinking</a:t>
            </a:r>
          </a:p>
          <a:p>
            <a:r>
              <a:rPr lang="en-US" dirty="0"/>
              <a:t>Emphasize: A number talk is NOT a timed drill or test. It's a collaborative thinking routine.</a:t>
            </a:r>
          </a:p>
          <a:p>
            <a:r>
              <a:rPr lang="en-US" dirty="0"/>
              <a:t>Main teaching move at this stage: Allow 2-3 minutes of quiet thinking time before sharing. This is critical—don't rush students.</a:t>
            </a:r>
          </a:p>
        </p:txBody>
      </p:sp>
      <p:sp>
        <p:nvSpPr>
          <p:cNvPr id="4" name="Slide Number Placeholder 3"/>
          <p:cNvSpPr>
            <a:spLocks noGrp="1"/>
          </p:cNvSpPr>
          <p:nvPr>
            <p:ph type="sldNum" sz="quarter" idx="5"/>
          </p:nvPr>
        </p:nvSpPr>
        <p:spPr/>
        <p:txBody>
          <a:bodyPr/>
          <a:lstStyle/>
          <a:p>
            <a:fld id="{D332089A-177E-394B-A286-CEFB8CB1D01F}" type="slidenum">
              <a:rPr lang="en-US" smtClean="0"/>
              <a:t>4</a:t>
            </a:fld>
            <a:endParaRPr lang="en-US"/>
          </a:p>
        </p:txBody>
      </p:sp>
    </p:spTree>
    <p:extLst>
      <p:ext uri="{BB962C8B-B14F-4D97-AF65-F5344CB8AC3E}">
        <ns2:creationId val="557091510"/>
      </p:ext>
    </p:extLst>
  </p:cSld>
  <p:clrMapOvr>
    <a:masterClrMapping/>
  </p:clrMapOvr>
</p:notes>
</file>

<file path=ppt/notesSlides/notesSlide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You will lead a number talk with the 7-dot flash card right now. Use this as a live demonstration so students can experience it as learners first.</a:t>
            </a:r>
          </a:p>
          <a:p>
            <a:r>
              <a:rPr lang="en-US" dirty="0"/>
              <a:t>PROCEDURE:</a:t>
            </a:r>
          </a:p>
          <a:p>
            <a:r>
              <a:rPr lang="en-US" dirty="0"/>
              <a:t>1. Show the 7-dot pattern on the card/screen for 3-5 seconds, then cover it.</a:t>
            </a:r>
          </a:p>
          <a:p>
            <a:r>
              <a:rPr lang="en-US" dirty="0"/>
              <a:t>2. Ask: "How many did you see? Tell me in a way that shows your thinking." Allow 2-3 minutes silent thinking time—students can jot thoughts/quick sketches.</a:t>
            </a:r>
          </a:p>
          <a:p>
            <a:r>
              <a:rPr lang="en-US" dirty="0"/>
              <a:t>3. Go around and collect 3-4 different answers/strategies (don't correct yet). Represent each strategy visually on the board:</a:t>
            </a:r>
          </a:p>
          <a:p>
            <a:r>
              <a:rPr lang="en-US" dirty="0"/>
              <a:t>- "I counted by ones: 1, 2, 3, 4, 5, 6, 7"</a:t>
            </a:r>
          </a:p>
          <a:p>
            <a:r>
              <a:rPr lang="en-US" dirty="0"/>
              <a:t>- "I saw two groups: 3 and 4"</a:t>
            </a:r>
          </a:p>
          <a:p>
            <a:r>
              <a:rPr lang="en-US" dirty="0"/>
              <a:t>- "I saw two groups: 5 and 2"</a:t>
            </a:r>
          </a:p>
          <a:p>
            <a:r>
              <a:rPr lang="en-US" dirty="0"/>
              <a:t>- "I made a pattern/visual grouping"</a:t>
            </a:r>
          </a:p>
          <a:p>
            <a:r>
              <a:rPr lang="en-US" dirty="0"/>
              <a:t>4. Affirm all strategies. Say things like: "I like how you used groups," "That's a fast way to figure it out."</a:t>
            </a:r>
          </a:p>
          <a:p>
            <a:r>
              <a:rPr lang="en-US" dirty="0"/>
              <a:t>5. Ask: "Which strategy was helpful to you?" Let students connect strategies.</a:t>
            </a:r>
          </a:p>
          <a:p>
            <a:r>
              <a:rPr lang="en-US" dirty="0"/>
              <a:t>Key teaching moves: Wait time (silence is OK), revoicing ("So you saw 5 and 2, and that made 7?"), connecting ("Anyone use a similar idea?")</a:t>
            </a:r>
          </a:p>
          <a:p>
            <a:r>
              <a:rPr lang="en-US" dirty="0"/>
              <a:t>Debrief briefly: "This is a number talk. Now we'll watch how this looks with addition facts and see what the teacher does to help students think."</a:t>
            </a:r>
          </a:p>
        </p:txBody>
      </p:sp>
      <p:sp>
        <p:nvSpPr>
          <p:cNvPr id="4" name="Slide Number Placeholder 3"/>
          <p:cNvSpPr>
            <a:spLocks noGrp="1"/>
          </p:cNvSpPr>
          <p:nvPr>
            <p:ph type="sldNum" sz="quarter" idx="5"/>
          </p:nvPr>
        </p:nvSpPr>
        <p:spPr/>
        <p:txBody>
          <a:bodyPr/>
          <a:lstStyle/>
          <a:p>
            <a:fld id="{D332089A-177E-394B-A286-CEFB8CB1D01F}" type="slidenum">
              <a:rPr lang="en-US" smtClean="0"/>
              <a:t>5</a:t>
            </a:fld>
            <a:endParaRPr lang="en-US"/>
          </a:p>
        </p:txBody>
      </p:sp>
    </p:spTree>
    <p:extLst>
      <p:ext uri="{BB962C8B-B14F-4D97-AF65-F5344CB8AC3E}">
        <ns2:creationId val="1681799903"/>
      </p:ext>
    </p:extLst>
  </p:cSld>
  <p:clrMapOvr>
    <a:masterClrMapping/>
  </p:clrMapOvr>
</p:notes>
</file>

<file path=ppt/notesSlides/notesSlide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fact fluency to standards. Read the standard on the slide (likely CCSS or Indiana standard about fluency with addition/subtraction within 10, 20, etc. depending on grade).</a:t>
            </a:r>
          </a:p>
          <a:p>
            <a:r>
              <a:rPr lang="en-US" dirty="0"/>
              <a:t>Key point to emphasize: Standards don't say "memorize by drill." They say "fluent"—which means flexible, efficient, and strategic. This distinction is critical for teacher candidates to understand.</a:t>
            </a:r>
          </a:p>
          <a:p>
            <a:r>
              <a:rPr lang="en-US" dirty="0"/>
              <a:t>Ask students: "What does 'fluent' mean in music? (smooth, flowing, knows the piece well enough to play expressively) Math fluency is similar—it's not about speed or memorization, it's about knowing multiple ways to solve and choosing an efficient strategy."</a:t>
            </a:r>
          </a:p>
          <a:p>
            <a:r>
              <a:rPr lang="en-US" dirty="0"/>
              <a:t>Connect this to the lesson ahead: We're going to see HOW students develop this fluency—through building strategies, NOT through timed drills.</a:t>
            </a:r>
          </a:p>
        </p:txBody>
      </p:sp>
      <p:sp>
        <p:nvSpPr>
          <p:cNvPr id="4" name="Slide Number Placeholder 3"/>
          <p:cNvSpPr>
            <a:spLocks noGrp="1"/>
          </p:cNvSpPr>
          <p:nvPr>
            <p:ph type="sldNum" sz="quarter" idx="5"/>
          </p:nvPr>
        </p:nvSpPr>
        <p:spPr/>
        <p:txBody>
          <a:bodyPr/>
          <a:lstStyle/>
          <a:p>
            <a:fld id="{D332089A-177E-394B-A286-CEFB8CB1D01F}" type="slidenum">
              <a:rPr lang="en-US" smtClean="0"/>
              <a:t>6</a:t>
            </a:fld>
            <a:endParaRPr lang="en-US"/>
          </a:p>
        </p:txBody>
      </p:sp>
    </p:spTree>
    <p:extLst>
      <p:ext uri="{BB962C8B-B14F-4D97-AF65-F5344CB8AC3E}">
        <ns2:creationId val="327278626"/>
      </p:ext>
    </p:extLst>
  </p:cSld>
  <p:clrMapOvr>
    <a:masterClrMapping/>
  </p:clrMapOvr>
</p:notes>
</file>

<file path=ppt/notesSlides/notesSlide6.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Van de Walle's four components of fact fluency (this is foundational to the lesson). Read each component as you go through them.</a:t>
            </a:r>
          </a:p>
          <a:p>
            <a:r>
              <a:rPr lang="en-US" dirty="0"/>
              <a:t>Make sure to emphasize: These are sequential. Students must first understand the concept (e.g., "what is 7+3?"), then develop strategies (e.g., "I can make a ten"), then build efficiency, and finally they might memorize as a result of using the facts repeatedly.</a:t>
            </a:r>
          </a:p>
          <a:p>
            <a:r>
              <a:rPr lang="en-US" dirty="0"/>
              <a:t>This is VERY different from traditional drill-and-practice. The memorization happens at the end of the development, not the beginning.</a:t>
            </a:r>
          </a:p>
        </p:txBody>
      </p:sp>
      <p:sp>
        <p:nvSpPr>
          <p:cNvPr id="4" name="Slide Number Placeholder 3"/>
          <p:cNvSpPr>
            <a:spLocks noGrp="1"/>
          </p:cNvSpPr>
          <p:nvPr>
            <p:ph type="sldNum" sz="quarter" idx="5"/>
          </p:nvPr>
        </p:nvSpPr>
        <p:spPr/>
        <p:txBody>
          <a:bodyPr/>
          <a:lstStyle/>
          <a:p>
            <a:fld id="{D332089A-177E-394B-A286-CEFB8CB1D01F}" type="slidenum">
              <a:rPr lang="en-US" smtClean="0"/>
              <a:t>7</a:t>
            </a:fld>
            <a:endParaRPr lang="en-US"/>
          </a:p>
        </p:txBody>
      </p:sp>
    </p:spTree>
    <p:extLst>
      <p:ext uri="{BB962C8B-B14F-4D97-AF65-F5344CB8AC3E}">
        <ns2:creationId val="2153691151"/>
      </p:ext>
    </p:extLst>
  </p:cSld>
  <p:clrMapOvr>
    <a:masterClrMapping/>
  </p:clrMapOvr>
</p:notes>
</file>

<file path=ppt/notesSlides/notesSlide7.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Continue the explanation of fact fluency components if there are multiple parts shown. Ensure students understand that fluency development is:</a:t>
            </a:r>
          </a:p>
          <a:p>
            <a:r>
              <a:rPr lang="en-US" dirty="0"/>
              <a:t>• Conceptual first (understanding WHY 7+3=10)</a:t>
            </a:r>
          </a:p>
          <a:p>
            <a:r>
              <a:rPr lang="en-US" dirty="0"/>
              <a:t>• Strategic next (knowing multiple ways to get the answer)</a:t>
            </a:r>
          </a:p>
          <a:p>
            <a:r>
              <a:rPr lang="en-US" dirty="0"/>
              <a:t>• Efficient (recognizing which strategy is fastest for each problem)</a:t>
            </a:r>
          </a:p>
          <a:p>
            <a:r>
              <a:rPr lang="en-US" dirty="0"/>
              <a:t>• Automatic (after much use, the answer becomes automatic—this is NOT drilled in)</a:t>
            </a:r>
          </a:p>
          <a:p>
            <a:r>
              <a:rPr lang="en-US" dirty="0"/>
              <a:t>Emphasize the phrase: "Memorization should be a consequence of strategy use, not a goal in itself."</a:t>
            </a:r>
          </a:p>
          <a:p>
            <a:r>
              <a:rPr lang="en-US" dirty="0"/>
              <a:t>Ask: "Why is this important for YOUR classroom? Because if you only drill facts, students who haven't developed strategies yet will feel lost or anxious."</a:t>
            </a:r>
          </a:p>
        </p:txBody>
      </p:sp>
      <p:sp>
        <p:nvSpPr>
          <p:cNvPr id="4" name="Slide Number Placeholder 3"/>
          <p:cNvSpPr>
            <a:spLocks noGrp="1"/>
          </p:cNvSpPr>
          <p:nvPr>
            <p:ph type="sldNum" sz="quarter" idx="5"/>
          </p:nvPr>
        </p:nvSpPr>
        <p:spPr/>
        <p:txBody>
          <a:bodyPr/>
          <a:lstStyle/>
          <a:p>
            <a:fld id="{D332089A-177E-394B-A286-CEFB8CB1D01F}" type="slidenum">
              <a:rPr lang="en-US" smtClean="0"/>
              <a:t>8</a:t>
            </a:fld>
            <a:endParaRPr lang="en-US"/>
          </a:p>
        </p:txBody>
      </p:sp>
    </p:spTree>
    <p:extLst>
      <p:ext uri="{BB962C8B-B14F-4D97-AF65-F5344CB8AC3E}">
        <ns2:creationId val="992877748"/>
      </p:ext>
    </p:extLst>
  </p:cSld>
  <p:clrMapOvr>
    <a:masterClrMapping/>
  </p:clrMapOvr>
</p:notes>
</file>

<file path=ppt/notesSlides/notesSlide8.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 distinction: Automaticity ≠ Fluency.</a:t>
            </a:r>
          </a:p>
          <a:p>
            <a:r>
              <a:rPr lang="en-US" dirty="0"/>
              <a:t>Automaticity = quick, automatic recall (like "7+3" instantly = "10")</a:t>
            </a:r>
          </a:p>
          <a:p>
            <a:r>
              <a:rPr lang="en-US" dirty="0"/>
              <a:t>Fluency = knowing multiple strategies, choosing an efficient one, and being flexible</a:t>
            </a:r>
          </a:p>
          <a:p>
            <a:r>
              <a:rPr lang="en-US" dirty="0"/>
              <a:t>Many traditional curricula conflate these. The standard asks for FLUENCY, not automaticity.</a:t>
            </a:r>
          </a:p>
          <a:p>
            <a:r>
              <a:rPr lang="en-US" dirty="0"/>
              <a:t>Key teaching move: Help students see that automaticity might happen naturally once fluency is developed and facts are used repeatedly. But it's not the goal—fluency is.</a:t>
            </a:r>
          </a:p>
          <a:p>
            <a:r>
              <a:rPr lang="en-US" dirty="0"/>
              <a:t>Example: "A student who is fluent with 7+3 might say '7 and 3 makes 10, so it's 10' OR 'I know 7+2 is 9, so 7+3 is one more, so 10.' Either way is fluent. Eventually they'll just say '10' automatically. But we're building fluency first."</a:t>
            </a:r>
          </a:p>
        </p:txBody>
      </p:sp>
      <p:sp>
        <p:nvSpPr>
          <p:cNvPr id="4" name="Slide Number Placeholder 3"/>
          <p:cNvSpPr>
            <a:spLocks noGrp="1"/>
          </p:cNvSpPr>
          <p:nvPr>
            <p:ph type="sldNum" sz="quarter" idx="5"/>
          </p:nvPr>
        </p:nvSpPr>
        <p:spPr/>
        <p:txBody>
          <a:bodyPr/>
          <a:lstStyle/>
          <a:p>
            <a:fld id="{D332089A-177E-394B-A286-CEFB8CB1D01F}" type="slidenum">
              <a:rPr lang="en-US" smtClean="0"/>
              <a:t>9</a:t>
            </a:fld>
            <a:endParaRPr lang="en-US"/>
          </a:p>
        </p:txBody>
      </p:sp>
    </p:spTree>
    <p:extLst>
      <p:ext uri="{BB962C8B-B14F-4D97-AF65-F5344CB8AC3E}">
        <ns2:creationId val="1545829781"/>
      </p:ext>
    </p:extLst>
  </p:cSld>
  <p:clrMapOvr>
    <a:masterClrMapping/>
  </p:clrMapOvr>
</p:notes>
</file>

<file path=ppt/notesSlides/notesSlide9.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developmental phases of fact learning. This is crucial context for why number talks matter.</a:t>
            </a:r>
          </a:p>
          <a:p>
            <a:r>
              <a:rPr lang="en-US" dirty="0"/>
              <a:t>Phase 1 (Counting strategies): Students still need to count. They use fingers, objects, drawings. They're building foundational understanding. Examples: 8+2 by counting on from 8; 6+4 by counting all. This is developmentally appropriate and necessary.</a:t>
            </a:r>
          </a:p>
          <a:p>
            <a:r>
              <a:rPr lang="en-US" dirty="0"/>
              <a:t>Help students see: "Phase 1 is not 'broken.' It's the foundation. We support it, then gradually move students toward more efficient strategies."</a:t>
            </a:r>
          </a:p>
          <a:p>
            <a:r>
              <a:rPr lang="en-US" dirty="0"/>
              <a:t>Question for the group: "Have you seen a first grader use fingers? Is that bad? (No!) It shows they understand the quantity and are working toward efficiency."</a:t>
            </a:r>
          </a:p>
        </p:txBody>
      </p:sp>
      <p:sp>
        <p:nvSpPr>
          <p:cNvPr id="4" name="Slide Number Placeholder 3"/>
          <p:cNvSpPr>
            <a:spLocks noGrp="1"/>
          </p:cNvSpPr>
          <p:nvPr>
            <p:ph type="sldNum" sz="quarter" idx="5"/>
          </p:nvPr>
        </p:nvSpPr>
        <p:spPr/>
        <p:txBody>
          <a:bodyPr/>
          <a:lstStyle/>
          <a:p>
            <a:fld id="{D332089A-177E-394B-A286-CEFB8CB1D01F}" type="slidenum">
              <a:rPr lang="en-US" smtClean="0"/>
              <a:t>10</a:t>
            </a:fld>
            <a:endParaRPr lang="en-US"/>
          </a:p>
        </p:txBody>
      </p:sp>
    </p:spTree>
    <p:extLst>
      <p:ext uri="{BB962C8B-B14F-4D97-AF65-F5344CB8AC3E}">
        <ns2:creationId val="4185362192"/>
      </p:ext>
    </p:extLst>
  </p:cSld>
  <p:clrMapOvr>
    <a:masterClrMapping/>
  </p:clrMapOvr>
</p:notes>
</file>

<file path=ppt/notesSlides/notesSlide10.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Phase 2 (Strategy-based): Students are building efficient strategies WITHOUT counting all. Key strategies include:</a:t>
            </a:r>
          </a:p>
          <a:p>
            <a:r>
              <a:rPr lang="en-US" dirty="0"/>
              <a:t>• Doubles (6+6=12, then 6+7 is one more)</a:t>
            </a:r>
          </a:p>
          <a:p>
            <a:r>
              <a:rPr lang="en-US" dirty="0"/>
              <a:t>• Near doubles (7+8 = 7+7+1 = 14+1 = 15)</a:t>
            </a:r>
          </a:p>
          <a:p>
            <a:r>
              <a:rPr lang="en-US" dirty="0"/>
              <a:t>• Make a ten (7+4: make 10 by taking 3 from the 4, so 10+1=11)</a:t>
            </a:r>
          </a:p>
          <a:p>
            <a:r>
              <a:rPr lang="en-US" dirty="0"/>
              <a:t>• Decomposing (8+6: 8+2+4 = 10+4 = 14)</a:t>
            </a:r>
          </a:p>
          <a:p>
            <a:r>
              <a:rPr lang="en-US" dirty="0"/>
              <a:t>• Building on known facts (8+5: "I know 8+4=12, so 8+5 is one more, so 13")</a:t>
            </a:r>
          </a:p>
          <a:p>
            <a:r>
              <a:rPr lang="en-US" dirty="0"/>
              <a:t>These are the strategies you'll see in the video. Students at this phase are efficient and flexible.</a:t>
            </a:r>
          </a:p>
          <a:p>
            <a:r>
              <a:rPr lang="en-US" dirty="0"/>
              <a:t>Say: "When we do number talks, we're helping students move through this phase by showing them that there are MANY ways to think about a problem. Some kids will use doubles, some will make a ten—both are smart!"</a:t>
            </a:r>
          </a:p>
        </p:txBody>
      </p:sp>
      <p:sp>
        <p:nvSpPr>
          <p:cNvPr id="4" name="Slide Number Placeholder 3"/>
          <p:cNvSpPr>
            <a:spLocks noGrp="1"/>
          </p:cNvSpPr>
          <p:nvPr>
            <p:ph type="sldNum" sz="quarter" idx="5"/>
          </p:nvPr>
        </p:nvSpPr>
        <p:spPr/>
        <p:txBody>
          <a:bodyPr/>
          <a:lstStyle/>
          <a:p>
            <a:fld id="{D332089A-177E-394B-A286-CEFB8CB1D01F}" type="slidenum">
              <a:rPr lang="en-US" smtClean="0"/>
              <a:t>11</a:t>
            </a:fld>
            <a:endParaRPr lang="en-US"/>
          </a:p>
        </p:txBody>
      </p:sp>
    </p:spTree>
    <p:extLst>
      <p:ext uri="{BB962C8B-B14F-4D97-AF65-F5344CB8AC3E}">
        <ns2:creationId val="3910927226"/>
      </p:ext>
    </p:extLst>
  </p:cSld>
  <p:clrMapOvr>
    <a:masterClrMapping/>
  </p:clrMapOvr>
</p:notes>
</file>

<file path=ppt/notesSlides/notesSlide11.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Critique memorization-focused approaches while being respectful. Many teachers grew up with flashcard drills and may be skeptical of other approaches.</a:t>
            </a:r>
          </a:p>
          <a:p>
            <a:r>
              <a:rPr lang="en-US" dirty="0"/>
              <a:t>Key points:</a:t>
            </a:r>
          </a:p>
          <a:p>
            <a:r>
              <a:rPr lang="en-US" dirty="0"/>
              <a:t>• Traditional memorization (flashcard drills, timed tests) often skips the developmental phases shown in Slide 9-10</a:t>
            </a:r>
          </a:p>
          <a:p>
            <a:r>
              <a:rPr lang="en-US" dirty="0"/>
              <a:t>• Students who haven't developed strategies yet often fall behind and become math-anxious</a:t>
            </a:r>
          </a:p>
          <a:p>
            <a:r>
              <a:rPr lang="en-US" dirty="0"/>
              <a:t>• Memorization can work for some kids but doesn't help them develop flexible thinking</a:t>
            </a:r>
          </a:p>
          <a:p>
            <a:r>
              <a:rPr lang="en-US" dirty="0"/>
              <a:t>• This approach has NOT been research-supported for the past 20+ years</a:t>
            </a:r>
          </a:p>
          <a:p>
            <a:r>
              <a:rPr lang="en-US" dirty="0"/>
              <a:t>Ask: "Has anyone had the experience of being drilled on facts as a kid? How did that feel? Did it help you understand math?" (Many will have negative associations. Validate those.)</a:t>
            </a:r>
          </a:p>
          <a:p>
            <a:r>
              <a:rPr lang="en-US" dirty="0"/>
              <a:t>Position this positively: "There's a better way that actually BUILDS understanding AND gets students to fluency faster."</a:t>
            </a:r>
          </a:p>
        </p:txBody>
      </p:sp>
      <p:sp>
        <p:nvSpPr>
          <p:cNvPr id="4" name="Slide Number Placeholder 3"/>
          <p:cNvSpPr>
            <a:spLocks noGrp="1"/>
          </p:cNvSpPr>
          <p:nvPr>
            <p:ph type="sldNum" sz="quarter" idx="5"/>
          </p:nvPr>
        </p:nvSpPr>
        <p:spPr/>
        <p:txBody>
          <a:bodyPr/>
          <a:lstStyle/>
          <a:p>
            <a:fld id="{D332089A-177E-394B-A286-CEFB8CB1D01F}" type="slidenum">
              <a:rPr lang="en-US" smtClean="0"/>
              <a:t>12</a:t>
            </a:fld>
            <a:endParaRPr lang="en-US"/>
          </a:p>
        </p:txBody>
      </p:sp>
    </p:spTree>
    <p:extLst>
      <p:ext uri="{BB962C8B-B14F-4D97-AF65-F5344CB8AC3E}">
        <ns2:creationId val="975813787"/>
      </p:ext>
    </p:extLst>
  </p:cSld>
  <p:clrMapOvr>
    <a:masterClrMapping/>
  </p:clrMapOvr>
</p:notes>
</file>

<file path=ppt/notesSlides/notesSlide12.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 research-informed approaches. These are the alternatives to pure memorization.</a:t>
            </a:r>
          </a:p>
          <a:p>
            <a:r>
              <a:rPr lang="en-US" dirty="0"/>
              <a:t>Best practices include:</a:t>
            </a:r>
          </a:p>
          <a:p>
            <a:r>
              <a:rPr lang="en-US" dirty="0"/>
              <a:t>1. Use story/context problems: "Maria has 7 apples. Her friend gives her 4 more. How many does she have?" This gives meaning to the operation.</a:t>
            </a:r>
          </a:p>
          <a:p>
            <a:r>
              <a:rPr lang="en-US" dirty="0"/>
              <a:t>2. Use manipulatives/visual models: Ten frames, number lines, part-part-whole models</a:t>
            </a:r>
          </a:p>
          <a:p>
            <a:r>
              <a:rPr lang="en-US" dirty="0"/>
              <a:t>3. Play strategy games: Subitizing games, "Make 10" games</a:t>
            </a:r>
          </a:p>
          <a:p>
            <a:r>
              <a:rPr lang="en-US" dirty="0"/>
              <a:t>4. Use number talks (as you're doing today!)</a:t>
            </a:r>
          </a:p>
          <a:p>
            <a:r>
              <a:rPr lang="en-US" dirty="0"/>
              <a:t>5. Build fact families: 7+3=10, 3+7=10, 10-7=3, 10-3=7 (all related)</a:t>
            </a:r>
          </a:p>
          <a:p>
            <a:r>
              <a:rPr lang="en-US" dirty="0"/>
              <a:t>Emphasize: "These methods build understanding AND eventually lead to memorization. It's not either/or—it's building facts on a foundation."</a:t>
            </a:r>
          </a:p>
          <a:p>
            <a:r>
              <a:rPr lang="en-US" dirty="0"/>
              <a:t>Timeline: By mid-grade 1 (with daily support), most kids should be fluent with +/- facts within 5. By end of grade 1, within 10. By grade 2, within 20.</a:t>
            </a:r>
          </a:p>
        </p:txBody>
      </p:sp>
      <p:sp>
        <p:nvSpPr>
          <p:cNvPr id="4" name="Slide Number Placeholder 3"/>
          <p:cNvSpPr>
            <a:spLocks noGrp="1"/>
          </p:cNvSpPr>
          <p:nvPr>
            <p:ph type="sldNum" sz="quarter" idx="5"/>
          </p:nvPr>
        </p:nvSpPr>
        <p:spPr/>
        <p:txBody>
          <a:bodyPr/>
          <a:lstStyle/>
          <a:p>
            <a:fld id="{D332089A-177E-394B-A286-CEFB8CB1D01F}" type="slidenum">
              <a:rPr lang="en-US" smtClean="0"/>
              <a:t>13</a:t>
            </a:fld>
            <a:endParaRPr lang="en-US"/>
          </a:p>
        </p:txBody>
      </p:sp>
    </p:spTree>
    <p:extLst>
      <p:ext uri="{BB962C8B-B14F-4D97-AF65-F5344CB8AC3E}">
        <ns2:creationId val="3574829090"/>
      </p:ext>
    </p:extLst>
  </p:cSld>
  <p:clrMapOvr>
    <a:masterClrMapping/>
  </p:clrMapOvr>
</p:notes>
</file>

<file path=ppt/notesSlides/notesSlide13.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a transition slide to prepare for the video. Tell students: "In the video you're about to watch, you'll see a teacher do a number talk with 8+6. Watch for the different strategies the kids use. We'll pause and talk about them."</a:t>
            </a:r>
          </a:p>
          <a:p>
            <a:r>
              <a:rPr lang="en-US" dirty="0"/>
              <a:t>Frame the video viewing: "First viewing: Notice all the different ways kids solved 8+6. How many different strategies can you count? Second viewing: Notice what the TEACHER does. What moves does she make? How does she help kids think?"</a:t>
            </a:r>
          </a:p>
          <a:p>
            <a:r>
              <a:rPr lang="en-US" dirty="0"/>
              <a:t>This frames the observation task and keeps students focused during the video.</a:t>
            </a:r>
          </a:p>
        </p:txBody>
      </p:sp>
      <p:sp>
        <p:nvSpPr>
          <p:cNvPr id="4" name="Slide Number Placeholder 3"/>
          <p:cNvSpPr>
            <a:spLocks noGrp="1"/>
          </p:cNvSpPr>
          <p:nvPr>
            <p:ph type="sldNum" sz="quarter" idx="5"/>
          </p:nvPr>
        </p:nvSpPr>
        <p:spPr/>
        <p:txBody>
          <a:bodyPr/>
          <a:lstStyle/>
          <a:p>
            <a:fld id="{D332089A-177E-394B-A286-CEFB8CB1D01F}" type="slidenum">
              <a:rPr lang="en-US" smtClean="0"/>
              <a:t>14</a:t>
            </a:fld>
            <a:endParaRPr lang="en-US"/>
          </a:p>
        </p:txBody>
      </p:sp>
    </p:spTree>
    <p:extLst>
      <p:ext uri="{BB962C8B-B14F-4D97-AF65-F5344CB8AC3E}">
        <ns2:creationId val="1259216219"/>
      </p:ext>
    </p:extLst>
  </p:cSld>
  <p:clrMapOvr>
    <a:masterClrMapping/>
  </p:clrMapOvr>
</p:notes>
</file>

<file path=ppt/notesSlides/notesSlide14.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the video (or during pauses), refer to this slide to name the strategies students used.</a:t>
            </a:r>
          </a:p>
          <a:p>
            <a:r>
              <a:rPr lang="en-US" dirty="0"/>
              <a:t>Reference the video students:</a:t>
            </a:r>
          </a:p>
          <a:p>
            <a:r>
              <a:rPr lang="en-US" dirty="0"/>
              <a:t>• Lorena: Uses doubles. 7+7=14, and 8+6 is one more each, so still 14. (Or similar doubling logic)</a:t>
            </a:r>
          </a:p>
          <a:p>
            <a:r>
              <a:rPr lang="en-US" dirty="0"/>
              <a:t>• Kim: Decomposes 8+2+4. Breaks 6 into 2 and 4, adds 2 to make 10, then adds 4.</a:t>
            </a:r>
          </a:p>
          <a:p>
            <a:r>
              <a:rPr lang="en-US" dirty="0"/>
              <a:t>• Lane: Make-ten strategy. Takes from one number to make 10 with the other, then adds remainder.</a:t>
            </a:r>
          </a:p>
          <a:p>
            <a:r>
              <a:rPr lang="en-US" dirty="0"/>
              <a:t>• Patrick/Selena: Building on known facts. "I know 8+5=13, so 8+6=14."</a:t>
            </a:r>
          </a:p>
          <a:p>
            <a:r>
              <a:rPr lang="en-US" dirty="0"/>
              <a:t>• Greta: Near doubles. 6+6=12, so 8+6 must be 2 more, = 14.</a:t>
            </a:r>
          </a:p>
          <a:p>
            <a:r>
              <a:rPr lang="en-US" dirty="0"/>
              <a:t>Highlight: "Each strategy is VALID. No one is 'better'—they're just different. In a real classroom, you'd want kids to see ALL these options and eventually choose which strategy they like best."</a:t>
            </a:r>
          </a:p>
          <a:p>
            <a:r>
              <a:rPr lang="en-US" dirty="0"/>
              <a:t>Key teaching move: "The teacher RECORDS each strategy visually. She doesn't say 'yes, that's right' and move on. She shows HOW each kid thought. Why? Because other kids see themselves in those strategies and can try them."</a:t>
            </a:r>
          </a:p>
        </p:txBody>
      </p:sp>
      <p:sp>
        <p:nvSpPr>
          <p:cNvPr id="4" name="Slide Number Placeholder 3"/>
          <p:cNvSpPr>
            <a:spLocks noGrp="1"/>
          </p:cNvSpPr>
          <p:nvPr>
            <p:ph type="sldNum" sz="quarter" idx="5"/>
          </p:nvPr>
        </p:nvSpPr>
        <p:spPr/>
        <p:txBody>
          <a:bodyPr/>
          <a:lstStyle/>
          <a:p>
            <a:fld id="{D332089A-177E-394B-A286-CEFB8CB1D01F}" type="slidenum">
              <a:rPr lang="en-US" smtClean="0"/>
              <a:t>15</a:t>
            </a:fld>
            <a:endParaRPr lang="en-US"/>
          </a:p>
        </p:txBody>
      </p:sp>
    </p:spTree>
    <p:extLst>
      <p:ext uri="{BB962C8B-B14F-4D97-AF65-F5344CB8AC3E}">
        <ns2:creationId val="2309953688"/>
      </p:ext>
    </p:extLst>
  </p:cSld>
  <p:clrMapOvr>
    <a:masterClrMapping/>
  </p:clrMapOvr>
</p:notes>
</file>

<file path=ppt/notesSlides/notesSlide15.xml><?xml version="1.0" encoding="utf-8"?>
<p:notes xmlns:a="http://schemas.openxmlformats.org/drawingml/2006/main" xmlns:ns2="http://schemas.microsoft.com/office/powerpoint/2010/main"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Subtraction is often taught as a separate operation, but it builds on addition understanding. Key strategies:</a:t>
            </a:r>
          </a:p>
          <a:p>
            <a:r>
              <a:rPr lang="en-US" dirty="0"/>
              <a:t>Think-addition: 15-8="How far apart are 15 and 8?" This is actually MORE efficient than "count back." It connects to fact families.</a:t>
            </a:r>
          </a:p>
          <a:p>
            <a:r>
              <a:rPr lang="en-US" dirty="0"/>
              <a:t>Count up: From 8, count up to 15. 8...9, 10 (2), 11 (3), 12 (4), 13 (5), 14 (6), 15 (7). So 7.</a:t>
            </a:r>
          </a:p>
          <a:p>
            <a:r>
              <a:rPr lang="en-US" dirty="0"/>
              <a:t>Count back: From 15, count back 8. This is slower but developmentally appropriate first.</a:t>
            </a:r>
          </a:p>
          <a:p>
            <a:r>
              <a:rPr lang="en-US" dirty="0"/>
              <a:t>Decompose/Break apart: 15-8 = 15-5-3 = 10-3 = 7</a:t>
            </a:r>
          </a:p>
          <a:p>
            <a:r>
              <a:rPr lang="en-US" dirty="0"/>
              <a:t>Use ten frames: Show 15 in a ten frame, remove 8, count what's left.</a:t>
            </a:r>
          </a:p>
          <a:p>
            <a:r>
              <a:rPr lang="en-US" dirty="0"/>
              <a:t>Emphasize: "Subtraction can feel harder to kids than addition. Why? Because the structures aren't as obvious. NUMBER TALKS help kids see that subtraction is related to addition and builds flexibility."</a:t>
            </a:r>
          </a:p>
          <a:p>
            <a:r>
              <a:rPr lang="en-US" dirty="0"/>
              <a:t>Note: In the group activity (next), students will facilitate a SUBTRACTION number talk.</a:t>
            </a:r>
          </a:p>
        </p:txBody>
      </p:sp>
      <p:sp>
        <p:nvSpPr>
          <p:cNvPr id="4" name="Slide Number Placeholder 3"/>
          <p:cNvSpPr>
            <a:spLocks noGrp="1"/>
          </p:cNvSpPr>
          <p:nvPr>
            <p:ph type="sldNum" sz="quarter" idx="5"/>
          </p:nvPr>
        </p:nvSpPr>
        <p:spPr/>
        <p:txBody>
          <a:bodyPr/>
          <a:lstStyle/>
          <a:p>
            <a:fld id="{D332089A-177E-394B-A286-CEFB8CB1D01F}" type="slidenum">
              <a:rPr lang="en-US" smtClean="0"/>
              <a:t>16</a:t>
            </a:fld>
            <a:endParaRPr lang="en-US"/>
          </a:p>
        </p:txBody>
      </p:sp>
    </p:spTree>
    <p:extLst>
      <p:ext uri="{BB962C8B-B14F-4D97-AF65-F5344CB8AC3E}">
        <ns2:creationId val="300414270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Wrap up the session by reviewing what was covered and connecting to next time.</a:t>
            </a:r>
          </a:p>
          <a:p>
            <a:r>
              <a:rPr lang="en-US" dirty="0"/>
              <a:t>Summary of today:</a:t>
            </a:r>
          </a:p>
          <a:p>
            <a:r>
              <a:rPr lang="en-US" dirty="0"/>
              <a:t>• Experienced a number talk firsthand (with the 7-dot pattern)</a:t>
            </a:r>
          </a:p>
          <a:p>
            <a:r>
              <a:rPr lang="en-US" dirty="0"/>
              <a:t>• Learned Van de Walle's definition of fact fluency (4 components)</a:t>
            </a:r>
          </a:p>
          <a:p>
            <a:r>
              <a:rPr lang="en-US" dirty="0"/>
              <a:t>• Watched and analyzed teacher moves in a number talk video</a:t>
            </a:r>
          </a:p>
          <a:p>
            <a:r>
              <a:rPr lang="en-US" dirty="0"/>
              <a:t>• Facilitated a subtraction number talk in groups</a:t>
            </a:r>
          </a:p>
          <a:p>
            <a:r>
              <a:rPr lang="en-US" dirty="0"/>
              <a:t>• Discussed assessment of fact fluency</a:t>
            </a:r>
          </a:p>
          <a:p>
            <a:r>
              <a:rPr lang="en-US" dirty="0"/>
              <a:t>Key take-away: "Fact fluency is built through strategy development, not memorization. Number talks are a powerful way to develop and share strategies. You'll use this routine in your own classroom."</a:t>
            </a:r>
          </a:p>
          <a:p>
            <a:r>
              <a:rPr lang="en-US" dirty="0"/>
              <a:t>Preview next class: "Next time we're learning about multiplication and division. Same principles apply—strategies and flexibility matter more than memorization. Come prepared to read the standards and articles linked on Canvas."</a:t>
            </a:r>
          </a:p>
          <a:p>
            <a:r>
              <a:rPr lang="en-US" dirty="0"/>
              <a:t>Send-off: "You all did great facilitating number talks today. It might feel awkward at first, but the more you do it, the more natural it becomes. Feel free to reach out if you have questions about number talks or fact fluency before next class."</a:t>
            </a:r>
          </a:p>
        </p:txBody>
      </p:sp>
      <p:sp>
        <p:nvSpPr>
          <p:cNvPr id="4" name="Slide Number Placeholder 3"/>
          <p:cNvSpPr>
            <a:spLocks noGrp="1"/>
          </p:cNvSpPr>
          <p:nvPr>
            <p:ph type="sldNum" sz="quarter" idx="5"/>
          </p:nvPr>
        </p:nvSpPr>
        <p:spPr/>
        <p:txBody>
          <a:bodyPr/>
          <a:lstStyle/>
          <a:p>
            <a:fld id="{D332089A-177E-394B-A286-CEFB8CB1D01F}" type="slidenum">
              <a:rPr lang="en-US" smtClean="0"/>
              <a:t>17</a:t>
            </a:fld>
            <a:endParaRPr lang="en-US"/>
          </a:p>
        </p:txBody>
      </p:sp>
    </p:spTree>
    <p:extLst>
      <p:ext uri="{BB962C8B-B14F-4D97-AF65-F5344CB8AC3E}">
        <p14:creationId xmlns:p14="http://schemas.microsoft.com/office/powerpoint/2010/main" val="436340300"/>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468187-F0F1-1C94-6403-3560BD8B1E7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27857E1D-F1E6-1798-C522-6E3E3648967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933E9B7D-C9A1-0C78-6783-BB5B224C1D1E}"/>
              </a:ext>
            </a:extLst>
          </p:cNvPr>
          <p:cNvSpPr>
            <a:spLocks noGrp="1"/>
          </p:cNvSpPr>
          <p:nvPr>
            <p:ph type="dt" sz="half" idx="10"/>
          </p:nvPr>
        </p:nvSpPr>
        <p:spPr/>
        <p:txBody>
          <a:bodyPr/>
          <a:lstStyle/>
          <a:p>
            <a:fld id="{22AF1F55-D339-F24F-8361-C4A13C7DDCBF}" type="datetimeFigureOut">
              <a:rPr lang="en-US" smtClean="0"/>
              <a:t>3/23/26</a:t>
            </a:fld>
            <a:endParaRPr lang="en-US"/>
          </a:p>
        </p:txBody>
      </p:sp>
      <p:sp>
        <p:nvSpPr>
          <p:cNvPr id="5" name="Footer Placeholder 4">
            <a:extLst>
              <a:ext uri="{FF2B5EF4-FFF2-40B4-BE49-F238E27FC236}">
                <a16:creationId xmlns:a16="http://schemas.microsoft.com/office/drawing/2014/main" id="{DFB3DC3A-2A15-2D0B-F92F-8E509170BFE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7C6BB33-556E-6A30-D3BB-C34CBD834605}"/>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180905347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92DDF4-8844-5434-17B1-D38A6510187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5A7A236-F12B-1A07-CAE0-A22D3E540AF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269E3E0-408D-934F-AAC8-B95DFF174FE8}"/>
              </a:ext>
            </a:extLst>
          </p:cNvPr>
          <p:cNvSpPr>
            <a:spLocks noGrp="1"/>
          </p:cNvSpPr>
          <p:nvPr>
            <p:ph type="dt" sz="half" idx="10"/>
          </p:nvPr>
        </p:nvSpPr>
        <p:spPr/>
        <p:txBody>
          <a:bodyPr/>
          <a:lstStyle/>
          <a:p>
            <a:fld id="{22AF1F55-D339-F24F-8361-C4A13C7DDCBF}" type="datetimeFigureOut">
              <a:rPr lang="en-US" smtClean="0"/>
              <a:t>3/23/26</a:t>
            </a:fld>
            <a:endParaRPr lang="en-US"/>
          </a:p>
        </p:txBody>
      </p:sp>
      <p:sp>
        <p:nvSpPr>
          <p:cNvPr id="5" name="Footer Placeholder 4">
            <a:extLst>
              <a:ext uri="{FF2B5EF4-FFF2-40B4-BE49-F238E27FC236}">
                <a16:creationId xmlns:a16="http://schemas.microsoft.com/office/drawing/2014/main" id="{C997E28B-9C04-4079-9E14-823184BFA41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40E90F67-770C-F7CF-28A4-54B0547142B8}"/>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2531340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249FE-4A87-DF01-F4E8-B882C8E76ED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E1464E25-991B-25DD-45C5-61AC213E805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F9E25FE-5529-0D3A-6D27-6224413C9BF3}"/>
              </a:ext>
            </a:extLst>
          </p:cNvPr>
          <p:cNvSpPr>
            <a:spLocks noGrp="1"/>
          </p:cNvSpPr>
          <p:nvPr>
            <p:ph type="dt" sz="half" idx="10"/>
          </p:nvPr>
        </p:nvSpPr>
        <p:spPr/>
        <p:txBody>
          <a:bodyPr/>
          <a:lstStyle/>
          <a:p>
            <a:fld id="{22AF1F55-D339-F24F-8361-C4A13C7DDCBF}" type="datetimeFigureOut">
              <a:rPr lang="en-US" smtClean="0"/>
              <a:t>3/23/26</a:t>
            </a:fld>
            <a:endParaRPr lang="en-US"/>
          </a:p>
        </p:txBody>
      </p:sp>
      <p:sp>
        <p:nvSpPr>
          <p:cNvPr id="5" name="Footer Placeholder 4">
            <a:extLst>
              <a:ext uri="{FF2B5EF4-FFF2-40B4-BE49-F238E27FC236}">
                <a16:creationId xmlns:a16="http://schemas.microsoft.com/office/drawing/2014/main" id="{FC5B117C-1223-73C0-8D78-36CC716D8C6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0EC437C-1FEB-EBB4-A155-023DF488DC38}"/>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22301039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9E241A-1629-A9D7-6B09-7032B9B5058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D4A4C398-4D87-BAA9-35C9-C94EA79B689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F9ED6438-7FD6-78C4-FA40-2E651E309FFE}"/>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145398B6-9964-07B2-E866-9EE1225F65DE}"/>
              </a:ext>
            </a:extLst>
          </p:cNvPr>
          <p:cNvSpPr>
            <a:spLocks noGrp="1"/>
          </p:cNvSpPr>
          <p:nvPr>
            <p:ph type="dt" sz="half" idx="10"/>
          </p:nvPr>
        </p:nvSpPr>
        <p:spPr/>
        <p:txBody>
          <a:bodyPr/>
          <a:lstStyle/>
          <a:p>
            <a:fld id="{22AF1F55-D339-F24F-8361-C4A13C7DDCBF}" type="datetimeFigureOut">
              <a:rPr lang="en-US" smtClean="0"/>
              <a:t>3/23/26</a:t>
            </a:fld>
            <a:endParaRPr lang="en-US"/>
          </a:p>
        </p:txBody>
      </p:sp>
      <p:sp>
        <p:nvSpPr>
          <p:cNvPr id="6" name="Footer Placeholder 5">
            <a:extLst>
              <a:ext uri="{FF2B5EF4-FFF2-40B4-BE49-F238E27FC236}">
                <a16:creationId xmlns:a16="http://schemas.microsoft.com/office/drawing/2014/main" id="{3FD900F8-7A28-0F15-0463-67018AF6725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196ECDB-0E76-EB02-D3B1-DCAF37971BBB}"/>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35372427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BACEA-E79E-AE0A-B105-3BB1B89B518A}"/>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D359A346-93E5-A9D8-51A0-E2950586D5F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EE686828-A7B1-5F98-95B8-B55AF20AE1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5D8288DF-243F-01F5-6D87-E12593B8800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AC09972D-D00C-4477-A934-64B88B6B284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68FABA4D-49CC-1A5F-3B43-E308CD5B3A4E}"/>
              </a:ext>
            </a:extLst>
          </p:cNvPr>
          <p:cNvSpPr>
            <a:spLocks noGrp="1"/>
          </p:cNvSpPr>
          <p:nvPr>
            <p:ph type="dt" sz="half" idx="10"/>
          </p:nvPr>
        </p:nvSpPr>
        <p:spPr/>
        <p:txBody>
          <a:bodyPr/>
          <a:lstStyle/>
          <a:p>
            <a:fld id="{22AF1F55-D339-F24F-8361-C4A13C7DDCBF}" type="datetimeFigureOut">
              <a:rPr lang="en-US" smtClean="0"/>
              <a:t>3/23/26</a:t>
            </a:fld>
            <a:endParaRPr lang="en-US"/>
          </a:p>
        </p:txBody>
      </p:sp>
      <p:sp>
        <p:nvSpPr>
          <p:cNvPr id="8" name="Footer Placeholder 7">
            <a:extLst>
              <a:ext uri="{FF2B5EF4-FFF2-40B4-BE49-F238E27FC236}">
                <a16:creationId xmlns:a16="http://schemas.microsoft.com/office/drawing/2014/main" id="{B12612D2-C398-CBFC-159E-178B33DED59B}"/>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4F0BC543-919B-4B8A-F594-580572A66D25}"/>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39625063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C5848A-6868-3EA2-61C7-19543FFDB87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0EA0479B-5D0A-A575-105E-263CB0ED768E}"/>
              </a:ext>
            </a:extLst>
          </p:cNvPr>
          <p:cNvSpPr>
            <a:spLocks noGrp="1"/>
          </p:cNvSpPr>
          <p:nvPr>
            <p:ph type="dt" sz="half" idx="10"/>
          </p:nvPr>
        </p:nvSpPr>
        <p:spPr/>
        <p:txBody>
          <a:bodyPr/>
          <a:lstStyle/>
          <a:p>
            <a:fld id="{22AF1F55-D339-F24F-8361-C4A13C7DDCBF}" type="datetimeFigureOut">
              <a:rPr lang="en-US" smtClean="0"/>
              <a:t>3/23/26</a:t>
            </a:fld>
            <a:endParaRPr lang="en-US"/>
          </a:p>
        </p:txBody>
      </p:sp>
      <p:sp>
        <p:nvSpPr>
          <p:cNvPr id="4" name="Footer Placeholder 3">
            <a:extLst>
              <a:ext uri="{FF2B5EF4-FFF2-40B4-BE49-F238E27FC236}">
                <a16:creationId xmlns:a16="http://schemas.microsoft.com/office/drawing/2014/main" id="{6DCC0708-E414-93EB-CB96-C7087A18DE0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33FFAD53-FD93-393B-70D8-850EA33AA4E9}"/>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89559561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76EB154-4375-0FC0-1F4B-9E3224368F58}"/>
              </a:ext>
            </a:extLst>
          </p:cNvPr>
          <p:cNvSpPr>
            <a:spLocks noGrp="1"/>
          </p:cNvSpPr>
          <p:nvPr>
            <p:ph type="dt" sz="half" idx="10"/>
          </p:nvPr>
        </p:nvSpPr>
        <p:spPr/>
        <p:txBody>
          <a:bodyPr/>
          <a:lstStyle/>
          <a:p>
            <a:fld id="{22AF1F55-D339-F24F-8361-C4A13C7DDCBF}" type="datetimeFigureOut">
              <a:rPr lang="en-US" smtClean="0"/>
              <a:t>3/23/26</a:t>
            </a:fld>
            <a:endParaRPr lang="en-US"/>
          </a:p>
        </p:txBody>
      </p:sp>
      <p:sp>
        <p:nvSpPr>
          <p:cNvPr id="3" name="Footer Placeholder 2">
            <a:extLst>
              <a:ext uri="{FF2B5EF4-FFF2-40B4-BE49-F238E27FC236}">
                <a16:creationId xmlns:a16="http://schemas.microsoft.com/office/drawing/2014/main" id="{00C8DFB5-11D0-82AB-4D34-9C13E1B380AC}"/>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5B9E09DC-6544-8547-29D4-882B33CC716C}"/>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75607921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3C9A8B-FAD7-A931-BD56-E938618A5EE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922A576-5112-86A3-2EE0-FE4EF45C01E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0EF4CA31-B624-E0C1-B90C-D9ED94C321A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F60277B-DA8B-7CA1-34BA-856D9159438C}"/>
              </a:ext>
            </a:extLst>
          </p:cNvPr>
          <p:cNvSpPr>
            <a:spLocks noGrp="1"/>
          </p:cNvSpPr>
          <p:nvPr>
            <p:ph type="dt" sz="half" idx="10"/>
          </p:nvPr>
        </p:nvSpPr>
        <p:spPr/>
        <p:txBody>
          <a:bodyPr/>
          <a:lstStyle/>
          <a:p>
            <a:fld id="{22AF1F55-D339-F24F-8361-C4A13C7DDCBF}" type="datetimeFigureOut">
              <a:rPr lang="en-US" smtClean="0"/>
              <a:t>3/23/26</a:t>
            </a:fld>
            <a:endParaRPr lang="en-US"/>
          </a:p>
        </p:txBody>
      </p:sp>
      <p:sp>
        <p:nvSpPr>
          <p:cNvPr id="6" name="Footer Placeholder 5">
            <a:extLst>
              <a:ext uri="{FF2B5EF4-FFF2-40B4-BE49-F238E27FC236}">
                <a16:creationId xmlns:a16="http://schemas.microsoft.com/office/drawing/2014/main" id="{1AF5A14E-8AA7-D503-EFCE-B73939821397}"/>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A763C2D0-62E9-B7AD-78C5-F1729AFE2962}"/>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26972131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BD569-EC0B-1ABE-A740-7BBC30C4A8A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DDB3835-45F4-54F3-873E-23160967A29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7381E431-2A08-3004-0AE1-4C5C86A576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3999F44-FB0D-8EAB-EC38-A334DC07FB9C}"/>
              </a:ext>
            </a:extLst>
          </p:cNvPr>
          <p:cNvSpPr>
            <a:spLocks noGrp="1"/>
          </p:cNvSpPr>
          <p:nvPr>
            <p:ph type="dt" sz="half" idx="10"/>
          </p:nvPr>
        </p:nvSpPr>
        <p:spPr/>
        <p:txBody>
          <a:bodyPr/>
          <a:lstStyle/>
          <a:p>
            <a:fld id="{22AF1F55-D339-F24F-8361-C4A13C7DDCBF}" type="datetimeFigureOut">
              <a:rPr lang="en-US" smtClean="0"/>
              <a:t>3/23/26</a:t>
            </a:fld>
            <a:endParaRPr lang="en-US"/>
          </a:p>
        </p:txBody>
      </p:sp>
      <p:sp>
        <p:nvSpPr>
          <p:cNvPr id="6" name="Footer Placeholder 5">
            <a:extLst>
              <a:ext uri="{FF2B5EF4-FFF2-40B4-BE49-F238E27FC236}">
                <a16:creationId xmlns:a16="http://schemas.microsoft.com/office/drawing/2014/main" id="{76FC4A70-D597-9BED-C361-5E3FFC6E456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E825C6E-52AC-F3DB-4E97-56571FF5172C}"/>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15574196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2F0531-7463-BE7B-1BD9-4EF819ADCF7A}"/>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77B92869-E6BD-C011-646E-69459C0E7D5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718A440-CE70-146C-459A-16C1E71212E6}"/>
              </a:ext>
            </a:extLst>
          </p:cNvPr>
          <p:cNvSpPr>
            <a:spLocks noGrp="1"/>
          </p:cNvSpPr>
          <p:nvPr>
            <p:ph type="dt" sz="half" idx="10"/>
          </p:nvPr>
        </p:nvSpPr>
        <p:spPr/>
        <p:txBody>
          <a:bodyPr/>
          <a:lstStyle/>
          <a:p>
            <a:fld id="{22AF1F55-D339-F24F-8361-C4A13C7DDCBF}" type="datetimeFigureOut">
              <a:rPr lang="en-US" smtClean="0"/>
              <a:t>3/23/26</a:t>
            </a:fld>
            <a:endParaRPr lang="en-US"/>
          </a:p>
        </p:txBody>
      </p:sp>
      <p:sp>
        <p:nvSpPr>
          <p:cNvPr id="5" name="Footer Placeholder 4">
            <a:extLst>
              <a:ext uri="{FF2B5EF4-FFF2-40B4-BE49-F238E27FC236}">
                <a16:creationId xmlns:a16="http://schemas.microsoft.com/office/drawing/2014/main" id="{FBE08D7B-8B89-14D2-1ADF-745BA3E0715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CBCC29D-C55C-5B16-DE28-26D2626CA047}"/>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72878327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D3D225D-05D7-2886-4BBA-438870BCAEF2}"/>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0F6A5755-45BA-CF26-6DE6-719383A7672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6B5734B3-53A7-8CCF-C8CA-7E6D14BCC312}"/>
              </a:ext>
            </a:extLst>
          </p:cNvPr>
          <p:cNvSpPr>
            <a:spLocks noGrp="1"/>
          </p:cNvSpPr>
          <p:nvPr>
            <p:ph type="dt" sz="half" idx="10"/>
          </p:nvPr>
        </p:nvSpPr>
        <p:spPr/>
        <p:txBody>
          <a:bodyPr/>
          <a:lstStyle/>
          <a:p>
            <a:fld id="{22AF1F55-D339-F24F-8361-C4A13C7DDCBF}" type="datetimeFigureOut">
              <a:rPr lang="en-US" smtClean="0"/>
              <a:t>3/23/26</a:t>
            </a:fld>
            <a:endParaRPr lang="en-US"/>
          </a:p>
        </p:txBody>
      </p:sp>
      <p:sp>
        <p:nvSpPr>
          <p:cNvPr id="5" name="Footer Placeholder 4">
            <a:extLst>
              <a:ext uri="{FF2B5EF4-FFF2-40B4-BE49-F238E27FC236}">
                <a16:creationId xmlns:a16="http://schemas.microsoft.com/office/drawing/2014/main" id="{8995C959-40D3-4FFE-23E7-259CA869A9C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5B6EFC-FDCB-5AAD-B9C7-8FFC42507E3E}"/>
              </a:ext>
            </a:extLst>
          </p:cNvPr>
          <p:cNvSpPr>
            <a:spLocks noGrp="1"/>
          </p:cNvSpPr>
          <p:nvPr>
            <p:ph type="sldNum" sz="quarter" idx="12"/>
          </p:nvPr>
        </p:nvSpPr>
        <p:spPr/>
        <p:txBody>
          <a:bodyPr/>
          <a:lstStyle/>
          <a:p>
            <a:fld id="{8E8B9B15-842A-F343-B518-910DCCA2FC36}" type="slidenum">
              <a:rPr lang="en-US" smtClean="0"/>
              <a:t>‹#›</a:t>
            </a:fld>
            <a:endParaRPr lang="en-US"/>
          </a:p>
        </p:txBody>
      </p:sp>
    </p:spTree>
    <p:extLst>
      <p:ext uri="{BB962C8B-B14F-4D97-AF65-F5344CB8AC3E}">
        <p14:creationId xmlns:p14="http://schemas.microsoft.com/office/powerpoint/2010/main" val="3323262926"/>
      </p:ext>
    </p:extLst>
  </p:cSld>
  <p:clrMapOvr>
    <a:masterClrMapping/>
  </p:clrMapOvr>
</p:sldLayout>
</file>

<file path=ppt/slideMasters/_rels/slideMaster1.xml.rels><?xml version="1.0" encoding="UTF-8"?><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84CD0CF-A4DF-AADC-A415-151348FC437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0552C1B-225D-3D6F-FA66-5DCB93DCDDB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643185B-4F71-003B-B883-C81F6B5C6E9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2AF1F55-D339-F24F-8361-C4A13C7DDCBF}" type="datetimeFigureOut">
              <a:rPr lang="en-US" smtClean="0"/>
              <a:t>3/23/26</a:t>
            </a:fld>
            <a:endParaRPr lang="en-US"/>
          </a:p>
        </p:txBody>
      </p:sp>
      <p:sp>
        <p:nvSpPr>
          <p:cNvPr id="5" name="Footer Placeholder 4">
            <a:extLst>
              <a:ext uri="{FF2B5EF4-FFF2-40B4-BE49-F238E27FC236}">
                <a16:creationId xmlns:a16="http://schemas.microsoft.com/office/drawing/2014/main" id="{D4D84493-CE58-3C02-B233-AECEBEF4DD3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4B5870D-7087-DBA1-4B84-BB723E6CF77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8E8B9B15-842A-F343-B518-910DCCA2FC36}" type="slidenum">
              <a:rPr lang="en-US" smtClean="0"/>
              <a:t>‹#›</a:t>
            </a:fld>
            <a:endParaRPr lang="en-US"/>
          </a:p>
        </p:txBody>
      </p:sp>
    </p:spTree>
    <p:extLst>
      <p:ext uri="{BB962C8B-B14F-4D97-AF65-F5344CB8AC3E}">
        <p14:creationId xmlns:p14="http://schemas.microsoft.com/office/powerpoint/2010/main" val="134201074"/>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6.xml.rels><?xml version="1.0" encoding="UTF-8"?><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8.xml.rels><?xml version="1.0" encoding="UTF-8"?><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Relationships xmlns="http://schemas.openxmlformats.org/package/2006/relationships"><Relationship Id="rId8" Type="http://schemas.microsoft.com/office/2007/relationships/diagramDrawing" Target="../diagrams/drawing1.xml"/><Relationship Id="rId3" Type="http://schemas.openxmlformats.org/officeDocument/2006/relationships/image" Target="../media/image4.svg"/><Relationship Id="rId7" Type="http://schemas.openxmlformats.org/officeDocument/2006/relationships/diagramColors" Target="../diagrams/colors1.xml"/><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s>
</file>

<file path=ppt/slides/_rels/slide11.xml.rels><?xml version="1.0" encoding="UTF-8"?><Relationships xmlns="http://schemas.openxmlformats.org/package/2006/relationships"><Relationship Id="rId8" Type="http://schemas.microsoft.com/office/2007/relationships/diagramDrawing" Target="../diagrams/drawing2.xml"/><Relationship Id="rId3" Type="http://schemas.openxmlformats.org/officeDocument/2006/relationships/image" Target="../media/image4.svg"/><Relationship Id="rId7" Type="http://schemas.openxmlformats.org/officeDocument/2006/relationships/diagramColors" Target="../diagrams/colors2.xml"/><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diagramQuickStyle" Target="../diagrams/quickStyle2.xml"/><Relationship Id="rId5" Type="http://schemas.openxmlformats.org/officeDocument/2006/relationships/diagramLayout" Target="../diagrams/layout2.xml"/><Relationship Id="rId4" Type="http://schemas.openxmlformats.org/officeDocument/2006/relationships/diagramData" Target="../diagrams/data2.xml"/></Relationships>
</file>

<file path=ppt/slides/_rels/slide12.xml.rels><?xml version="1.0" encoding="UTF-8"?><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4.svg"/><Relationship Id="rId7" Type="http://schemas.openxmlformats.org/officeDocument/2006/relationships/diagramColors" Target="../diagrams/colors3.xml"/><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s>
</file>

<file path=ppt/slides/_rels/slide13.xml.rels><?xml version="1.0" encoding="UTF-8"?><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14.xml.rels><?xml version="1.0" encoding="UTF-8"?><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B33C852-CB63-8545-A4E5-0119CB9C9F35}"/>
              </a:ext>
            </a:extLst>
          </p:cNvPr>
          <p:cNvSpPr>
            <a:spLocks noGrp="1"/>
          </p:cNvSpPr>
          <p:nvPr>
            <p:ph type="ctrTitle"/>
          </p:nvPr>
        </p:nvSpPr>
        <p:spPr>
          <a:xfrm>
            <a:off x="1524000" y="1293338"/>
            <a:ext cx="9144000" cy="3274592"/>
          </a:xfrm>
        </p:spPr>
        <p:txBody>
          <a:bodyPr anchor="ctr">
            <a:normAutofit/>
          </a:bodyPr>
          <a:lstStyle/>
          <a:p>
            <a:r>
              <a:rPr lang="en-US" sz="7200" dirty="0"/>
              <a:t>Teaching Basic Facts: Addition and Subtraction</a:t>
            </a:r>
          </a:p>
        </p:txBody>
      </p:sp>
      <p:sp>
        <p:nvSpPr>
          <p:cNvPr id="3" name="Subtitle 2">
            <a:extLst>
              <a:ext uri="{FF2B5EF4-FFF2-40B4-BE49-F238E27FC236}">
                <a16:creationId xmlns:a16="http://schemas.microsoft.com/office/drawing/2014/main" id="{C16EBB25-728C-774C-AD94-7625A6D45332}"/>
              </a:ext>
            </a:extLst>
          </p:cNvPr>
          <p:cNvSpPr>
            <a:spLocks noGrp="1"/>
          </p:cNvSpPr>
          <p:nvPr>
            <p:ph type="subTitle" idx="1"/>
          </p:nvPr>
        </p:nvSpPr>
        <p:spPr>
          <a:xfrm>
            <a:off x="1524000" y="5514052"/>
            <a:ext cx="9144000" cy="651910"/>
          </a:xfrm>
        </p:spPr>
        <p:txBody>
          <a:bodyPr anchor="ctr">
            <a:noAutofit/>
          </a:bodyPr>
          <a:lstStyle/>
          <a:p>
            <a:r>
              <a:rPr lang="en-US" sz="2200" dirty="0"/>
              <a:t>Week 10, Monday</a:t>
            </a:r>
          </a:p>
          <a:p>
            <a:r>
              <a:rPr lang="en-US" sz="2200" dirty="0"/>
              <a:t xml:space="preserve">Readings: Van de </a:t>
            </a:r>
            <a:r>
              <a:rPr lang="en-US" sz="2200" dirty="0" err="1"/>
              <a:t>Walle</a:t>
            </a:r>
            <a:r>
              <a:rPr lang="en-US" sz="2200" dirty="0"/>
              <a:t xml:space="preserve"> et al., Ch. 9 (1</a:t>
            </a:r>
            <a:r>
              <a:rPr lang="en-US" sz="2200" baseline="30000" dirty="0"/>
              <a:t>st</a:t>
            </a:r>
            <a:r>
              <a:rPr lang="en-US" sz="2200" dirty="0"/>
              <a:t xml:space="preserve"> half)</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5449932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4" name="Rectangle 23">
            <a:extLst>
              <a:ext uri="{FF2B5EF4-FFF2-40B4-BE49-F238E27FC236}">
                <a16:creationId xmlns:a16="http://schemas.microsoft.com/office/drawing/2014/main" id="{DBF61EA3-B236-439E-9C0B-340980D56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BE543B-1D1E-7A44-B0C9-D2BB873B4A00}"/>
              </a:ext>
            </a:extLst>
          </p:cNvPr>
          <p:cNvSpPr>
            <a:spLocks noGrp="1"/>
          </p:cNvSpPr>
          <p:nvPr>
            <p:ph type="title"/>
          </p:nvPr>
        </p:nvSpPr>
        <p:spPr>
          <a:xfrm>
            <a:off x="808638" y="386930"/>
            <a:ext cx="9236700" cy="1188950"/>
          </a:xfrm>
        </p:spPr>
        <p:txBody>
          <a:bodyPr anchor="b">
            <a:normAutofit/>
          </a:bodyPr>
          <a:lstStyle/>
          <a:p>
            <a:r>
              <a:rPr lang="en-US" sz="5400"/>
              <a:t>Agenda</a:t>
            </a:r>
          </a:p>
        </p:txBody>
      </p:sp>
      <p:grpSp>
        <p:nvGrpSpPr>
          <p:cNvPr id="26" name="Group 25">
            <a:extLst>
              <a:ext uri="{FF2B5EF4-FFF2-40B4-BE49-F238E27FC236}">
                <a16:creationId xmlns:a16="http://schemas.microsoft.com/office/drawing/2014/main" id="{28FAF094-D087-493F-8DF9-A486C2D6BBA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 y="1998368"/>
            <a:ext cx="11695083" cy="782176"/>
            <a:chOff x="-2" y="1998368"/>
            <a:chExt cx="11695083" cy="782176"/>
          </a:xfrm>
        </p:grpSpPr>
        <p:sp>
          <p:nvSpPr>
            <p:cNvPr id="27" name="Rectangle 26">
              <a:extLst>
                <a:ext uri="{FF2B5EF4-FFF2-40B4-BE49-F238E27FC236}">
                  <a16:creationId xmlns:a16="http://schemas.microsoft.com/office/drawing/2014/main" id="{8D7C88D8-5509-4514-925A-9CE148E5CB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8" name="Rectangle 27">
              <a:extLst>
                <a:ext uri="{FF2B5EF4-FFF2-40B4-BE49-F238E27FC236}">
                  <a16:creationId xmlns:a16="http://schemas.microsoft.com/office/drawing/2014/main" id="{7275593D-F75E-4426-AE3E-2CDEFD228D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0" name="Rectangle 29">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147845"/>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Content Placeholder 7">
            <a:extLst>
              <a:ext uri="{FF2B5EF4-FFF2-40B4-BE49-F238E27FC236}">
                <a16:creationId xmlns:a16="http://schemas.microsoft.com/office/drawing/2014/main" id="{4DBF89BE-07F6-5871-781E-4B82A21C2C41}"/>
              </a:ext>
            </a:extLst>
          </p:cNvPr>
          <p:cNvSpPr>
            <a:spLocks noGrp="1"/>
          </p:cNvSpPr>
          <p:nvPr>
            <p:ph idx="1"/>
          </p:nvPr>
        </p:nvSpPr>
        <p:spPr>
          <a:xfrm>
            <a:off x="793660" y="2203079"/>
            <a:ext cx="10143668" cy="4147845"/>
          </a:xfrm>
        </p:spPr>
        <p:txBody>
          <a:bodyPr anchor="ctr">
            <a:normAutofit/>
          </a:bodyPr>
          <a:lstStyle/>
          <a:p>
            <a:r>
              <a:rPr lang="en-US" sz="3000" dirty="0"/>
              <a:t>Do a Number Talk</a:t>
            </a:r>
          </a:p>
          <a:p>
            <a:r>
              <a:rPr lang="en-US" sz="3000" dirty="0"/>
              <a:t>Fact Fluency -- Addition edition</a:t>
            </a:r>
          </a:p>
          <a:p>
            <a:pPr lvl="1"/>
            <a:r>
              <a:rPr lang="en-US" sz="3000" dirty="0"/>
              <a:t>4 Parts of Fact Fluency</a:t>
            </a:r>
          </a:p>
          <a:p>
            <a:pPr lvl="1"/>
            <a:r>
              <a:rPr lang="en-US" sz="3000" dirty="0"/>
              <a:t>Developmental phases of Fact Fluency (a trajectory)</a:t>
            </a:r>
          </a:p>
          <a:p>
            <a:pPr lvl="1"/>
            <a:r>
              <a:rPr lang="en-US" sz="3000" dirty="0"/>
              <a:t>Teaching basic facts</a:t>
            </a:r>
          </a:p>
          <a:p>
            <a:pPr lvl="1"/>
            <a:r>
              <a:rPr lang="en-US" sz="3000" dirty="0"/>
              <a:t>Assessing basic facts</a:t>
            </a:r>
          </a:p>
          <a:p>
            <a:r>
              <a:rPr lang="en-US" sz="3400" dirty="0"/>
              <a:t>Watch a Number Talk</a:t>
            </a:r>
          </a:p>
        </p:txBody>
      </p:sp>
    </p:spTree>
    <p:extLst>
      <p:ext uri="{BB962C8B-B14F-4D97-AF65-F5344CB8AC3E}">
        <p14:creationId xmlns:p14="http://schemas.microsoft.com/office/powerpoint/2010/main" val="15969819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FE3AEA-DCB6-F4F6-D7D7-81B979E292D9}"/>
              </a:ext>
            </a:extLst>
          </p:cNvPr>
          <p:cNvSpPr>
            <a:spLocks noGrp="1"/>
          </p:cNvSpPr>
          <p:nvPr>
            <p:ph type="title"/>
          </p:nvPr>
        </p:nvSpPr>
        <p:spPr/>
        <p:txBody>
          <a:bodyPr/>
          <a:lstStyle/>
          <a:p>
            <a:r>
              <a:rPr lang="en-US" dirty="0"/>
              <a:t>What is a Number Talk?</a:t>
            </a:r>
          </a:p>
        </p:txBody>
      </p:sp>
      <p:sp>
        <p:nvSpPr>
          <p:cNvPr id="3" name="Content Placeholder 2">
            <a:extLst>
              <a:ext uri="{FF2B5EF4-FFF2-40B4-BE49-F238E27FC236}">
                <a16:creationId xmlns:a16="http://schemas.microsoft.com/office/drawing/2014/main" id="{817C095E-35A4-CF0F-C330-DF861AFECCD0}"/>
              </a:ext>
            </a:extLst>
          </p:cNvPr>
          <p:cNvSpPr>
            <a:spLocks noGrp="1"/>
          </p:cNvSpPr>
          <p:nvPr>
            <p:ph idx="1"/>
          </p:nvPr>
        </p:nvSpPr>
        <p:spPr/>
        <p:txBody>
          <a:bodyPr>
            <a:normAutofit fontScale="32500" lnSpcReduction="20000"/>
          </a:bodyPr>
          <a:lstStyle/>
          <a:p>
            <a:r>
              <a:rPr lang="en-US" sz="5500" dirty="0"/>
              <a:t>A simple teaching routine where a teacher gives students a grade appropriate computation task and asks them to mentally figure out</a:t>
            </a:r>
          </a:p>
          <a:p>
            <a:endParaRPr lang="en-US" sz="5500" dirty="0"/>
          </a:p>
          <a:p>
            <a:r>
              <a:rPr lang="en-US" sz="5500" dirty="0"/>
              <a:t>Takes about 10 minutes, can happen daily, works on number sense and computation.</a:t>
            </a:r>
          </a:p>
          <a:p>
            <a:endParaRPr lang="en-US" sz="5500" dirty="0"/>
          </a:p>
          <a:p>
            <a:r>
              <a:rPr lang="en-US" sz="5500" dirty="0"/>
              <a:t>Students are given a few minutes to determine an answer to the problem(s) using a strategy.</a:t>
            </a:r>
          </a:p>
          <a:p>
            <a:endParaRPr lang="en-US" sz="5500" dirty="0"/>
          </a:p>
          <a:p>
            <a:r>
              <a:rPr lang="en-US" sz="5500" dirty="0"/>
              <a:t xml:space="preserve">Students share strategies, teacher shows student strategy uses a representation, and/or  records an equation for student reasoning. </a:t>
            </a:r>
          </a:p>
          <a:p>
            <a:endParaRPr lang="en-US" sz="5500" dirty="0"/>
          </a:p>
          <a:p>
            <a:r>
              <a:rPr lang="en-US" sz="5500" dirty="0"/>
              <a:t>Students use hand signals to participate.</a:t>
            </a:r>
          </a:p>
          <a:p>
            <a:pPr marL="0" indent="0">
              <a:buNone/>
            </a:pPr>
            <a:endParaRPr lang="en-US" dirty="0"/>
          </a:p>
          <a:p>
            <a:endParaRPr lang="en-US" dirty="0"/>
          </a:p>
          <a:p>
            <a:endParaRPr lang="en-US" dirty="0"/>
          </a:p>
          <a:p>
            <a:pPr marL="0" indent="0">
              <a:buNone/>
            </a:pPr>
            <a:r>
              <a:rPr lang="en-US" dirty="0"/>
              <a:t xml:space="preserve">	  </a:t>
            </a:r>
          </a:p>
        </p:txBody>
      </p:sp>
    </p:spTree>
    <p:extLst>
      <p:ext uri="{BB962C8B-B14F-4D97-AF65-F5344CB8AC3E}">
        <p14:creationId xmlns:p14="http://schemas.microsoft.com/office/powerpoint/2010/main" val="3745443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F9BDDE5-E692-F864-E02D-C2A3801EFD23}"/>
              </a:ext>
            </a:extLst>
          </p:cNvPr>
          <p:cNvSpPr>
            <a:spLocks noGrp="1"/>
          </p:cNvSpPr>
          <p:nvPr>
            <p:ph type="title"/>
          </p:nvPr>
        </p:nvSpPr>
        <p:spPr/>
        <p:txBody>
          <a:bodyPr/>
          <a:lstStyle/>
          <a:p>
            <a:r>
              <a:rPr lang="en-US" dirty="0"/>
              <a:t>Let’s Try a Number Talk as a Class</a:t>
            </a:r>
          </a:p>
        </p:txBody>
      </p:sp>
      <p:pic>
        <p:nvPicPr>
          <p:cNvPr id="5" name="Content Placeholder 4" descr="A black and white rectangular object with black dots  AI-generated content may be incorrect.">
            <a:extLst>
              <a:ext uri="{FF2B5EF4-FFF2-40B4-BE49-F238E27FC236}">
                <a16:creationId xmlns:a16="http://schemas.microsoft.com/office/drawing/2014/main" id="{1E91B20E-957A-87FA-B8D8-7E80BC879965}"/>
              </a:ext>
            </a:extLst>
          </p:cNvPr>
          <p:cNvPicPr>
            <a:picLocks noGrp="1" noChangeAspect="1"/>
          </p:cNvPicPr>
          <p:nvPr>
            <p:ph idx="1"/>
          </p:nvPr>
        </p:nvPicPr>
        <p:blipFill>
          <a:blip r:embed="rId3"/>
          <a:stretch>
            <a:fillRect/>
          </a:stretch>
        </p:blipFill>
        <p:spPr>
          <a:xfrm>
            <a:off x="2153139" y="2267711"/>
            <a:ext cx="6751710" cy="4422370"/>
          </a:xfrm>
        </p:spPr>
      </p:pic>
    </p:spTree>
    <p:extLst>
      <p:ext uri="{BB962C8B-B14F-4D97-AF65-F5344CB8AC3E}">
        <p14:creationId xmlns:p14="http://schemas.microsoft.com/office/powerpoint/2010/main" val="4744322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77003-8CB9-732E-DE0A-4845DA576327}"/>
              </a:ext>
            </a:extLst>
          </p:cNvPr>
          <p:cNvSpPr>
            <a:spLocks noGrp="1"/>
          </p:cNvSpPr>
          <p:nvPr>
            <p:ph type="title"/>
          </p:nvPr>
        </p:nvSpPr>
        <p:spPr/>
        <p:txBody>
          <a:bodyPr/>
          <a:lstStyle/>
          <a:p>
            <a:r>
              <a:rPr lang="en-US" dirty="0"/>
              <a:t>Where is basic fact fluency in the standards?</a:t>
            </a:r>
          </a:p>
        </p:txBody>
      </p:sp>
      <p:pic>
        <p:nvPicPr>
          <p:cNvPr id="5" name="Content Placeholder 4" descr="A close-up of a sign  Description automatically generated">
            <a:extLst>
              <a:ext uri="{FF2B5EF4-FFF2-40B4-BE49-F238E27FC236}">
                <a16:creationId xmlns:a16="http://schemas.microsoft.com/office/drawing/2014/main" id="{A1707B5C-063E-04BC-C533-5F04F5AB4605}"/>
              </a:ext>
            </a:extLst>
          </p:cNvPr>
          <p:cNvPicPr>
            <a:picLocks noGrp="1" noChangeAspect="1"/>
          </p:cNvPicPr>
          <p:nvPr>
            <p:ph idx="1"/>
          </p:nvPr>
        </p:nvPicPr>
        <p:blipFill>
          <a:blip r:embed="rId3"/>
          <a:stretch>
            <a:fillRect/>
          </a:stretch>
        </p:blipFill>
        <p:spPr>
          <a:xfrm>
            <a:off x="838199" y="1679160"/>
            <a:ext cx="9065455" cy="1498724"/>
          </a:xfrm>
        </p:spPr>
      </p:pic>
      <p:pic>
        <p:nvPicPr>
          <p:cNvPr id="7" name="Picture 6" descr="A screenshot of a math book  Description automatically generated">
            <a:extLst>
              <a:ext uri="{FF2B5EF4-FFF2-40B4-BE49-F238E27FC236}">
                <a16:creationId xmlns:a16="http://schemas.microsoft.com/office/drawing/2014/main" id="{B612FF73-B87B-6CB6-11DA-51CAA1D3D387}"/>
              </a:ext>
            </a:extLst>
          </p:cNvPr>
          <p:cNvPicPr>
            <a:picLocks noChangeAspect="1"/>
          </p:cNvPicPr>
          <p:nvPr/>
        </p:nvPicPr>
        <p:blipFill>
          <a:blip r:embed="rId4"/>
          <a:stretch>
            <a:fillRect/>
          </a:stretch>
        </p:blipFill>
        <p:spPr>
          <a:xfrm>
            <a:off x="866334" y="3149748"/>
            <a:ext cx="9065455" cy="3685145"/>
          </a:xfrm>
          <a:prstGeom prst="rect">
            <a:avLst/>
          </a:prstGeom>
        </p:spPr>
      </p:pic>
      <p:sp>
        <p:nvSpPr>
          <p:cNvPr id="8" name="Rounded Rectangle 7">
            <a:extLst>
              <a:ext uri="{FF2B5EF4-FFF2-40B4-BE49-F238E27FC236}">
                <a16:creationId xmlns:a16="http://schemas.microsoft.com/office/drawing/2014/main" id="{3A8B2953-DA57-F9AD-5C39-FE2FF0D2CFD1}"/>
              </a:ext>
            </a:extLst>
          </p:cNvPr>
          <p:cNvSpPr/>
          <p:nvPr/>
        </p:nvSpPr>
        <p:spPr>
          <a:xfrm>
            <a:off x="810064" y="1533378"/>
            <a:ext cx="6116829" cy="5324622"/>
          </a:xfrm>
          <a:prstGeom prst="roundRect">
            <a:avLst/>
          </a:prstGeom>
          <a:noFill/>
          <a:ln w="38100">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FBF5806D-1E77-DA06-C96A-284A76BC90C9}"/>
              </a:ext>
            </a:extLst>
          </p:cNvPr>
          <p:cNvSpPr txBox="1"/>
          <p:nvPr/>
        </p:nvSpPr>
        <p:spPr>
          <a:xfrm rot="19098951">
            <a:off x="7194148" y="2448922"/>
            <a:ext cx="2134821" cy="769441"/>
          </a:xfrm>
          <a:prstGeom prst="rect">
            <a:avLst/>
          </a:prstGeom>
          <a:noFill/>
        </p:spPr>
        <p:txBody>
          <a:bodyPr wrap="square" rtlCol="0">
            <a:spAutoFit/>
          </a:bodyPr>
          <a:lstStyle/>
          <a:p>
            <a:r>
              <a:rPr lang="en-US" sz="4400" b="1" dirty="0">
                <a:solidFill>
                  <a:srgbClr val="C00000"/>
                </a:solidFill>
              </a:rPr>
              <a:t>Mastery</a:t>
            </a:r>
          </a:p>
        </p:txBody>
      </p:sp>
    </p:spTree>
    <p:extLst>
      <p:ext uri="{BB962C8B-B14F-4D97-AF65-F5344CB8AC3E}">
        <p14:creationId xmlns:p14="http://schemas.microsoft.com/office/powerpoint/2010/main" val="25281502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3"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BE543B-1D1E-7A44-B0C9-D2BB873B4A00}"/>
              </a:ext>
            </a:extLst>
          </p:cNvPr>
          <p:cNvSpPr>
            <a:spLocks noGrp="1"/>
          </p:cNvSpPr>
          <p:nvPr>
            <p:ph type="title"/>
          </p:nvPr>
        </p:nvSpPr>
        <p:spPr>
          <a:xfrm>
            <a:off x="2019300" y="538956"/>
            <a:ext cx="9800166" cy="1118394"/>
          </a:xfrm>
        </p:spPr>
        <p:txBody>
          <a:bodyPr anchor="t">
            <a:normAutofit/>
          </a:bodyPr>
          <a:lstStyle/>
          <a:p>
            <a:r>
              <a:rPr lang="en-US" sz="4000" dirty="0"/>
              <a:t xml:space="preserve">What does “fact fluency” mean? </a:t>
            </a:r>
            <a:br>
              <a:rPr lang="en-US" sz="4000" dirty="0"/>
            </a:br>
            <a:r>
              <a:rPr lang="en-US" sz="3300" dirty="0"/>
              <a:t>(</a:t>
            </a:r>
            <a:r>
              <a:rPr lang="en-US" sz="3300" dirty="0" err="1"/>
              <a:t>VdW’s</a:t>
            </a:r>
            <a:r>
              <a:rPr lang="en-US" sz="3300" dirty="0"/>
              <a:t xml:space="preserve"> 4 parts of fact fluency)</a:t>
            </a:r>
          </a:p>
        </p:txBody>
      </p:sp>
      <p:pic>
        <p:nvPicPr>
          <p:cNvPr id="16" name="Graphic 15" descr="Checkmark">
            <a:extLst>
              <a:ext uri="{FF2B5EF4-FFF2-40B4-BE49-F238E27FC236}">
                <a16:creationId xmlns:a16="http://schemas.microsoft.com/office/drawing/2014/main" id="{250819EE-13D5-8430-7958-C998B4660A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900" y="538956"/>
            <a:ext cx="749300" cy="749300"/>
          </a:xfrm>
          <a:prstGeom prst="rect">
            <a:avLst/>
          </a:prstGeom>
        </p:spPr>
      </p:pic>
      <p:sp>
        <p:nvSpPr>
          <p:cNvPr id="3" name="TextBox 2">
            <a:extLst>
              <a:ext uri="{FF2B5EF4-FFF2-40B4-BE49-F238E27FC236}">
                <a16:creationId xmlns:a16="http://schemas.microsoft.com/office/drawing/2014/main" id="{1F61FF3B-C88A-9087-9D24-358B5944A7EE}"/>
              </a:ext>
            </a:extLst>
          </p:cNvPr>
          <p:cNvSpPr txBox="1"/>
          <p:nvPr/>
        </p:nvSpPr>
        <p:spPr>
          <a:xfrm>
            <a:off x="1479550" y="2793304"/>
            <a:ext cx="7903923" cy="523220"/>
          </a:xfrm>
          <a:prstGeom prst="rect">
            <a:avLst/>
          </a:prstGeom>
          <a:noFill/>
        </p:spPr>
        <p:txBody>
          <a:bodyPr wrap="square" rtlCol="0">
            <a:spAutoFit/>
          </a:bodyPr>
          <a:lstStyle/>
          <a:p>
            <a:r>
              <a:rPr lang="en-US" sz="2800" dirty="0"/>
              <a:t>p. 11 Unit 3 packet</a:t>
            </a:r>
          </a:p>
        </p:txBody>
      </p:sp>
    </p:spTree>
    <p:extLst>
      <p:ext uri="{BB962C8B-B14F-4D97-AF65-F5344CB8AC3E}">
        <p14:creationId xmlns:p14="http://schemas.microsoft.com/office/powerpoint/2010/main" val="28225584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BE543B-1D1E-7A44-B0C9-D2BB873B4A00}"/>
              </a:ext>
            </a:extLst>
          </p:cNvPr>
          <p:cNvSpPr>
            <a:spLocks noGrp="1"/>
          </p:cNvSpPr>
          <p:nvPr>
            <p:ph type="title"/>
          </p:nvPr>
        </p:nvSpPr>
        <p:spPr>
          <a:xfrm>
            <a:off x="2019300" y="538956"/>
            <a:ext cx="9800166" cy="1118394"/>
          </a:xfrm>
        </p:spPr>
        <p:txBody>
          <a:bodyPr anchor="t">
            <a:normAutofit/>
          </a:bodyPr>
          <a:lstStyle/>
          <a:p>
            <a:r>
              <a:rPr lang="en-US" sz="4000" dirty="0"/>
              <a:t>What does “fact fluency” mean?</a:t>
            </a:r>
            <a:br>
              <a:rPr lang="en-US" sz="4000" dirty="0"/>
            </a:br>
            <a:r>
              <a:rPr lang="en-US" sz="3300" dirty="0"/>
              <a:t>(</a:t>
            </a:r>
            <a:r>
              <a:rPr lang="en-US" sz="3300" dirty="0" err="1"/>
              <a:t>VdW’s</a:t>
            </a:r>
            <a:r>
              <a:rPr lang="en-US" sz="3300" dirty="0"/>
              <a:t xml:space="preserve"> 4 parts of fact fluency)</a:t>
            </a:r>
          </a:p>
        </p:txBody>
      </p:sp>
      <p:pic>
        <p:nvPicPr>
          <p:cNvPr id="16" name="Graphic 15" descr="Checkmark">
            <a:extLst>
              <a:ext uri="{FF2B5EF4-FFF2-40B4-BE49-F238E27FC236}">
                <a16:creationId xmlns:a16="http://schemas.microsoft.com/office/drawing/2014/main" id="{250819EE-13D5-8430-7958-C998B4660A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900" y="538956"/>
            <a:ext cx="749300" cy="749300"/>
          </a:xfrm>
          <a:prstGeom prst="rect">
            <a:avLst/>
          </a:prstGeom>
        </p:spPr>
      </p:pic>
      <p:sp>
        <p:nvSpPr>
          <p:cNvPr id="3" name="Content Placeholder 2">
            <a:extLst>
              <a:ext uri="{FF2B5EF4-FFF2-40B4-BE49-F238E27FC236}">
                <a16:creationId xmlns:a16="http://schemas.microsoft.com/office/drawing/2014/main" id="{59865D45-9AA7-E547-9401-B802665B263E}"/>
              </a:ext>
            </a:extLst>
          </p:cNvPr>
          <p:cNvSpPr>
            <a:spLocks noGrp="1"/>
          </p:cNvSpPr>
          <p:nvPr>
            <p:ph idx="1"/>
          </p:nvPr>
        </p:nvSpPr>
        <p:spPr>
          <a:xfrm>
            <a:off x="1854200" y="1847849"/>
            <a:ext cx="9965266" cy="5010150"/>
          </a:xfrm>
        </p:spPr>
        <p:txBody>
          <a:bodyPr>
            <a:noAutofit/>
          </a:bodyPr>
          <a:lstStyle/>
          <a:p>
            <a:pPr marL="0" indent="0">
              <a:buNone/>
            </a:pPr>
            <a:r>
              <a:rPr lang="en-US" sz="2600" dirty="0"/>
              <a:t>Efficiency:	Can student recognize when one strategy is more efficient 		than another?</a:t>
            </a:r>
          </a:p>
          <a:p>
            <a:pPr marL="457200" lvl="1" indent="0">
              <a:buNone/>
            </a:pPr>
            <a:r>
              <a:rPr lang="en-US" sz="2600" dirty="0"/>
              <a:t xml:space="preserve">		How long does it take them to pick a strategy?</a:t>
            </a:r>
          </a:p>
          <a:p>
            <a:pPr marL="457200" lvl="1" indent="0">
              <a:buNone/>
            </a:pPr>
            <a:r>
              <a:rPr lang="en-US" sz="2600" i="1" dirty="0"/>
              <a:t xml:space="preserve">		Note: Efficiency varies with different facts. (Think about 		your own FF.)</a:t>
            </a:r>
          </a:p>
          <a:p>
            <a:pPr marL="0" indent="0">
              <a:buNone/>
            </a:pPr>
            <a:r>
              <a:rPr lang="en-US" sz="2600" dirty="0"/>
              <a:t>Accuracy:	Is the student using strategies that get correct answers?</a:t>
            </a:r>
          </a:p>
          <a:p>
            <a:pPr marL="0" indent="0">
              <a:buNone/>
            </a:pPr>
            <a:endParaRPr lang="en-US" sz="2600" dirty="0"/>
          </a:p>
          <a:p>
            <a:pPr marL="0" indent="0">
              <a:buNone/>
            </a:pPr>
            <a:r>
              <a:rPr lang="en-US" sz="2600" dirty="0"/>
              <a:t>Flexibility:	Can think about a problem in more than one way 			when prompted</a:t>
            </a:r>
          </a:p>
          <a:p>
            <a:pPr marL="0" indent="0">
              <a:buNone/>
            </a:pPr>
            <a:r>
              <a:rPr lang="en-US" sz="2600" dirty="0"/>
              <a:t xml:space="preserve">Appropriate: 	Can choose an appropriate strategy to solve 				for an unknown fact … using known facts	</a:t>
            </a:r>
            <a:r>
              <a:rPr lang="en-US" sz="1400" dirty="0"/>
              <a:t xml:space="preserve">		</a:t>
            </a:r>
          </a:p>
        </p:txBody>
      </p:sp>
      <p:sp>
        <p:nvSpPr>
          <p:cNvPr id="4" name="TextBox 3">
            <a:extLst>
              <a:ext uri="{FF2B5EF4-FFF2-40B4-BE49-F238E27FC236}">
                <a16:creationId xmlns:a16="http://schemas.microsoft.com/office/drawing/2014/main" id="{3222B030-1991-44D2-4BCF-47B326453AAC}"/>
              </a:ext>
            </a:extLst>
          </p:cNvPr>
          <p:cNvSpPr txBox="1"/>
          <p:nvPr/>
        </p:nvSpPr>
        <p:spPr>
          <a:xfrm>
            <a:off x="184191" y="1782233"/>
            <a:ext cx="1120820" cy="707886"/>
          </a:xfrm>
          <a:prstGeom prst="rect">
            <a:avLst/>
          </a:prstGeom>
          <a:noFill/>
        </p:spPr>
        <p:txBody>
          <a:bodyPr wrap="none" rtlCol="0">
            <a:spAutoFit/>
          </a:bodyPr>
          <a:lstStyle/>
          <a:p>
            <a:r>
              <a:rPr lang="en-US" sz="4000" dirty="0">
                <a:solidFill>
                  <a:schemeClr val="accent2"/>
                </a:solidFill>
                <a:latin typeface="Bradley Hand" pitchFamily="2" charset="77"/>
              </a:rPr>
              <a:t>Yes!</a:t>
            </a:r>
          </a:p>
        </p:txBody>
      </p:sp>
      <p:sp>
        <p:nvSpPr>
          <p:cNvPr id="7" name="TextBox 6">
            <a:extLst>
              <a:ext uri="{FF2B5EF4-FFF2-40B4-BE49-F238E27FC236}">
                <a16:creationId xmlns:a16="http://schemas.microsoft.com/office/drawing/2014/main" id="{5AD01F8E-00F7-EC02-DB7D-6A4DCEF0971F}"/>
              </a:ext>
            </a:extLst>
          </p:cNvPr>
          <p:cNvSpPr txBox="1"/>
          <p:nvPr/>
        </p:nvSpPr>
        <p:spPr>
          <a:xfrm>
            <a:off x="184191" y="4721824"/>
            <a:ext cx="1600118" cy="707886"/>
          </a:xfrm>
          <a:prstGeom prst="rect">
            <a:avLst/>
          </a:prstGeom>
          <a:noFill/>
        </p:spPr>
        <p:txBody>
          <a:bodyPr wrap="none" rtlCol="0">
            <a:spAutoFit/>
          </a:bodyPr>
          <a:lstStyle/>
          <a:p>
            <a:r>
              <a:rPr lang="en-US" sz="4000" dirty="0">
                <a:solidFill>
                  <a:schemeClr val="accent2"/>
                </a:solidFill>
                <a:latin typeface="Bradley Hand" pitchFamily="2" charset="77"/>
              </a:rPr>
              <a:t>And…</a:t>
            </a:r>
          </a:p>
        </p:txBody>
      </p:sp>
      <p:sp>
        <p:nvSpPr>
          <p:cNvPr id="8" name="TextBox 7">
            <a:extLst>
              <a:ext uri="{FF2B5EF4-FFF2-40B4-BE49-F238E27FC236}">
                <a16:creationId xmlns:a16="http://schemas.microsoft.com/office/drawing/2014/main" id="{4971D8D1-F212-79C5-1526-B61EFA9D3728}"/>
              </a:ext>
            </a:extLst>
          </p:cNvPr>
          <p:cNvSpPr txBox="1"/>
          <p:nvPr/>
        </p:nvSpPr>
        <p:spPr>
          <a:xfrm>
            <a:off x="184191" y="3745614"/>
            <a:ext cx="1120820" cy="707886"/>
          </a:xfrm>
          <a:prstGeom prst="rect">
            <a:avLst/>
          </a:prstGeom>
          <a:noFill/>
        </p:spPr>
        <p:txBody>
          <a:bodyPr wrap="none" rtlCol="0">
            <a:spAutoFit/>
          </a:bodyPr>
          <a:lstStyle/>
          <a:p>
            <a:r>
              <a:rPr lang="en-US" sz="4000" dirty="0">
                <a:solidFill>
                  <a:schemeClr val="accent2"/>
                </a:solidFill>
                <a:latin typeface="Bradley Hand" pitchFamily="2" charset="77"/>
              </a:rPr>
              <a:t>Yes!</a:t>
            </a:r>
          </a:p>
        </p:txBody>
      </p:sp>
    </p:spTree>
    <p:extLst>
      <p:ext uri="{BB962C8B-B14F-4D97-AF65-F5344CB8AC3E}">
        <p14:creationId xmlns:p14="http://schemas.microsoft.com/office/powerpoint/2010/main" val="299700221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918007-2172-D0AD-945F-EAC8D08C9379}"/>
              </a:ext>
            </a:extLst>
          </p:cNvPr>
          <p:cNvSpPr>
            <a:spLocks noGrp="1"/>
          </p:cNvSpPr>
          <p:nvPr>
            <p:ph type="title"/>
          </p:nvPr>
        </p:nvSpPr>
        <p:spPr/>
        <p:txBody>
          <a:bodyPr/>
          <a:lstStyle/>
          <a:p>
            <a:r>
              <a:rPr lang="en-US" dirty="0"/>
              <a:t>What is automaticity?</a:t>
            </a:r>
          </a:p>
        </p:txBody>
      </p:sp>
      <p:sp>
        <p:nvSpPr>
          <p:cNvPr id="3" name="Content Placeholder 2">
            <a:extLst>
              <a:ext uri="{FF2B5EF4-FFF2-40B4-BE49-F238E27FC236}">
                <a16:creationId xmlns:a16="http://schemas.microsoft.com/office/drawing/2014/main" id="{62CB261B-D651-3B92-A9B5-73F2673F07AD}"/>
              </a:ext>
            </a:extLst>
          </p:cNvPr>
          <p:cNvSpPr>
            <a:spLocks noGrp="1"/>
          </p:cNvSpPr>
          <p:nvPr>
            <p:ph idx="1"/>
          </p:nvPr>
        </p:nvSpPr>
        <p:spPr/>
        <p:txBody>
          <a:bodyPr/>
          <a:lstStyle/>
          <a:p>
            <a:r>
              <a:rPr lang="en-US" dirty="0"/>
              <a:t>Automaticity is different from fluency</a:t>
            </a:r>
          </a:p>
          <a:p>
            <a:endParaRPr lang="en-US" dirty="0"/>
          </a:p>
          <a:p>
            <a:r>
              <a:rPr lang="en-US" dirty="0"/>
              <a:t>Automaticity means quick recall of basic facts</a:t>
            </a:r>
          </a:p>
          <a:p>
            <a:endParaRPr lang="en-US" dirty="0"/>
          </a:p>
          <a:p>
            <a:r>
              <a:rPr lang="en-US" dirty="0"/>
              <a:t>Fact fluency is the road (or work) that leads to automaticity</a:t>
            </a:r>
          </a:p>
        </p:txBody>
      </p:sp>
    </p:spTree>
    <p:extLst>
      <p:ext uri="{BB962C8B-B14F-4D97-AF65-F5344CB8AC3E}">
        <p14:creationId xmlns:p14="http://schemas.microsoft.com/office/powerpoint/2010/main" val="28278211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BE543B-1D1E-7A44-B0C9-D2BB873B4A00}"/>
              </a:ext>
            </a:extLst>
          </p:cNvPr>
          <p:cNvSpPr>
            <a:spLocks noGrp="1"/>
          </p:cNvSpPr>
          <p:nvPr>
            <p:ph type="title"/>
          </p:nvPr>
        </p:nvSpPr>
        <p:spPr>
          <a:xfrm>
            <a:off x="2019300" y="538956"/>
            <a:ext cx="9258300" cy="1118394"/>
          </a:xfrm>
        </p:spPr>
        <p:txBody>
          <a:bodyPr anchor="t">
            <a:normAutofit/>
          </a:bodyPr>
          <a:lstStyle/>
          <a:p>
            <a:r>
              <a:rPr lang="en-US" sz="4000" dirty="0"/>
              <a:t>Trajectory for kids to DEVELOP fact fluency</a:t>
            </a:r>
          </a:p>
        </p:txBody>
      </p:sp>
      <p:pic>
        <p:nvPicPr>
          <p:cNvPr id="16" name="Graphic 15" descr="Checkmark">
            <a:extLst>
              <a:ext uri="{FF2B5EF4-FFF2-40B4-BE49-F238E27FC236}">
                <a16:creationId xmlns:a16="http://schemas.microsoft.com/office/drawing/2014/main" id="{250819EE-13D5-8430-7958-C998B4660A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900" y="538956"/>
            <a:ext cx="749300" cy="749300"/>
          </a:xfrm>
          <a:prstGeom prst="rect">
            <a:avLst/>
          </a:prstGeom>
        </p:spPr>
      </p:pic>
    </p:spTree>
    <p:extLst>
      <p:ext uri="{BB962C8B-B14F-4D97-AF65-F5344CB8AC3E}">
        <p14:creationId xmlns:p14="http://schemas.microsoft.com/office/powerpoint/2010/main" val="80241038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BE543B-1D1E-7A44-B0C9-D2BB873B4A00}"/>
              </a:ext>
            </a:extLst>
          </p:cNvPr>
          <p:cNvSpPr>
            <a:spLocks noGrp="1"/>
          </p:cNvSpPr>
          <p:nvPr>
            <p:ph type="title"/>
          </p:nvPr>
        </p:nvSpPr>
        <p:spPr>
          <a:xfrm>
            <a:off x="2019299" y="538956"/>
            <a:ext cx="9546167" cy="1118394"/>
          </a:xfrm>
        </p:spPr>
        <p:txBody>
          <a:bodyPr anchor="t">
            <a:normAutofit/>
          </a:bodyPr>
          <a:lstStyle/>
          <a:p>
            <a:r>
              <a:rPr lang="en-US" sz="4000" dirty="0"/>
              <a:t>Trajectory for kids to DEVELOP fact fluency</a:t>
            </a:r>
          </a:p>
        </p:txBody>
      </p:sp>
      <p:pic>
        <p:nvPicPr>
          <p:cNvPr id="16" name="Graphic 15" descr="Checkmark">
            <a:extLst>
              <a:ext uri="{FF2B5EF4-FFF2-40B4-BE49-F238E27FC236}">
                <a16:creationId xmlns:a16="http://schemas.microsoft.com/office/drawing/2014/main" id="{250819EE-13D5-8430-7958-C998B4660A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900" y="538956"/>
            <a:ext cx="749300" cy="749300"/>
          </a:xfrm>
          <a:prstGeom prst="rect">
            <a:avLst/>
          </a:prstGeom>
        </p:spPr>
      </p:pic>
      <p:graphicFrame>
        <p:nvGraphicFramePr>
          <p:cNvPr id="4" name="Diagram 3">
            <a:extLst>
              <a:ext uri="{FF2B5EF4-FFF2-40B4-BE49-F238E27FC236}">
                <a16:creationId xmlns:a16="http://schemas.microsoft.com/office/drawing/2014/main" id="{34DF373A-F717-C80B-5919-ACD28F18BF72}"/>
              </a:ext>
            </a:extLst>
          </p:cNvPr>
          <p:cNvGraphicFramePr/>
          <p:nvPr/>
        </p:nvGraphicFramePr>
        <p:xfrm>
          <a:off x="5421440" y="538956"/>
          <a:ext cx="7359713" cy="266104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3" name="Content Placeholder 2">
            <a:extLst>
              <a:ext uri="{FF2B5EF4-FFF2-40B4-BE49-F238E27FC236}">
                <a16:creationId xmlns:a16="http://schemas.microsoft.com/office/drawing/2014/main" id="{E16C1CD3-44C9-A366-A8C5-967ED5253770}"/>
              </a:ext>
            </a:extLst>
          </p:cNvPr>
          <p:cNvSpPr>
            <a:spLocks noGrp="1"/>
          </p:cNvSpPr>
          <p:nvPr>
            <p:ph idx="1"/>
          </p:nvPr>
        </p:nvSpPr>
        <p:spPr>
          <a:xfrm>
            <a:off x="3498975" y="3200003"/>
            <a:ext cx="4527424" cy="3437862"/>
          </a:xfrm>
          <a:ln w="28575">
            <a:solidFill>
              <a:schemeClr val="tx2"/>
            </a:solidFill>
          </a:ln>
        </p:spPr>
        <p:txBody>
          <a:bodyPr>
            <a:noAutofit/>
          </a:bodyPr>
          <a:lstStyle/>
          <a:p>
            <a:pPr marL="0" indent="0">
              <a:buNone/>
            </a:pPr>
            <a:r>
              <a:rPr lang="en-US" sz="2600" dirty="0"/>
              <a:t>Phase 2:</a:t>
            </a:r>
          </a:p>
          <a:p>
            <a:r>
              <a:rPr lang="en-US" sz="2600" dirty="0"/>
              <a:t xml:space="preserve">Doubling, near doubles, </a:t>
            </a:r>
          </a:p>
          <a:p>
            <a:r>
              <a:rPr lang="en-US" sz="2600" dirty="0"/>
              <a:t>Base 10s: combinations of 10, making 10, pretend-a-10</a:t>
            </a:r>
          </a:p>
          <a:p>
            <a:r>
              <a:rPr lang="en-US" sz="2600" dirty="0"/>
              <a:t>5 as anchor (like using “6” in N101)</a:t>
            </a:r>
          </a:p>
          <a:p>
            <a:r>
              <a:rPr lang="en-US" sz="2600" dirty="0"/>
              <a:t>Use strategies to solve problems, not just to compute</a:t>
            </a:r>
          </a:p>
        </p:txBody>
      </p:sp>
      <p:sp>
        <p:nvSpPr>
          <p:cNvPr id="5" name="Content Placeholder 2">
            <a:extLst>
              <a:ext uri="{FF2B5EF4-FFF2-40B4-BE49-F238E27FC236}">
                <a16:creationId xmlns:a16="http://schemas.microsoft.com/office/drawing/2014/main" id="{6A161A30-1649-FDBC-7856-AFB01A17056F}"/>
              </a:ext>
            </a:extLst>
          </p:cNvPr>
          <p:cNvSpPr txBox="1">
            <a:spLocks/>
          </p:cNvSpPr>
          <p:nvPr/>
        </p:nvSpPr>
        <p:spPr>
          <a:xfrm>
            <a:off x="311339" y="3200003"/>
            <a:ext cx="2584260" cy="3437862"/>
          </a:xfrm>
          <a:prstGeom prst="rect">
            <a:avLst/>
          </a:prstGeom>
          <a:ln w="28575">
            <a:solidFill>
              <a:schemeClr val="accent2"/>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dirty="0"/>
              <a:t>Phase 1:</a:t>
            </a:r>
          </a:p>
          <a:p>
            <a:r>
              <a:rPr lang="en-US" sz="2600" dirty="0"/>
              <a:t>Counting all, counting on</a:t>
            </a:r>
          </a:p>
          <a:p>
            <a:r>
              <a:rPr lang="en-US" sz="2600" dirty="0"/>
              <a:t>Students may use fingers or blocks or simply count in their head</a:t>
            </a:r>
          </a:p>
          <a:p>
            <a:pPr marL="457200" lvl="1" indent="0">
              <a:buFont typeface="Arial" panose="020B0604020202020204" pitchFamily="34" charset="0"/>
              <a:buNone/>
            </a:pPr>
            <a:endParaRPr lang="en-US" sz="2600" dirty="0"/>
          </a:p>
        </p:txBody>
      </p:sp>
      <p:sp>
        <p:nvSpPr>
          <p:cNvPr id="6" name="Content Placeholder 2">
            <a:extLst>
              <a:ext uri="{FF2B5EF4-FFF2-40B4-BE49-F238E27FC236}">
                <a16:creationId xmlns:a16="http://schemas.microsoft.com/office/drawing/2014/main" id="{3A092FAB-3587-CC3C-2E9A-D57C80CD3102}"/>
              </a:ext>
            </a:extLst>
          </p:cNvPr>
          <p:cNvSpPr txBox="1">
            <a:spLocks/>
          </p:cNvSpPr>
          <p:nvPr/>
        </p:nvSpPr>
        <p:spPr>
          <a:xfrm>
            <a:off x="8629775" y="3200003"/>
            <a:ext cx="2584260" cy="3437863"/>
          </a:xfrm>
          <a:prstGeom prst="rect">
            <a:avLst/>
          </a:prstGeom>
          <a:ln w="28575">
            <a:solidFill>
              <a:schemeClr val="accent4"/>
            </a:solidFill>
          </a:ln>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sz="2600" dirty="0"/>
              <a:t>Phase 3:</a:t>
            </a:r>
          </a:p>
          <a:p>
            <a:r>
              <a:rPr lang="en-US" sz="2600" dirty="0"/>
              <a:t>Producing answers efficiently, accurately, using appropriate strategies, and flexibly</a:t>
            </a:r>
          </a:p>
        </p:txBody>
      </p:sp>
    </p:spTree>
    <p:extLst>
      <p:ext uri="{BB962C8B-B14F-4D97-AF65-F5344CB8AC3E}">
        <p14:creationId xmlns:p14="http://schemas.microsoft.com/office/powerpoint/2010/main" val="5003064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5">
                                            <p:txEl>
                                              <p:pRg st="1" end="1"/>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xEl>
                                              <p:pRg st="0" end="0"/>
                                            </p:txEl>
                                          </p:spTgt>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nodeType="clickEffect">
                                  <p:stCondLst>
                                    <p:cond delay="0"/>
                                  </p:stCondLst>
                                  <p:childTnLst>
                                    <p:set>
                                      <p:cBhvr>
                                        <p:cTn id="36" dur="1" fill="hold">
                                          <p:stCondLst>
                                            <p:cond delay="0"/>
                                          </p:stCondLst>
                                        </p:cTn>
                                        <p:tgtEl>
                                          <p:spTgt spid="6">
                                            <p:txEl>
                                              <p:pRg st="1" end="1"/>
                                            </p:txEl>
                                          </p:spTgt>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nodeType="clickEffect">
                                  <p:stCondLst>
                                    <p:cond delay="0"/>
                                  </p:stCondLst>
                                  <p:childTnLst>
                                    <p:set>
                                      <p:cBhvr>
                                        <p:cTn id="40" dur="1" fill="hold">
                                          <p:stCondLst>
                                            <p:cond delay="0"/>
                                          </p:stCondLst>
                                        </p:cTn>
                                        <p:tgtEl>
                                          <p:spTgt spid="6">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BE543B-1D1E-7A44-B0C9-D2BB873B4A00}"/>
              </a:ext>
            </a:extLst>
          </p:cNvPr>
          <p:cNvSpPr>
            <a:spLocks noGrp="1"/>
          </p:cNvSpPr>
          <p:nvPr>
            <p:ph type="title"/>
          </p:nvPr>
        </p:nvSpPr>
        <p:spPr>
          <a:xfrm>
            <a:off x="2019300" y="538956"/>
            <a:ext cx="8985250" cy="1118394"/>
          </a:xfrm>
        </p:spPr>
        <p:txBody>
          <a:bodyPr anchor="t">
            <a:normAutofit/>
          </a:bodyPr>
          <a:lstStyle/>
          <a:p>
            <a:r>
              <a:rPr lang="en-US" sz="4000" dirty="0"/>
              <a:t>Approaches to TEACHING basic facts</a:t>
            </a:r>
          </a:p>
        </p:txBody>
      </p:sp>
      <p:pic>
        <p:nvPicPr>
          <p:cNvPr id="16" name="Graphic 15" descr="Checkmark">
            <a:extLst>
              <a:ext uri="{FF2B5EF4-FFF2-40B4-BE49-F238E27FC236}">
                <a16:creationId xmlns:a16="http://schemas.microsoft.com/office/drawing/2014/main" id="{250819EE-13D5-8430-7958-C998B4660A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900" y="538956"/>
            <a:ext cx="749300" cy="749300"/>
          </a:xfrm>
          <a:prstGeom prst="rect">
            <a:avLst/>
          </a:prstGeom>
        </p:spPr>
      </p:pic>
      <p:graphicFrame>
        <p:nvGraphicFramePr>
          <p:cNvPr id="4" name="Diagram 3">
            <a:extLst>
              <a:ext uri="{FF2B5EF4-FFF2-40B4-BE49-F238E27FC236}">
                <a16:creationId xmlns:a16="http://schemas.microsoft.com/office/drawing/2014/main" id="{34DF373A-F717-C80B-5919-ACD28F18BF72}"/>
              </a:ext>
            </a:extLst>
          </p:cNvPr>
          <p:cNvGraphicFramePr/>
          <p:nvPr/>
        </p:nvGraphicFramePr>
        <p:xfrm>
          <a:off x="5421440" y="538956"/>
          <a:ext cx="7359713" cy="266104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8" name="Content Placeholder 7">
            <a:extLst>
              <a:ext uri="{FF2B5EF4-FFF2-40B4-BE49-F238E27FC236}">
                <a16:creationId xmlns:a16="http://schemas.microsoft.com/office/drawing/2014/main" id="{4DBF89BE-07F6-5871-781E-4B82A21C2C41}"/>
              </a:ext>
            </a:extLst>
          </p:cNvPr>
          <p:cNvSpPr>
            <a:spLocks noGrp="1"/>
          </p:cNvSpPr>
          <p:nvPr>
            <p:ph idx="1"/>
          </p:nvPr>
        </p:nvSpPr>
        <p:spPr>
          <a:xfrm>
            <a:off x="838199" y="2065864"/>
            <a:ext cx="11032067" cy="4910666"/>
          </a:xfrm>
        </p:spPr>
        <p:txBody>
          <a:bodyPr>
            <a:normAutofit fontScale="92500" lnSpcReduction="20000"/>
          </a:bodyPr>
          <a:lstStyle/>
          <a:p>
            <a:pPr marL="0" indent="0">
              <a:spcAft>
                <a:spcPts val="400"/>
              </a:spcAft>
              <a:buNone/>
            </a:pPr>
            <a:r>
              <a:rPr lang="en-US" sz="3200" dirty="0"/>
              <a:t>Memorization:</a:t>
            </a:r>
          </a:p>
          <a:p>
            <a:r>
              <a:rPr lang="en-US" dirty="0"/>
              <a:t>Often bypasses phase 2 in developmental phases.</a:t>
            </a:r>
          </a:p>
          <a:p>
            <a:r>
              <a:rPr lang="en-US" dirty="0"/>
              <a:t>Students are often inefficient, not flexible, or inaccurate (from guessing).</a:t>
            </a:r>
          </a:p>
          <a:p>
            <a:pPr marL="0" indent="0">
              <a:buNone/>
            </a:pPr>
            <a:endParaRPr lang="en-US" sz="1500" dirty="0"/>
          </a:p>
          <a:p>
            <a:pPr marL="0" indent="0">
              <a:spcAft>
                <a:spcPts val="400"/>
              </a:spcAft>
              <a:buNone/>
            </a:pPr>
            <a:r>
              <a:rPr lang="en-US" sz="3200" dirty="0"/>
              <a:t>Explicit Strategy Instruction:</a:t>
            </a:r>
          </a:p>
          <a:p>
            <a:r>
              <a:rPr lang="en-US" dirty="0"/>
              <a:t>You teach a strategy. Then students explore.</a:t>
            </a:r>
          </a:p>
          <a:p>
            <a:r>
              <a:rPr lang="en-US" dirty="0"/>
              <a:t>Strategies are ways to think about problems, not tricks to be memorized</a:t>
            </a:r>
          </a:p>
          <a:p>
            <a:pPr marL="0" indent="0">
              <a:buNone/>
            </a:pPr>
            <a:endParaRPr lang="en-US" sz="1500" dirty="0"/>
          </a:p>
          <a:p>
            <a:pPr marL="0" indent="0">
              <a:spcAft>
                <a:spcPts val="400"/>
              </a:spcAft>
              <a:buNone/>
            </a:pPr>
            <a:r>
              <a:rPr lang="en-US" sz="3200" dirty="0"/>
              <a:t>Guided Invention:</a:t>
            </a:r>
          </a:p>
          <a:p>
            <a:r>
              <a:rPr lang="en-US" dirty="0"/>
              <a:t xml:space="preserve">More open-ended path to learning strategies. </a:t>
            </a:r>
          </a:p>
          <a:p>
            <a:pPr>
              <a:lnSpc>
                <a:spcPct val="110000"/>
              </a:lnSpc>
            </a:pPr>
            <a:r>
              <a:rPr lang="en-US" dirty="0"/>
              <a:t xml:space="preserve">Students introduce strategies, and multiple strategies may be discussed for a particular problem. </a:t>
            </a:r>
          </a:p>
          <a:p>
            <a:endParaRPr lang="en-US" sz="2800" dirty="0"/>
          </a:p>
          <a:p>
            <a:pPr marL="0" indent="0">
              <a:buNone/>
            </a:pPr>
            <a:endParaRPr lang="en-US" sz="2800" dirty="0"/>
          </a:p>
          <a:p>
            <a:pPr marL="0" indent="0">
              <a:buNone/>
            </a:pPr>
            <a:endParaRPr lang="en-US" dirty="0"/>
          </a:p>
        </p:txBody>
      </p:sp>
    </p:spTree>
    <p:extLst>
      <p:ext uri="{BB962C8B-B14F-4D97-AF65-F5344CB8AC3E}">
        <p14:creationId xmlns:p14="http://schemas.microsoft.com/office/powerpoint/2010/main" val="138800514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BE543B-1D1E-7A44-B0C9-D2BB873B4A00}"/>
              </a:ext>
            </a:extLst>
          </p:cNvPr>
          <p:cNvSpPr>
            <a:spLocks noGrp="1"/>
          </p:cNvSpPr>
          <p:nvPr>
            <p:ph type="title"/>
          </p:nvPr>
        </p:nvSpPr>
        <p:spPr>
          <a:xfrm>
            <a:off x="2019300" y="538956"/>
            <a:ext cx="8985250" cy="1118394"/>
          </a:xfrm>
        </p:spPr>
        <p:txBody>
          <a:bodyPr anchor="t">
            <a:normAutofit/>
          </a:bodyPr>
          <a:lstStyle/>
          <a:p>
            <a:r>
              <a:rPr lang="en-US" sz="4000" dirty="0"/>
              <a:t xml:space="preserve">Teaching facts </a:t>
            </a:r>
            <a:r>
              <a:rPr lang="en-US" sz="4000" i="1" dirty="0"/>
              <a:t>effectively</a:t>
            </a:r>
          </a:p>
        </p:txBody>
      </p:sp>
      <p:pic>
        <p:nvPicPr>
          <p:cNvPr id="16" name="Graphic 15" descr="Checkmark">
            <a:extLst>
              <a:ext uri="{FF2B5EF4-FFF2-40B4-BE49-F238E27FC236}">
                <a16:creationId xmlns:a16="http://schemas.microsoft.com/office/drawing/2014/main" id="{250819EE-13D5-8430-7958-C998B4660A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900" y="538956"/>
            <a:ext cx="749300" cy="749300"/>
          </a:xfrm>
          <a:prstGeom prst="rect">
            <a:avLst/>
          </a:prstGeom>
        </p:spPr>
      </p:pic>
      <p:graphicFrame>
        <p:nvGraphicFramePr>
          <p:cNvPr id="4" name="Diagram 3">
            <a:extLst>
              <a:ext uri="{FF2B5EF4-FFF2-40B4-BE49-F238E27FC236}">
                <a16:creationId xmlns:a16="http://schemas.microsoft.com/office/drawing/2014/main" id="{34DF373A-F717-C80B-5919-ACD28F18BF72}"/>
              </a:ext>
            </a:extLst>
          </p:cNvPr>
          <p:cNvGraphicFramePr/>
          <p:nvPr/>
        </p:nvGraphicFramePr>
        <p:xfrm>
          <a:off x="6094476" y="1098152"/>
          <a:ext cx="5497046" cy="233084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10" name="TextBox 9">
            <a:extLst>
              <a:ext uri="{FF2B5EF4-FFF2-40B4-BE49-F238E27FC236}">
                <a16:creationId xmlns:a16="http://schemas.microsoft.com/office/drawing/2014/main" id="{0D329DD1-320E-5D12-2BCA-90451C7DBF27}"/>
              </a:ext>
            </a:extLst>
          </p:cNvPr>
          <p:cNvSpPr txBox="1"/>
          <p:nvPr/>
        </p:nvSpPr>
        <p:spPr>
          <a:xfrm>
            <a:off x="903056" y="1490007"/>
            <a:ext cx="5497046" cy="2215991"/>
          </a:xfrm>
          <a:prstGeom prst="rect">
            <a:avLst/>
          </a:prstGeom>
          <a:noFill/>
        </p:spPr>
        <p:txBody>
          <a:bodyPr wrap="square">
            <a:spAutoFit/>
          </a:bodyPr>
          <a:lstStyle/>
          <a:p>
            <a:r>
              <a:rPr lang="en-US" sz="3000" dirty="0"/>
              <a:t xml:space="preserve">Use story problems (or contextualized problems). </a:t>
            </a:r>
          </a:p>
          <a:p>
            <a:pPr lvl="1"/>
            <a:r>
              <a:rPr lang="en-US" sz="2600" dirty="0"/>
              <a:t>Pose a daily story problem to help students become better problem solvers as they work on basic facts.</a:t>
            </a:r>
          </a:p>
        </p:txBody>
      </p:sp>
      <p:sp>
        <p:nvSpPr>
          <p:cNvPr id="5" name="TextBox 4">
            <a:extLst>
              <a:ext uri="{FF2B5EF4-FFF2-40B4-BE49-F238E27FC236}">
                <a16:creationId xmlns:a16="http://schemas.microsoft.com/office/drawing/2014/main" id="{9CB315CC-BE5C-55BD-5B79-AED52C31C00B}"/>
              </a:ext>
            </a:extLst>
          </p:cNvPr>
          <p:cNvSpPr txBox="1"/>
          <p:nvPr/>
        </p:nvSpPr>
        <p:spPr>
          <a:xfrm>
            <a:off x="903056" y="3773893"/>
            <a:ext cx="10101494" cy="2739211"/>
          </a:xfrm>
          <a:prstGeom prst="rect">
            <a:avLst/>
          </a:prstGeom>
          <a:noFill/>
        </p:spPr>
        <p:txBody>
          <a:bodyPr wrap="square">
            <a:spAutoFit/>
          </a:bodyPr>
          <a:lstStyle/>
          <a:p>
            <a:r>
              <a:rPr lang="en-US" sz="3000" dirty="0"/>
              <a:t>Use Quick Images/Looks (e.g., showing a ten frame)</a:t>
            </a:r>
          </a:p>
          <a:p>
            <a:pPr lvl="1"/>
            <a:r>
              <a:rPr lang="en-US" sz="2600" dirty="0"/>
              <a:t>Help students move beyond simply counting to solve problems.</a:t>
            </a:r>
          </a:p>
          <a:p>
            <a:pPr lvl="1"/>
            <a:endParaRPr lang="en-US" sz="3000" dirty="0"/>
          </a:p>
          <a:p>
            <a:r>
              <a:rPr lang="en-US" sz="3000" dirty="0"/>
              <a:t>Using Number Talks to explicitly teach reasoning strategies or to using guided re-invention</a:t>
            </a:r>
          </a:p>
          <a:p>
            <a:pPr lvl="1"/>
            <a:r>
              <a:rPr lang="en-US" sz="2600" dirty="0"/>
              <a:t>Use known facts and relationships to derive unknown facts.</a:t>
            </a:r>
          </a:p>
        </p:txBody>
      </p:sp>
    </p:spTree>
    <p:extLst>
      <p:ext uri="{BB962C8B-B14F-4D97-AF65-F5344CB8AC3E}">
        <p14:creationId xmlns:p14="http://schemas.microsoft.com/office/powerpoint/2010/main" val="349546774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E2B703B-46F9-481A-A605-82E2A828C4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CED48E6-3E51-4EF3-B78D-9DC6A55E76EC}"/>
              </a:ext>
            </a:extLst>
          </p:cNvPr>
          <p:cNvSpPr>
            <a:spLocks noGrp="1"/>
          </p:cNvSpPr>
          <p:nvPr>
            <p:ph type="title"/>
          </p:nvPr>
        </p:nvSpPr>
        <p:spPr>
          <a:xfrm>
            <a:off x="838200" y="459863"/>
            <a:ext cx="10515600" cy="1004594"/>
          </a:xfrm>
        </p:spPr>
        <p:txBody>
          <a:bodyPr>
            <a:normAutofit/>
          </a:bodyPr>
          <a:lstStyle/>
          <a:p>
            <a:pPr algn="ctr"/>
            <a:r>
              <a:rPr lang="en-US" dirty="0">
                <a:solidFill>
                  <a:srgbClr val="FFFFFF"/>
                </a:solidFill>
              </a:rPr>
              <a:t xml:space="preserve">Addition Strategies – </a:t>
            </a:r>
            <a:r>
              <a:rPr lang="en-US" i="1" dirty="0">
                <a:solidFill>
                  <a:srgbClr val="FFFFFF"/>
                </a:solidFill>
              </a:rPr>
              <a:t>Share your knowledge</a:t>
            </a:r>
          </a:p>
        </p:txBody>
      </p:sp>
      <p:sp>
        <p:nvSpPr>
          <p:cNvPr id="11" name="Rectangle: Rounded Corners 10">
            <a:extLst>
              <a:ext uri="{FF2B5EF4-FFF2-40B4-BE49-F238E27FC236}">
                <a16:creationId xmlns:a16="http://schemas.microsoft.com/office/drawing/2014/main" id="{F13BE4D7-0C3D-4906-B230-A1C5B4665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496" y="1587970"/>
            <a:ext cx="11033008" cy="4768380"/>
          </a:xfrm>
          <a:prstGeom prst="roundRect">
            <a:avLst>
              <a:gd name="adj" fmla="val 3174"/>
            </a:avLst>
          </a:prstGeom>
          <a:solidFill>
            <a:schemeClr val="bg1">
              <a:alpha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A425FD28-78E3-8FE8-D318-C9B68A0D42D0}"/>
              </a:ext>
            </a:extLst>
          </p:cNvPr>
          <p:cNvGraphicFramePr>
            <a:graphicFrameLocks noGrp="1"/>
          </p:cNvGraphicFramePr>
          <p:nvPr>
            <p:ph idx="1"/>
            <p:extLst>
              <p:ext uri="{D42A27DB-BD31-4B8C-83A1-F6EECF244321}">
                <p14:modId xmlns:p14="http://schemas.microsoft.com/office/powerpoint/2010/main" val="2555026005"/>
              </p:ext>
            </p:extLst>
          </p:nvPr>
        </p:nvGraphicFramePr>
        <p:xfrm>
          <a:off x="838200" y="1800911"/>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481417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152FB-1405-0545-991E-16D6D67D8907}"/>
              </a:ext>
            </a:extLst>
          </p:cNvPr>
          <p:cNvSpPr>
            <a:spLocks noGrp="1"/>
          </p:cNvSpPr>
          <p:nvPr>
            <p:ph type="title"/>
          </p:nvPr>
        </p:nvSpPr>
        <p:spPr>
          <a:xfrm>
            <a:off x="838200" y="603482"/>
            <a:ext cx="10303021" cy="853843"/>
          </a:xfrm>
        </p:spPr>
        <p:txBody>
          <a:bodyPr anchor="t">
            <a:normAutofit/>
          </a:bodyPr>
          <a:lstStyle/>
          <a:p>
            <a:r>
              <a:rPr lang="en-US" sz="4000" dirty="0"/>
              <a:t>Addition Strategies</a:t>
            </a:r>
          </a:p>
        </p:txBody>
      </p:sp>
      <p:sp>
        <p:nvSpPr>
          <p:cNvPr id="3" name="Content Placeholder 2">
            <a:extLst>
              <a:ext uri="{FF2B5EF4-FFF2-40B4-BE49-F238E27FC236}">
                <a16:creationId xmlns:a16="http://schemas.microsoft.com/office/drawing/2014/main" id="{EFECA7AD-C604-8C4F-BEC8-C3167FF46F54}"/>
              </a:ext>
            </a:extLst>
          </p:cNvPr>
          <p:cNvSpPr>
            <a:spLocks noGrp="1"/>
          </p:cNvSpPr>
          <p:nvPr>
            <p:ph idx="1"/>
          </p:nvPr>
        </p:nvSpPr>
        <p:spPr>
          <a:xfrm>
            <a:off x="838200" y="1457325"/>
            <a:ext cx="10811933" cy="5400675"/>
          </a:xfrm>
        </p:spPr>
        <p:txBody>
          <a:bodyPr>
            <a:noAutofit/>
          </a:bodyPr>
          <a:lstStyle/>
          <a:p>
            <a:r>
              <a:rPr lang="en-US" sz="2600" dirty="0"/>
              <a:t>One more than, two more than: 5 + 1 = 6 or 7 + 2 = 9</a:t>
            </a:r>
          </a:p>
          <a:p>
            <a:r>
              <a:rPr lang="en-US" sz="2600" dirty="0"/>
              <a:t>Adding zero: 			5 + 0 = 5</a:t>
            </a:r>
          </a:p>
          <a:p>
            <a:r>
              <a:rPr lang="en-US" sz="2600" dirty="0"/>
              <a:t>Double, near doubles: 		8 + 8 = 16 and 8 + 7 = 15</a:t>
            </a:r>
          </a:p>
          <a:p>
            <a:r>
              <a:rPr lang="en-US" sz="2600" dirty="0"/>
              <a:t>Combinations of 10:		6 + 4 = 10</a:t>
            </a:r>
          </a:p>
          <a:p>
            <a:r>
              <a:rPr lang="en-US" sz="2600" dirty="0"/>
              <a:t>Making 10:				8 + 7 = 15 because 8 + 2 =10 and 10 + 5 =15</a:t>
            </a:r>
          </a:p>
          <a:p>
            <a:r>
              <a:rPr lang="en-US" sz="2600" dirty="0"/>
              <a:t>Pretend-a-10 (Use 10): 		To find 9 + 6, think about 10 + 6 = 16. 						So, 9 + 6 = 15</a:t>
            </a:r>
          </a:p>
          <a:p>
            <a:r>
              <a:rPr lang="en-US" sz="2600" dirty="0"/>
              <a:t>Using 5 as Anchor:			7 + 6 = 13 because 5 + 5 = 10 and 2 + 1 = 3</a:t>
            </a:r>
          </a:p>
          <a:p>
            <a:pPr marL="0" indent="0">
              <a:buNone/>
            </a:pPr>
            <a:endParaRPr lang="en-US" sz="2600" dirty="0"/>
          </a:p>
          <a:p>
            <a:pPr marL="0" indent="0">
              <a:buNone/>
            </a:pPr>
            <a:endParaRPr lang="en-US" sz="2600" dirty="0"/>
          </a:p>
          <a:p>
            <a:pPr marL="0" indent="0">
              <a:buNone/>
            </a:pPr>
            <a:r>
              <a:rPr lang="en-US" sz="2600" i="1" dirty="0"/>
              <a:t>How do these compare with N101 strategies?</a:t>
            </a:r>
          </a:p>
          <a:p>
            <a:endParaRPr lang="en-US" sz="2600" dirty="0"/>
          </a:p>
        </p:txBody>
      </p:sp>
      <p:grpSp>
        <p:nvGrpSpPr>
          <p:cNvPr id="17" name="Group 16">
            <a:extLst>
              <a:ext uri="{FF2B5EF4-FFF2-40B4-BE49-F238E27FC236}">
                <a16:creationId xmlns:a16="http://schemas.microsoft.com/office/drawing/2014/main" id="{D8C13078-6EA8-39DE-7A9D-C7FC6EA43A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8" name="Rectangle 17">
              <a:extLst>
                <a:ext uri="{FF2B5EF4-FFF2-40B4-BE49-F238E27FC236}">
                  <a16:creationId xmlns:a16="http://schemas.microsoft.com/office/drawing/2014/main" id="{C6A7D858-0391-A392-F7AF-D231D2CC2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9CC3D8A-59FD-79F4-16CD-B325F29291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374149457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152FB-1405-0545-991E-16D6D67D8907}"/>
              </a:ext>
            </a:extLst>
          </p:cNvPr>
          <p:cNvSpPr>
            <a:spLocks noGrp="1"/>
          </p:cNvSpPr>
          <p:nvPr>
            <p:ph type="title"/>
          </p:nvPr>
        </p:nvSpPr>
        <p:spPr>
          <a:xfrm>
            <a:off x="838199" y="603482"/>
            <a:ext cx="10303021" cy="853843"/>
          </a:xfrm>
        </p:spPr>
        <p:txBody>
          <a:bodyPr anchor="t">
            <a:normAutofit/>
          </a:bodyPr>
          <a:lstStyle/>
          <a:p>
            <a:r>
              <a:rPr lang="en-US" sz="4000" dirty="0"/>
              <a:t>Subtraction Strategies</a:t>
            </a:r>
          </a:p>
        </p:txBody>
      </p:sp>
      <p:sp>
        <p:nvSpPr>
          <p:cNvPr id="3" name="Content Placeholder 2">
            <a:extLst>
              <a:ext uri="{FF2B5EF4-FFF2-40B4-BE49-F238E27FC236}">
                <a16:creationId xmlns:a16="http://schemas.microsoft.com/office/drawing/2014/main" id="{EFECA7AD-C604-8C4F-BEC8-C3167FF46F54}"/>
              </a:ext>
            </a:extLst>
          </p:cNvPr>
          <p:cNvSpPr>
            <a:spLocks noGrp="1"/>
          </p:cNvSpPr>
          <p:nvPr>
            <p:ph idx="1"/>
          </p:nvPr>
        </p:nvSpPr>
        <p:spPr>
          <a:xfrm>
            <a:off x="838199" y="1457325"/>
            <a:ext cx="10303021" cy="5400675"/>
          </a:xfrm>
        </p:spPr>
        <p:txBody>
          <a:bodyPr>
            <a:noAutofit/>
          </a:bodyPr>
          <a:lstStyle/>
          <a:p>
            <a:r>
              <a:rPr lang="en-US" sz="2600" dirty="0"/>
              <a:t xml:space="preserve">Think addition: </a:t>
            </a:r>
          </a:p>
          <a:p>
            <a:pPr marL="0" indent="0">
              <a:buNone/>
            </a:pPr>
            <a:r>
              <a:rPr lang="en-US" sz="2600" dirty="0"/>
              <a:t xml:space="preserve">	15 – 8 = ? 	“How far apart are 15 and 8?”</a:t>
            </a:r>
          </a:p>
          <a:p>
            <a:r>
              <a:rPr lang="en-US" sz="2600" dirty="0"/>
              <a:t>Down under 10:</a:t>
            </a:r>
          </a:p>
          <a:p>
            <a:pPr marL="0" indent="0">
              <a:buNone/>
            </a:pPr>
            <a:r>
              <a:rPr lang="en-US" sz="2600" dirty="0"/>
              <a:t xml:space="preserve">	15 – 8 = ? 	“How many do I take away to get to 10? How many 				more do I need to take away? So 15 – 8 would be…?”</a:t>
            </a:r>
          </a:p>
          <a:p>
            <a:r>
              <a:rPr lang="en-US" sz="2600" dirty="0"/>
              <a:t>Take from 10:</a:t>
            </a:r>
          </a:p>
          <a:p>
            <a:pPr marL="0" indent="0">
              <a:buNone/>
            </a:pPr>
            <a:r>
              <a:rPr lang="en-US" sz="2600" dirty="0"/>
              <a:t xml:space="preserve">	15 – 8 = ? 	“15 is 10 + 5. I know that 10 – 8  is 2. So 15 – 8 would 				be ...” (Separate / take-away subtraction)</a:t>
            </a:r>
            <a:endParaRPr lang="en-US" sz="2600" dirty="0">
              <a:sym typeface="Wingdings" pitchFamily="2" charset="2"/>
            </a:endParaRPr>
          </a:p>
          <a:p>
            <a:pPr marL="0" indent="0">
              <a:buNone/>
            </a:pPr>
            <a:r>
              <a:rPr lang="en-US" sz="2600" dirty="0"/>
              <a:t xml:space="preserve">	15 – 8 = ? 	“15 – 5 is 10. And if I subtract another 2, I get to 8. So 				15 – 8 is …” (Comparison / difference subtraction)</a:t>
            </a:r>
            <a:endParaRPr lang="en-US" sz="2600" dirty="0">
              <a:sym typeface="Wingdings" pitchFamily="2" charset="2"/>
            </a:endParaRPr>
          </a:p>
          <a:p>
            <a:pPr marL="0" indent="0">
              <a:buNone/>
            </a:pPr>
            <a:endParaRPr lang="en-US" sz="2600" i="1" dirty="0"/>
          </a:p>
          <a:p>
            <a:pPr marL="0" indent="0">
              <a:buNone/>
            </a:pPr>
            <a:r>
              <a:rPr lang="en-US" sz="2600" i="1" dirty="0"/>
              <a:t>How do these compare with N101 strategies?</a:t>
            </a:r>
          </a:p>
        </p:txBody>
      </p:sp>
      <p:grpSp>
        <p:nvGrpSpPr>
          <p:cNvPr id="17" name="Group 16">
            <a:extLst>
              <a:ext uri="{FF2B5EF4-FFF2-40B4-BE49-F238E27FC236}">
                <a16:creationId xmlns:a16="http://schemas.microsoft.com/office/drawing/2014/main" id="{D8C13078-6EA8-39DE-7A9D-C7FC6EA43A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8" name="Rectangle 17">
              <a:extLst>
                <a:ext uri="{FF2B5EF4-FFF2-40B4-BE49-F238E27FC236}">
                  <a16:creationId xmlns:a16="http://schemas.microsoft.com/office/drawing/2014/main" id="{C6A7D858-0391-A392-F7AF-D231D2CC2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9CC3D8A-59FD-79F4-16CD-B325F29291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88649563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E02239D2-A05D-4A1C-9F06-FBA7FC730E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BE543B-1D1E-7A44-B0C9-D2BB873B4A00}"/>
              </a:ext>
            </a:extLst>
          </p:cNvPr>
          <p:cNvSpPr>
            <a:spLocks noGrp="1"/>
          </p:cNvSpPr>
          <p:nvPr>
            <p:ph type="title"/>
          </p:nvPr>
        </p:nvSpPr>
        <p:spPr>
          <a:xfrm>
            <a:off x="2019300" y="538956"/>
            <a:ext cx="8985250" cy="1118394"/>
          </a:xfrm>
        </p:spPr>
        <p:txBody>
          <a:bodyPr anchor="t">
            <a:normAutofit/>
          </a:bodyPr>
          <a:lstStyle/>
          <a:p>
            <a:r>
              <a:rPr lang="en-US" sz="4000" dirty="0"/>
              <a:t>Assessing basic facts</a:t>
            </a:r>
            <a:endParaRPr lang="en-US" sz="4000" i="1" dirty="0"/>
          </a:p>
        </p:txBody>
      </p:sp>
      <p:pic>
        <p:nvPicPr>
          <p:cNvPr id="16" name="Graphic 15" descr="Checkmark">
            <a:extLst>
              <a:ext uri="{FF2B5EF4-FFF2-40B4-BE49-F238E27FC236}">
                <a16:creationId xmlns:a16="http://schemas.microsoft.com/office/drawing/2014/main" id="{250819EE-13D5-8430-7958-C998B4660AE3}"/>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104900" y="538956"/>
            <a:ext cx="749300" cy="749300"/>
          </a:xfrm>
          <a:prstGeom prst="rect">
            <a:avLst/>
          </a:prstGeom>
        </p:spPr>
      </p:pic>
      <p:sp>
        <p:nvSpPr>
          <p:cNvPr id="10" name="TextBox 9">
            <a:extLst>
              <a:ext uri="{FF2B5EF4-FFF2-40B4-BE49-F238E27FC236}">
                <a16:creationId xmlns:a16="http://schemas.microsoft.com/office/drawing/2014/main" id="{0D329DD1-320E-5D12-2BCA-90451C7DBF27}"/>
              </a:ext>
            </a:extLst>
          </p:cNvPr>
          <p:cNvSpPr txBox="1"/>
          <p:nvPr/>
        </p:nvSpPr>
        <p:spPr>
          <a:xfrm>
            <a:off x="903056" y="1490007"/>
            <a:ext cx="10101494" cy="4247317"/>
          </a:xfrm>
          <a:prstGeom prst="rect">
            <a:avLst/>
          </a:prstGeom>
          <a:noFill/>
        </p:spPr>
        <p:txBody>
          <a:bodyPr wrap="square">
            <a:spAutoFit/>
          </a:bodyPr>
          <a:lstStyle/>
          <a:p>
            <a:r>
              <a:rPr lang="en-US" sz="3000" dirty="0"/>
              <a:t>Timed tests:</a:t>
            </a:r>
          </a:p>
          <a:p>
            <a:pPr marL="914400" lvl="1" indent="-457200">
              <a:buFont typeface="Arial" panose="020B0604020202020204" pitchFamily="34" charset="0"/>
              <a:buChar char="•"/>
            </a:pPr>
            <a:r>
              <a:rPr lang="en-US" sz="3000" dirty="0"/>
              <a:t>Aren’t a bad thing IF a teacher wants to gauge automaticity, BUT…</a:t>
            </a:r>
          </a:p>
          <a:p>
            <a:pPr marL="914400" lvl="1" indent="-457200">
              <a:buFont typeface="Arial" panose="020B0604020202020204" pitchFamily="34" charset="0"/>
              <a:buChar char="•"/>
            </a:pPr>
            <a:r>
              <a:rPr lang="en-US" sz="3000" dirty="0"/>
              <a:t xml:space="preserve">Timed tests do NOT help students LEARN basic facts. Fact fluency through number talks does.  </a:t>
            </a:r>
          </a:p>
          <a:p>
            <a:endParaRPr lang="en-US" sz="3000" dirty="0"/>
          </a:p>
          <a:p>
            <a:r>
              <a:rPr lang="en-US" sz="3000" dirty="0"/>
              <a:t>Other ways to assess AND LEARN basic facts:</a:t>
            </a:r>
          </a:p>
          <a:p>
            <a:pPr marL="914400" lvl="1" indent="-457200">
              <a:buFont typeface="Arial" panose="020B0604020202020204" pitchFamily="34" charset="0"/>
              <a:buChar char="•"/>
            </a:pPr>
            <a:r>
              <a:rPr lang="en-US" sz="3000" dirty="0"/>
              <a:t>Games</a:t>
            </a:r>
          </a:p>
          <a:p>
            <a:pPr marL="914400" lvl="1" indent="-457200">
              <a:buFont typeface="Arial" panose="020B0604020202020204" pitchFamily="34" charset="0"/>
              <a:buChar char="•"/>
            </a:pPr>
            <a:r>
              <a:rPr lang="en-US" sz="3000" dirty="0"/>
              <a:t>Group practice</a:t>
            </a:r>
          </a:p>
        </p:txBody>
      </p:sp>
    </p:spTree>
    <p:extLst>
      <p:ext uri="{BB962C8B-B14F-4D97-AF65-F5344CB8AC3E}">
        <p14:creationId xmlns:p14="http://schemas.microsoft.com/office/powerpoint/2010/main" val="1294678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152FB-1405-0545-991E-16D6D67D8907}"/>
              </a:ext>
            </a:extLst>
          </p:cNvPr>
          <p:cNvSpPr>
            <a:spLocks noGrp="1"/>
          </p:cNvSpPr>
          <p:nvPr>
            <p:ph type="title"/>
          </p:nvPr>
        </p:nvSpPr>
        <p:spPr>
          <a:xfrm>
            <a:off x="838199" y="603482"/>
            <a:ext cx="10303021" cy="853843"/>
          </a:xfrm>
        </p:spPr>
        <p:txBody>
          <a:bodyPr anchor="t">
            <a:normAutofit/>
          </a:bodyPr>
          <a:lstStyle/>
          <a:p>
            <a:r>
              <a:rPr lang="en-US" dirty="0"/>
              <a:t>Until Next Time</a:t>
            </a:r>
          </a:p>
        </p:txBody>
      </p:sp>
      <p:grpSp>
        <p:nvGrpSpPr>
          <p:cNvPr id="17" name="Group 16">
            <a:extLst>
              <a:ext uri="{FF2B5EF4-FFF2-40B4-BE49-F238E27FC236}">
                <a16:creationId xmlns:a16="http://schemas.microsoft.com/office/drawing/2014/main" id="{D8C13078-6EA8-39DE-7A9D-C7FC6EA43A3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2068638" y="0"/>
            <a:ext cx="123362" cy="6858000"/>
            <a:chOff x="12068638" y="0"/>
            <a:chExt cx="123362" cy="6858000"/>
          </a:xfrm>
        </p:grpSpPr>
        <p:sp>
          <p:nvSpPr>
            <p:cNvPr id="18" name="Rectangle 17">
              <a:extLst>
                <a:ext uri="{FF2B5EF4-FFF2-40B4-BE49-F238E27FC236}">
                  <a16:creationId xmlns:a16="http://schemas.microsoft.com/office/drawing/2014/main" id="{C6A7D858-0391-A392-F7AF-D231D2CC23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0"/>
              <a:ext cx="123362" cy="6858000"/>
            </a:xfrm>
            <a:prstGeom prst="rect">
              <a:avLst/>
            </a:prstGeom>
            <a:gradFill>
              <a:gsLst>
                <a:gs pos="0">
                  <a:schemeClr val="accent2"/>
                </a:gs>
                <a:gs pos="100000">
                  <a:schemeClr val="accent5"/>
                </a:gs>
              </a:gsLst>
              <a:lin ang="1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99CC3D8A-59FD-79F4-16CD-B325F292918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2068638" y="3527553"/>
              <a:ext cx="123362" cy="3330447"/>
            </a:xfrm>
            <a:prstGeom prst="rect">
              <a:avLst/>
            </a:prstGeom>
            <a:gradFill>
              <a:gsLst>
                <a:gs pos="19000">
                  <a:schemeClr val="accent5">
                    <a:alpha val="0"/>
                  </a:schemeClr>
                </a:gs>
                <a:gs pos="100000">
                  <a:schemeClr val="accent5">
                    <a:lumMod val="60000"/>
                    <a:lumOff val="40000"/>
                  </a:schemeClr>
                </a:gs>
              </a:gsLst>
              <a:lin ang="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7" name="Content Placeholder 2">
            <a:extLst>
              <a:ext uri="{FF2B5EF4-FFF2-40B4-BE49-F238E27FC236}">
                <a16:creationId xmlns:a16="http://schemas.microsoft.com/office/drawing/2014/main" id="{C61F1376-6A7B-126D-7355-DE38198F76B1}"/>
              </a:ext>
            </a:extLst>
          </p:cNvPr>
          <p:cNvSpPr>
            <a:spLocks noGrp="1"/>
          </p:cNvSpPr>
          <p:nvPr>
            <p:ph idx="1"/>
          </p:nvPr>
        </p:nvSpPr>
        <p:spPr>
          <a:xfrm>
            <a:off x="637162" y="1564457"/>
            <a:ext cx="10979105" cy="4607743"/>
          </a:xfrm>
        </p:spPr>
        <p:txBody>
          <a:bodyPr>
            <a:noAutofit/>
          </a:bodyPr>
          <a:lstStyle/>
          <a:p>
            <a:r>
              <a:rPr lang="en-US" sz="3200" dirty="0"/>
              <a:t>Multiplication &amp; Division:</a:t>
            </a:r>
          </a:p>
          <a:p>
            <a:pPr lvl="1"/>
            <a:r>
              <a:rPr lang="en-US" sz="2800" dirty="0"/>
              <a:t>Standards Reading (linked in Canvas)</a:t>
            </a:r>
          </a:p>
          <a:p>
            <a:pPr lvl="1"/>
            <a:r>
              <a:rPr lang="en-US" sz="2800" dirty="0" err="1"/>
              <a:t>VdW</a:t>
            </a:r>
            <a:r>
              <a:rPr lang="en-US" sz="2800" dirty="0"/>
              <a:t xml:space="preserve"> Reading – Back to Ch. 8 (pages/sections in Canvas)</a:t>
            </a:r>
          </a:p>
          <a:p>
            <a:r>
              <a:rPr lang="en-US" sz="3200" dirty="0"/>
              <a:t>Week 10 Check-In is open &amp; due Fri @ 11:59pm</a:t>
            </a:r>
          </a:p>
          <a:p>
            <a:r>
              <a:rPr lang="en-US" sz="2800"/>
              <a:t xml:space="preserve">\? </a:t>
            </a:r>
            <a:endParaRPr lang="en-US" sz="2800" dirty="0"/>
          </a:p>
        </p:txBody>
      </p:sp>
    </p:spTree>
    <p:extLst>
      <p:ext uri="{BB962C8B-B14F-4D97-AF65-F5344CB8AC3E}">
        <p14:creationId xmlns:p14="http://schemas.microsoft.com/office/powerpoint/2010/main" val="312066809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7838</TotalTime>
  <Words>2540</Words>
  <Application>Microsoft Macintosh PowerPoint</Application>
  <PresentationFormat>Widescreen</PresentationFormat>
  <Paragraphs>226</Paragraphs>
  <Slides>17</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17</vt:i4>
      </vt:variant>
    </vt:vector>
  </HeadingPairs>
  <TitlesOfParts>
    <vt:vector size="23" baseType="lpstr">
      <vt:lpstr>Arial</vt:lpstr>
      <vt:lpstr>Bradley Hand</vt:lpstr>
      <vt:lpstr>Calibri</vt:lpstr>
      <vt:lpstr>Calibri Light</vt:lpstr>
      <vt:lpstr>Wingdings</vt:lpstr>
      <vt:lpstr>Office Theme</vt:lpstr>
      <vt:lpstr>Teaching Basic Facts: Addition and Subtraction</vt:lpstr>
      <vt:lpstr>Agenda</vt:lpstr>
      <vt:lpstr>What is a Number Talk?</vt:lpstr>
      <vt:lpstr>Let’s Try a Number Talk as a Class</vt:lpstr>
      <vt:lpstr>Where is basic fact fluency in the standards?</vt:lpstr>
      <vt:lpstr>What does “fact fluency” mean?  (VdW’s 4 parts of fact fluency)</vt:lpstr>
      <vt:lpstr>What does “fact fluency” mean? (VdW’s 4 parts of fact fluency)</vt:lpstr>
      <vt:lpstr>What is automaticity?</vt:lpstr>
      <vt:lpstr>Trajectory for kids to DEVELOP fact fluency</vt:lpstr>
      <vt:lpstr>Trajectory for kids to DEVELOP fact fluency</vt:lpstr>
      <vt:lpstr>Approaches to TEACHING basic facts</vt:lpstr>
      <vt:lpstr>Teaching facts effectively</vt:lpstr>
      <vt:lpstr>Addition Strategies – Share your knowledge</vt:lpstr>
      <vt:lpstr>Addition Strategies</vt:lpstr>
      <vt:lpstr>Subtraction Strategies</vt:lpstr>
      <vt:lpstr>Assessing basic facts</vt:lpstr>
      <vt:lpstr>Until Next Time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Teaching Basic Facts</dc:title>
  <dc:creator>Tillema, Erik</dc:creator>
  <cp:lastModifiedBy>Savich, Theodore M.</cp:lastModifiedBy>
  <cp:revision>29</cp:revision>
  <dcterms:created xsi:type="dcterms:W3CDTF">2020-11-02T13:31:05Z</dcterms:created>
  <dcterms:modified xsi:type="dcterms:W3CDTF">2026-03-23T14:56:28Z</dcterms:modified>
</cp:coreProperties>
</file>